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1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56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세 단원과 퀴즈로 구성됩니다.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스코프가 존재하는 이유. 결과는 똑같다는 점에서 한 박자 쉬세요. 인용문은 그대로 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나누기 2 를 물어보고 반드시 3초 기다린 뒤 답을 보여주세요.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 -2147483648 을 손으로 가리키며 말하세요. 예외도 컴파일 오류도 없다는 점이 다음 슬라이드로 가는 다리입니다.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보지 말고 말로 하세요. 왜 자릿수를 먼저 보는지 물은 뒤 3초 기다립니다. 회사 코드·경로·도메인은 언급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배열이 필요한 이유와 선언·생성. 자동 초기화 값과 인덱스 시작은 퀴즈로 나갑니다.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기본형과 참조형. 동적 할당이 배열이 참조형인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ProductAdminEx 를 미리 실행해두고 1분 안에 데모를 끊으세요. 마지막 문장이 두 번째 클라이맥스입니다.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재사용보다 변경 지점이 한 곳으로 모인다는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반드시 결과를 먼저 예측하게 하세요. 이 발표에서 하나만 가져간다면 이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반환값 대입이 빠지면 그대로 5입니다. 마지막 줄이 8장 참조형과 9장 값 복사를 이어 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문장은 천천히. 청중이 받아 적는 구간입니다.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문제씩 읽고 3초만 기다린 뒤 넘어가세요. 전체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A3와 A5에 힘을 주세요. 발표의 두 핵심 메시지와 같은 문장입니다.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김영한의 자바 입문 — 코드로 시작하는 자바 첫걸음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148840" y="159105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스코프, 형변환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148840" y="202996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변수는 어디까지 살고, 타입은 어떻게 변하는가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148840" y="27797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48840" y="321868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타입의 변수를 하나로 묶는다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148840" y="396849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메서드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48840" y="440740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자바의 대원칙 — 값을 복사해서 대입한다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53949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퀴즈 5문제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스코프, 형변환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결과를 내는 두 코드,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하나는 나쁘다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 를 밖에 선언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75104"/>
            <a:ext cx="486460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여기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 &gt;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 = m *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(temp);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517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 를 안에 선언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810512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0256" y="1975104"/>
            <a:ext cx="463600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 &gt;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 = m *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여기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(temp);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(m);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비효율적인 메모리 사용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434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 는 if 안에서만 필요한데 main() 이 끝날 때까지 남는다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41148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복잡성 증가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44348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가 끝나도 어디서나 temp 에 접근할 수 있어, 유지보수할 때 계속 신경써야 한다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5166360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16636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“좋은 프로그램은 무한한 자유가 있는 프로그램이 아니라, 적절한 제약이 있는 프로그램이다.”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스코프, 형변환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double 에 담았는데 왜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</a:t>
            </a: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400800" cy="1783080"/>
          </a:xfrm>
          <a:prstGeom prst="roundRect">
            <a:avLst>
              <a:gd name="adj" fmla="val 410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856232"/>
            <a:ext cx="596188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div1 =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 </a:t>
            </a: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div2 =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 </a:t>
            </a: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1.0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div3 =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</a:t>
            </a: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1.5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div4 = (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</a:t>
            </a: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6400800" cy="146304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3822192"/>
            <a:ext cx="59618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div2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div2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</a:t>
            </a:r>
            <a:r>
              <a:rPr lang="en-US" sz="12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 / int 는 int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div2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r>
              <a:rPr lang="en-US" sz="12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double 로 자동 형변환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52360" y="178308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타입끼리의 계산은 같은 타입의 결과를 낸다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타입의 계산은 큰 범위로 자동 형변환이 일어난다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2360" y="3566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담는 변수의 타입이 아니라
</a:t>
            </a:r>
            <a:r>
              <a:rPr lang="en-US" sz="15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피연산자의 타입</a:t>
            </a: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계산 결과를 결정한다.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52360" y="4617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소수까지 구하고 싶다면 (double) 3 / 2 처럼 피연산자 쪽을 명시적으로 형변환한다.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스코프, 형변환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 최고값보다 1 큰 수를 담으면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400800" cy="1920240"/>
          </a:xfrm>
          <a:prstGeom prst="roundRect">
            <a:avLst>
              <a:gd name="adj" fmla="val 381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856232"/>
            <a:ext cx="596188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maxIntValue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2147483647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 최고값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maxIntOver 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2147483648L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최고값 + 1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intValue = (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maxIntValue;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intValue = (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maxIntOver;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6400800" cy="1280160"/>
          </a:xfrm>
          <a:prstGeom prst="roundRect">
            <a:avLst>
              <a:gd name="adj" fmla="val 571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3959352"/>
            <a:ext cx="59618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maxIntValue casting=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2147483647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maxIntOver  casting=-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2147483648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78308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범위를 초과하면 전혀 다른 숫자가 되는데, 이것을 오버플로우라 한다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시계가 한바퀴 돈 것처럼 다시 처음부터 시작한다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예외도, 컴파일 오류도 발생하지 않는다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2360" y="39776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“오버플로우가 발생하는 것 자체가 문제다.</a:t>
            </a:r>
            <a:endParaRPr lang="en-US" sz="14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오버플로우 자체가 발생하지 않도록 막아야 한다.”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53492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해결은 단순하다 — 대입하는 변수의 타입을 int 에서 long 으로 늘린다.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실무에서는 숫자를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“막는다”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제가 유지보수하는 웹 시스템에는 모든 요청 파라미터의 숫자 크기를 검사하는 인터셉터가 있다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상한을 넘는 숫자가 들어오면 요청 자체를 차단한다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Injection 검사와 같은 자리에서, 같은 등급으로 처리된다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전화번호처럼 숫자로 이루어졌지만 크기에 의미가 없는 값은 검사에서 제외한다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691640"/>
            <a:ext cx="4983480" cy="3291840"/>
          </a:xfrm>
          <a:prstGeom prst="roundRect">
            <a:avLst>
              <a:gd name="adj" fmla="val 222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11696" y="1856232"/>
            <a:ext cx="4544568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값이 순수 숫자라면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(value.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"^[0-9]+$"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① 자릿수를 먼저 비교한다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(value.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&gt; MAX.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차단;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② 그 다음에야 숫자로 바꾼다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(Integer.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&gt; Integer.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(MAX))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차단;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5120640"/>
            <a:ext cx="10820095" cy="1143000"/>
          </a:xfrm>
          <a:prstGeom prst="roundRect">
            <a:avLst>
              <a:gd name="adj" fmla="val 640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230368"/>
            <a:ext cx="9997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자릿수를 먼저 볼까?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5559552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변환하면 Integer.parseInt("9999999999") 가 int 범위를 넘어 예외가 난다.   </a:t>
            </a:r>
            <a:r>
              <a:rPr lang="en-US" sz="14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오버플로우를 막는 코드가, 오버플로우 때문에 죽는다.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배열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100명이면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변수도 100개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— 이름이 달라 반복문도 못 쓴다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75104"/>
            <a:ext cx="486460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student1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student2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student3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student4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student5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517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— 같은 타입을 하나로 묶는다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810512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0256" y="1975104"/>
            <a:ext cx="463600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students;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students[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students[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88620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6908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생성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407408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int[5] 로 int 변수 5개가 만들어진다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3938" y="388620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8258" y="406908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초기화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58258" y="4407408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0, boolean false, String null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2077" y="388620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6397" y="4069080"/>
            <a:ext cx="287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인덱스는 0부터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6397" y="4407408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범위는 0 ~ (n-1). 넘으면 ArrayIndexOutOfBoundsException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4864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배열을 생성하면 자바는 그 배열에 접근할 수 있는 참조값(주소)을 반환하고, 배열 변수는 그 참조값을 보관한다.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배열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담느냐,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주소를 담느냐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349240" cy="2880360"/>
          </a:xfrm>
          <a:prstGeom prst="roundRect">
            <a:avLst>
              <a:gd name="adj" fmla="val 317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  Primitive Type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long    double    boolean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변수에 사용할 값을 직접 넣는다.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선언과 동시에 크기가 정해진다.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빠르고 메모리를 효율적으로 처리한다.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920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참조형  Reference Type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students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28803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데이터에 접근하기 위한 참조(주소)를 저장한다.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동적으로 할당할 수 있다.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뒤에서 배우는 객체와 클래스도 모두 참조형이다.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846320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5010912"/>
            <a:ext cx="1038118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size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사용자가 입력한 값이라고 가정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[size];      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이 코드가 실행되는 시점에 크기가 정해진다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2개로 상품을 관리하면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309360" cy="2651760"/>
          </a:xfrm>
          <a:prstGeom prst="roundRect">
            <a:avLst>
              <a:gd name="adj" fmla="val 2759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856232"/>
            <a:ext cx="5870448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productNames =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String[maxProducts];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   productPrices =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[maxProducts];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productCount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productCount; i++)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(productNames[i]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+ productPrices[i]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"원"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0" y="1783080"/>
            <a:ext cx="4160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+ 반복문 + 조건문 + Scanner 가 모두 들어간 입문편의 최종 결과물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“JAVA” 와 10000 을 묶어주는 것은 인덱스 [i] 하나뿐이다</a:t>
            </a:r>
            <a:endParaRPr lang="en-US" sz="1400" dirty="0"/>
          </a:p>
          <a:p>
            <a:pPr marL="342900" indent="-342900">
              <a:lnSpc>
                <a:spcPts val="217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가격순으로 정렬하면 이름은 그대로 남아 짝이 전부 깨진다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709160"/>
            <a:ext cx="10820095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709160"/>
            <a:ext cx="99971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가격을 하나로 묶을 수 있다면?  —  그래서 다음이 클래스다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메서드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코드를 두 번 쓰고 있다면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179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5303520" cy="2697480"/>
          </a:xfrm>
          <a:prstGeom prst="roundRect">
            <a:avLst>
              <a:gd name="adj" fmla="val 271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75104"/>
            <a:ext cx="486460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"+"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b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연산 수행"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sum1 = a + b;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=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"+"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y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연산 수행"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sum2 = x + y;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517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810512"/>
            <a:ext cx="5074920" cy="2697480"/>
          </a:xfrm>
          <a:prstGeom prst="roundRect">
            <a:avLst>
              <a:gd name="adj" fmla="val 271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0256" y="1975104"/>
            <a:ext cx="463600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sum1 = 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sum2 = 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b) {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</a:t>
            </a:r>
            <a:r>
              <a:rPr lang="en-US" sz="12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"+"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b + </a:t>
            </a:r>
            <a:r>
              <a:rPr lang="en-US" sz="1200" dirty="0">
                <a:solidFill>
                  <a:srgbClr val="6A8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연산 수행"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 = a + b;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800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한번 정의해두면 계속 재사용할 수 있고, </a:t>
            </a:r>
            <a:r>
              <a:rPr lang="en-US" sz="16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바꿀 일이 생겨도 한 곳만 고치면 된다.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53035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메서드는 크게 메서드 선언과 메서드 본문으로 나뉜다. 호출하는 곳은 선언은 알지만 본문은 모른다 — 본문은 블랙박스다.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메서드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자바는 항상 변수의 값을</a:t>
            </a:r>
            <a:endParaRPr lang="en-US" sz="3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복사해서 대입한다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“밑줄 100번 긋자”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0515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0256" y="1216152"/>
            <a:ext cx="463600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num1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changeNumber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(num1);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changeNumber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num2) {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num2 = num2 *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320040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0256" y="3364992"/>
            <a:ext cx="463600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호출 전,   num1: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변경 전,   num2: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변경 후,   num2: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호출 후,   num1: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3035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num1 의 값 5를 읽고 </a:t>
            </a:r>
            <a:r>
              <a:rPr lang="en-US" sz="16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복사해서</a:t>
            </a: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num2 에 전달한다. num2 의 변경은 num1 에 아무 영향을 주지 않는다.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메서드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그러면 어떻게 값을 바꾸는가 — </a:t>
            </a:r>
            <a:r>
              <a:rPr lang="en-US" sz="30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반환값을 받는다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309360" cy="2377440"/>
          </a:xfrm>
          <a:prstGeom prst="roundRect">
            <a:avLst>
              <a:gd name="adj" fmla="val 307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856232"/>
            <a:ext cx="587044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num1 =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num1 = 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changeNumber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(num1);   </a:t>
            </a:r>
            <a:r>
              <a:rPr lang="en-US" sz="13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반환값을 다시 대입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changeNumber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num2) {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num2 = num2 * </a:t>
            </a:r>
            <a:r>
              <a:rPr lang="en-US" sz="13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num2;</a:t>
            </a:r>
            <a:endParaRPr lang="en-US" sz="13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4251960"/>
            <a:ext cx="6309360" cy="868680"/>
          </a:xfrm>
          <a:prstGeom prst="roundRect">
            <a:avLst>
              <a:gd name="adj" fmla="val 8421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2519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호출 전, num1: 5        호출 후, num1: 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0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— 메서드 추출 (Extract Method)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1810512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34656" y="1975104"/>
            <a:ext cx="37216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balance = </a:t>
            </a:r>
            <a:r>
              <a:rPr lang="en-US" sz="11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</a:t>
            </a:r>
            <a:r>
              <a:rPr lang="en-US" sz="11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(balance, </a:t>
            </a:r>
            <a:r>
              <a:rPr lang="en-US" sz="11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</a:t>
            </a:r>
            <a:r>
              <a:rPr lang="en-US" sz="1100" dirty="0">
                <a:solidFill>
                  <a:srgbClr val="FF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(balance, </a:t>
            </a:r>
            <a:r>
              <a:rPr lang="en-US" sz="1100" dirty="0">
                <a:solidFill>
                  <a:srgbClr val="6897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r>
              <a:rPr lang="en-US" sz="1100" dirty="0">
                <a:solidFill>
                  <a:srgbClr val="A9B7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338328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main() 이 세세한 코드가 아니라 전체 구조를 한눈에 보여준다. 책의 목차를 보는 것과 같다.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재사용이 목적이 아니어도 괜찮다. 변경이 생기면 해당 메서드만 고치면 되므로 수정 범위가 한정된다.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5349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main() 도 사실은 메서드다. 각 메서드 안의 변수는 이름이 같아도 서로 완전히 분리된 다른 변수다.   </a:t>
            </a:r>
            <a:r>
              <a:rPr lang="en-US" sz="1300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참조형을 넘길 때도 원칙은 같다 — 참조값을 복사해서 전달한다.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148840" y="17007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오버플로우는 예외도 컴파일 오류도 내지 않는다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48840" y="215798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발생하지 않도록 막는 것이 유일한 해법이다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148840" y="29352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변수는 값이 아니라 참조값을 가진다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48840" y="339242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 2개를 인덱스로 묶는 순간 한계가 시작된다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114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148840" y="41696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자바는 항상 변수의 값을 복사해서 대입한다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48840" y="462686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바꾸고 싶다면 반환값을 받아야 한다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557784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코딩의 80%는 변수, 연산자, 조건문, 반복문, 배열, 메서드를 사용하는 것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퀴즈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6002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 / 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60020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변수는 선언된 코드 블록을 벗어나도 접근할 수 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496312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9631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49631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496312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double div = 3 / 2;   →   div 의 값은?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392424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9242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392424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 / 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3392424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 최고값에 1을 더하면 오버플로우가 발생해 컴파일 오류가 난다.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288536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28853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28853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4288536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int[] arr = new int[3];   선언 직후 arr[0] 의 값은?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5184648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18464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18464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1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 / 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5184648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메서드 안에서 매개변수의 값을 바꾸면 호출한 쪽 변수도 바뀐다.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463040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17320" y="1463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0" y="1463040"/>
            <a:ext cx="8625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블록을 벗어나면 제거된다. 접근하면 cannot find symbol 컴파일 오류.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59152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35915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0" y="2359152"/>
            <a:ext cx="8625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 / int 는 int 인 1. 그 1이 double 로 자동 형변환되어 1.0 이 된다.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55264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255264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3255264"/>
            <a:ext cx="8625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오류가 나지 않는다. 조용히 -2147483648 이 된다. 그래서 더 위험하다.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151376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4151376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4151376"/>
            <a:ext cx="8625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배열은 생성 시 자동 초기화된다. 숫자 0, boolean false, String null.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047488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504748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C78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0" y="5047488"/>
            <a:ext cx="8625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복사해서 대입하므로 바뀌지 않는다. 반환값을 받아야 한다.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1711</Words>
  <Application>Microsoft Office PowerPoint</Application>
  <PresentationFormat>와이드스크린</PresentationFormat>
  <Paragraphs>261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김영한의 자바 입문</dc:title>
  <dc:subject>PptxGenJS Presentation</dc:subject>
  <dc:creator>PptxGenJS</dc:creator>
  <cp:lastModifiedBy>bada Lee</cp:lastModifiedBy>
  <cp:revision>2</cp:revision>
  <dcterms:created xsi:type="dcterms:W3CDTF">2026-08-09T14:08:37Z</dcterms:created>
  <dcterms:modified xsi:type="dcterms:W3CDTF">2026-08-10T11:34:45Z</dcterms:modified>
</cp:coreProperties>
</file>