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737360"/>
            <a:ext cx="10820095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QUI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PRINCI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97280"/>
            <a:ext cx="5394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김영한의 스프링 핵심 원리 - 기본편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스프링 핵심 원리 기본편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구현까지 의존하는 문제</a:t>
            </a:r>
            <a:endParaRPr lang="ko-KR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인터페이스를 썼는데 왜 고칠까</a:t>
            </a:r>
            <a:endParaRPr 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4383938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3978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DI와 스프링 빈</a:t>
            </a:r>
            <a:endParaRPr lang="ko-KR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3978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AppConfig에서 스프링 컨테이너로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8082077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자바 설정과 XML 설정</a:t>
            </a:r>
            <a:endParaRPr lang="ko-KR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빈을 등록하는 두 형식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4864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 마지막에 퀴즈 2문제</a:t>
            </a:r>
            <a:endParaRPr lang="ko-K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126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이바다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01  구현까지 의존하는 문제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정률 할인 정책 적용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742950"/>
          </a:xfrm>
          <a:prstGeom prst="roundRect">
            <a:avLst>
              <a:gd name="adj" fmla="val 14769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0088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역할과 구현을 나눴는데, 왜 </a:t>
            </a:r>
            <a:r>
              <a:rPr lang="ko-KR" altLang="en-US" sz="22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사용하는 쪽 코드</a:t>
            </a:r>
            <a:r>
              <a:rPr lang="ko-KR" altLang="en-US" sz="2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를 고쳐야 할까?</a:t>
            </a:r>
            <a:endParaRPr lang="ko-KR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0035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before — 정액 할인 (VIP 1000원)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111246"/>
            <a:ext cx="5227168" cy="1165860"/>
          </a:xfrm>
          <a:prstGeom prst="roundRect">
            <a:avLst>
              <a:gd name="adj" fmla="val 9412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94126"/>
            <a:ext cx="4861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OrderServiceImpl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discountPolicy =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FixDiscountPolicy();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280035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after — 정률 할인 (VIP 10%)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3111246"/>
            <a:ext cx="5227168" cy="1432560"/>
          </a:xfrm>
          <a:prstGeom prst="roundRect">
            <a:avLst>
              <a:gd name="adj" fmla="val 7660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3294126"/>
            <a:ext cx="486140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OrderServiceImpl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discountPolicy =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     new FixDiscountPolicy();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RateDiscountPolicy();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81812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할인 정책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18388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DiscountPolicy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인터페이스 — 정액·정률 두 구현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481812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바꾸려면</a:t>
            </a:r>
            <a:endParaRPr lang="ko-KR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78728" y="518388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사용하는 쪽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인 </a:t>
            </a: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OrderServiceImpl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을 열어 고친다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01  구현까지 의존하는 문제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구현까지 의존하는 문제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pic>
        <p:nvPicPr>
          <p:cNvPr id="5" name="Image 0" descr="OrderServiceImpl이 DiscountPolicy 인터페이스와 FixDiscountPolicy 구체 클래스에 함께 의존하는 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553"/>
            <a:ext cx="6400800" cy="29264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79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강의자료 3장 — 실제 의존관계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828800"/>
            <a:ext cx="3642055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DIP 위반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인터페이스뿐 아니라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FixDiscountPolicy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구체 클래스에도 의존</a:t>
            </a:r>
            <a:endParaRPr lang="ko-KR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021330"/>
            <a:ext cx="36420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OCP 위반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정책을 확장하면 사용하는 코드를 고쳐야 한다</a:t>
            </a:r>
            <a:endParaRPr lang="ko-K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905250"/>
            <a:ext cx="3642055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SRP 위반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주문 생성(실행)에 더해 구현을 고르고 생성하는 책임까지</a:t>
            </a:r>
            <a:endParaRPr lang="ko-KR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5280660"/>
            <a:ext cx="36420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원인은 </a:t>
            </a:r>
            <a:r>
              <a:rPr lang="ko-KR" altLang="en-US" sz="20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한 줄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 DI와 스프링 빈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생성자 주입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742950"/>
          </a:xfrm>
          <a:prstGeom prst="roundRect">
            <a:avLst>
              <a:gd name="adj" fmla="val 14769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0088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인터페이스만 남기면 </a:t>
            </a:r>
            <a:r>
              <a:rPr lang="ko-KR" altLang="en-US" sz="22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NPE</a:t>
            </a:r>
            <a:r>
              <a:rPr lang="ko-KR" altLang="en-US" sz="2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구현 객체는 누가 넣어줄까?</a:t>
            </a:r>
            <a:endParaRPr lang="ko-KR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0035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인터페이스에만 의존 — 실행하면 NPE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111246"/>
            <a:ext cx="5227168" cy="863600"/>
          </a:xfrm>
          <a:prstGeom prst="roundRect">
            <a:avLst>
              <a:gd name="adj" fmla="val 12706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94126"/>
            <a:ext cx="4861408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OrderServiceImpl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discountPolicy;  </a:t>
            </a: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null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280035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생성자로 받는다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3111246"/>
            <a:ext cx="5227168" cy="2357120"/>
          </a:xfrm>
          <a:prstGeom prst="roundRect">
            <a:avLst>
              <a:gd name="adj" fmla="val 4655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3294126"/>
            <a:ext cx="4861408" cy="199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MemberRepository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discountPolicy;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OrderServiceImpl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MemberRepository memberRepository,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DiscountPolicy discountPolicy)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this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.memberRepository =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this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.discountPolicy = discountPolicy;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 DI와 스프링 빈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AppConfig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AppConfig — 생성하고 연결하는 설정 클래스 (memberService 생략)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3566160"/>
          </a:xfrm>
          <a:prstGeom prst="roundRect">
            <a:avLst>
              <a:gd name="adj" fmla="val 3077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AppConfig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OrderService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orderService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OrderServiceImpl(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       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memberRepository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(),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discountPolicy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MemberRepository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memberRepository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MemoryMemberRepository();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discountPolicy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FixDiscountPolicy();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828800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구현 객체를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하고, 생성자로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연결(주입)</a:t>
            </a:r>
            <a:endParaRPr lang="ko-KR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858262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메서드 이름 =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역할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, 반환 객체 =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구현</a:t>
            </a:r>
            <a:endParaRPr lang="ko-KR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579114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중복된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를 메서드 하나로 — 바꿀 곳은 한 군데</a:t>
            </a:r>
            <a:endParaRPr lang="ko-KR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4791456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생성·연결은 AppConfig, 실행은 서비스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 DI와 스프링 빈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사용 영역과 구성 영역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pic>
        <p:nvPicPr>
          <p:cNvPr id="5" name="Image 0" descr="사용 영역의 OrderServiceImpl과 구성 영역의 AppConfig, AppConfig가 FixDiscountPolicy 대신 RateDiscountPolicy를 생성하는 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534" y="1965960"/>
            <a:ext cx="5403092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79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강의자료 3장 — 사용, 구성의 분리와 할인 정책 변경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828800"/>
            <a:ext cx="3642055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DIP 충족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서비스는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DiscountPolicy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인터페이스에만 의존</a:t>
            </a:r>
            <a:endParaRPr lang="ko-KR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009900"/>
            <a:ext cx="36420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OCP 충족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정액 → 정률로 바꿔도 사용 영역 코드는 그대로</a:t>
            </a:r>
            <a:endParaRPr lang="ko-K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882390"/>
            <a:ext cx="36420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SRP 충족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생성·연결은 AppConfig, 서비스는 실행만</a:t>
            </a:r>
            <a:endParaRPr lang="ko-KR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937760"/>
            <a:ext cx="3642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고칠 곳이 </a:t>
            </a:r>
            <a:r>
              <a:rPr lang="ko-KR" altLang="en-US" sz="2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구성 영역 한 곳</a:t>
            </a: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으로 옮겨간다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 DI와 스프링 빈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정적 의존관계와 동적 의존관계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5328666"/>
            <a:ext cx="10820095" cy="843534"/>
          </a:xfrm>
          <a:prstGeom prst="roundRect">
            <a:avLst>
              <a:gd name="adj" fmla="val 13008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584698"/>
            <a:ext cx="10088575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DI</a:t>
            </a:r>
            <a:r>
              <a:rPr lang="ko-KR" altLang="en-US" sz="18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정적 의존(</a:t>
            </a:r>
            <a:r>
              <a:rPr lang="ko-KR" altLang="en-US" sz="18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import</a:t>
            </a:r>
            <a:r>
              <a:rPr lang="ko-KR" altLang="en-US" sz="18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)은 그대로, 실행 시점의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객체 연결만 외부가</a:t>
            </a:r>
            <a:r>
              <a:rPr lang="ko-KR" altLang="en-US" sz="18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정한다 · 그 외부 =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DI 컨테이너</a:t>
            </a:r>
            <a:endParaRPr lang="ko-KR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20095" cy="2905506"/>
          </a:xfrm>
          <a:prstGeom prst="roundRect">
            <a:avLst>
              <a:gd name="adj" fmla="val 377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pic>
        <p:nvPicPr>
          <p:cNvPr id="7" name="Image 0" descr="왼쪽은 OrderServiceImpl의 클래스 의존관계, 오른쪽은 실행 시점의 객체 연결 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6408" y="1965960"/>
            <a:ext cx="7178879" cy="253974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476173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강의자료 3장 — 왼쪽: 클래스 다이어그램(정적), 오른쪽: 객체 다이어그램(동적)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 DI와 스프링 빈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AppConfig에서 스프링 빈으로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순수 자바 — 개발자가 직접 꺼낸다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5227168" cy="1361440"/>
          </a:xfrm>
          <a:prstGeom prst="roundRect">
            <a:avLst>
              <a:gd name="adj" fmla="val 8060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4861408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MemberApp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AppConfig appConfig =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AppConfig();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MemberService memberService =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appConfig.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memberService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스프링 — 컨테이너가 등록하고 꺼내 준다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2093976"/>
            <a:ext cx="5227168" cy="3103880"/>
          </a:xfrm>
          <a:prstGeom prst="roundRect">
            <a:avLst>
              <a:gd name="adj" fmla="val 3535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276856"/>
            <a:ext cx="4861408" cy="273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@Configuration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추가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AppConfig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@Bean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</a:t>
            </a: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추가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MemberService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memberService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{...}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MemberApp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ApplicationContext ac =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AnnotationConfigApplicationContext(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        AppConfig.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MemberService memberService = ac.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getBean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400" dirty="0">
                <a:solidFill>
                  <a:srgbClr val="6A8759"/>
                </a:solidFill>
                <a:latin typeface="Consolas"/>
                <a:ea typeface="Pretendard"/>
                <a:cs typeface="Consolas"/>
              </a:rPr>
              <a:t>"memberService"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, MemberService.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47217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순수 자바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3793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AppConfig 를 </a:t>
            </a: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하고 메서드를 직접 호출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547217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스프링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583793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@Bean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메서드의 반환 객체 = </a:t>
            </a: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스프링 빈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, 빈 이름 = 메서드 이름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03  자바 설정과 XML 설정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자바 설정과 XML 설정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자바 설정 — AppConfig.java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5227168" cy="2766060"/>
          </a:xfrm>
          <a:prstGeom prst="roundRect">
            <a:avLst>
              <a:gd name="adj" fmla="val 3967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4861408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@Configuration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AppConfig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@Bean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MemberService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memberService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MemberServiceImpl(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        </a:t>
            </a:r>
            <a:r>
              <a:rPr lang="en-US" sz="15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memberRepository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memberRepository() 도 같은 방식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XML 설정 — appConfig.xml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2093976"/>
            <a:ext cx="5227168" cy="1965960"/>
          </a:xfrm>
          <a:prstGeom prst="roundRect">
            <a:avLst>
              <a:gd name="adj" fmla="val 5581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276856"/>
            <a:ext cx="486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&lt;bean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BABABA"/>
                </a:solidFill>
                <a:latin typeface="Consolas"/>
                <a:ea typeface="Pretendard"/>
                <a:cs typeface="Consolas"/>
              </a:rPr>
              <a:t>id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=</a:t>
            </a:r>
            <a:r>
              <a:rPr lang="en-US" sz="1500" dirty="0">
                <a:solidFill>
                  <a:srgbClr val="A5C261"/>
                </a:solidFill>
                <a:latin typeface="Consolas"/>
                <a:ea typeface="Pretendard"/>
                <a:cs typeface="Consolas"/>
              </a:rPr>
              <a:t>"memberService"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BABABA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=</a:t>
            </a:r>
            <a:r>
              <a:rPr lang="en-US" sz="1500" dirty="0">
                <a:solidFill>
                  <a:srgbClr val="A5C261"/>
                </a:solidFill>
                <a:latin typeface="Consolas"/>
                <a:ea typeface="Pretendard"/>
                <a:cs typeface="Consolas"/>
              </a:rPr>
              <a:t>"...member.MemberServiceImpl"</a:t>
            </a:r>
            <a:r>
              <a:rPr lang="en-US" sz="15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&gt;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5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&lt;constructor-arg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500" dirty="0">
                <a:solidFill>
                  <a:srgbClr val="BABABA"/>
                </a:solidFill>
                <a:latin typeface="Consolas"/>
                <a:ea typeface="Pretendard"/>
                <a:cs typeface="Consolas"/>
              </a:rPr>
              <a:t>name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=</a:t>
            </a:r>
            <a:r>
              <a:rPr lang="en-US" sz="1500" dirty="0">
                <a:solidFill>
                  <a:srgbClr val="A5C261"/>
                </a:solidFill>
                <a:latin typeface="Consolas"/>
                <a:ea typeface="Pretendard"/>
                <a:cs typeface="Consolas"/>
              </a:rPr>
              <a:t>"memberRepository"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500" dirty="0">
                <a:solidFill>
                  <a:srgbClr val="BABABA"/>
                </a:solidFill>
                <a:latin typeface="Consolas"/>
                <a:ea typeface="Pretendard"/>
                <a:cs typeface="Consolas"/>
              </a:rPr>
              <a:t>ref</a:t>
            </a:r>
            <a:r>
              <a:rPr lang="en-US" sz="15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=</a:t>
            </a:r>
            <a:r>
              <a:rPr lang="en-US" sz="1500" dirty="0">
                <a:solidFill>
                  <a:srgbClr val="A5C261"/>
                </a:solidFill>
                <a:latin typeface="Consolas"/>
                <a:ea typeface="Pretendard"/>
                <a:cs typeface="Consolas"/>
              </a:rPr>
              <a:t>"memberRepository"</a:t>
            </a:r>
            <a:r>
              <a:rPr lang="en-US" sz="15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/&gt;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&lt;/bean&gt;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&lt;!-- memberRepository 도 같은 방식 --&gt;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1343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자바 설정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50011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AnnotationConfigApplicationContext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에 클래스를 넘긴다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51343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XML 설정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550011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GenericXmlApplicationContext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에 xml 파일을 넘긴다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실무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실무 프로젝트의 빈 설정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4864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레거시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빈 등록은 전부 XML (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@Configuration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0개)</a:t>
            </a:r>
            <a:endParaRPr lang="ko-KR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47620"/>
            <a:ext cx="5486400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부트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@Configuration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@Bean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(XML 0개)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57830"/>
            <a:ext cx="54864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혼용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레거시 XML 의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component-scan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이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@Service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붙은 클래스를 등록</a:t>
            </a:r>
            <a:endParaRPr lang="ko-KR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5953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인터페이스</a:t>
            </a: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로 받아야 바꿔 끼울 수 있다</a:t>
            </a:r>
            <a:endParaRPr lang="ko-KR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7830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레거시 — XML 로 등록, 꺼낼 때 구체 클래스로 형변환</a:t>
            </a:r>
            <a:endParaRPr lang="ko-KR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093976"/>
            <a:ext cx="4922215" cy="1610360"/>
          </a:xfrm>
          <a:prstGeom prst="roundRect">
            <a:avLst>
              <a:gd name="adj" fmla="val 6814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2276856"/>
            <a:ext cx="4556455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&lt;bean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BABABA"/>
                </a:solidFill>
                <a:latin typeface="Consolas"/>
                <a:ea typeface="Pretendard"/>
                <a:cs typeface="Consolas"/>
              </a:rPr>
              <a:t>id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=</a:t>
            </a:r>
            <a:r>
              <a:rPr lang="en-US" sz="1400" dirty="0">
                <a:solidFill>
                  <a:srgbClr val="A5C261"/>
                </a:solidFill>
                <a:latin typeface="Consolas"/>
                <a:ea typeface="Pretendard"/>
                <a:cs typeface="Consolas"/>
              </a:rPr>
              <a:t>"passwordEncoder"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BABABA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=</a:t>
            </a:r>
            <a:r>
              <a:rPr lang="en-US" sz="1400" dirty="0">
                <a:solidFill>
                  <a:srgbClr val="A5C261"/>
                </a:solidFill>
                <a:latin typeface="Consolas"/>
                <a:ea typeface="Pretendard"/>
                <a:cs typeface="Consolas"/>
              </a:rPr>
              <a:t>"..."</a:t>
            </a:r>
            <a:r>
              <a:rPr lang="en-US" sz="1400" dirty="0">
                <a:solidFill>
                  <a:srgbClr val="E8BF6A"/>
                </a:solidFill>
                <a:latin typeface="Consolas"/>
                <a:ea typeface="Pretendard"/>
                <a:cs typeface="Consolas"/>
              </a:rPr>
              <a:t>/&gt;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StandardPasswordEncoder encoder =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(StandardPasswordEncoder) context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        .getBean("passwordEncoder");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978656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부트 — 등록(@Bean)과 사용(인터페이스)</a:t>
            </a:r>
            <a:endParaRPr lang="ko-KR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4289552"/>
            <a:ext cx="4922215" cy="1859280"/>
          </a:xfrm>
          <a:prstGeom prst="roundRect">
            <a:avLst>
              <a:gd name="adj" fmla="val 5902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4472432"/>
            <a:ext cx="4556455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@Bean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PasswordEncoder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passwordEncoder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BCryptPasswordEncoder();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서비스 — 생성자로 주입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PasswordEncoder encoder;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98424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인터페이스를 써도 </a:t>
            </a:r>
            <a:r>
              <a:rPr lang="ko-KR" altLang="en-US" sz="2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로 고르면 구현까지 의존한다</a:t>
            </a:r>
            <a:endParaRPr lang="ko-KR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53288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DIP · OCP · SRP 가 함께 깨진다</a:t>
            </a:r>
            <a:endParaRPr lang="ko-KR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29184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49300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생성·연결은 AppConfig 로, 이제는 스프링 컨테이너로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404164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생성자 주입 · 사용/구성 영역 · 정적/동적 의존관계 · @Configuration + @Bean</a:t>
            </a:r>
            <a:endParaRPr lang="ko-KR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8006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500176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설정 형식이 달라도 서비스 코드는 그대로</a:t>
            </a:r>
            <a:endParaRPr lang="ko-KR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555040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자바 설정(부트) · XML 설정(레거시) · 레거시는 XML + 컴포넌트 스캔</a:t>
            </a:r>
            <a:endParaRPr lang="ko-K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퀴즈 1 / 2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필드 타입이 인터페이스이므로 이 코드는 </a:t>
            </a:r>
            <a:r>
              <a:rPr lang="ko-KR" altLang="en-US" sz="3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DIP를 지킨다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6309360" cy="1325880"/>
          </a:xfrm>
          <a:prstGeom prst="roundRect">
            <a:avLst>
              <a:gd name="adj" fmla="val 8276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OrderServiceImpl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8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discountPolicy =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8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RateDiscountPolicy();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퀴즈 1 / 2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필드 타입이 인터페이스이므로 이 코드는 </a:t>
            </a:r>
            <a:r>
              <a:rPr lang="ko-KR" altLang="en-US" sz="3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DIP를 지킨다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6309360" cy="1325880"/>
          </a:xfrm>
          <a:prstGeom prst="roundRect">
            <a:avLst>
              <a:gd name="adj" fmla="val 8276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OrderServiceImpl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private</a:t>
            </a: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8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final</a:t>
            </a: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DiscountPolicy discountPolicy =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8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8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RateDiscountPolicy();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640" y="22402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정답</a:t>
            </a:r>
            <a:endParaRPr lang="ko-KR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2240280"/>
            <a:ext cx="2361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X</a:t>
            </a:r>
            <a:endParaRPr lang="ko-KR" sz="3000" dirty="0"/>
          </a:p>
        </p:txBody>
      </p:sp>
      <p:sp>
        <p:nvSpPr>
          <p:cNvPr id="9" name="Shape 7"/>
          <p:cNvSpPr/>
          <p:nvPr/>
        </p:nvSpPr>
        <p:spPr>
          <a:xfrm>
            <a:off x="7406640" y="3520440"/>
            <a:ext cx="4099255" cy="2240280"/>
          </a:xfrm>
          <a:prstGeom prst="roundRect">
            <a:avLst>
              <a:gd name="adj" fmla="val 4898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3776472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이유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178808"/>
            <a:ext cx="33677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로 구체 클래스를 직접 고른다 → 구현에도 의존(DIP 위반). 정책을 바꾸면 이 코드를 고쳐야 한다(OCP 위반).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퀴즈 2 / 2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설정을 </a:t>
            </a:r>
            <a:r>
              <a:rPr lang="ko-KR" altLang="en-US" sz="3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AppConfig.java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에서 </a:t>
            </a:r>
            <a:r>
              <a:rPr lang="ko-KR" altLang="en-US" sz="3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appConfig.xml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로 바꾸면 </a:t>
            </a:r>
            <a:r>
              <a:rPr lang="ko-KR" altLang="en-US" sz="3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MemberServiceImpl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도 고쳐야 한다.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O</a:t>
            </a:r>
            <a:endParaRPr lang="ko-KR" sz="8000" dirty="0"/>
          </a:p>
        </p:txBody>
      </p:sp>
      <p:sp>
        <p:nvSpPr>
          <p:cNvPr id="6" name="Shape 4"/>
          <p:cNvSpPr/>
          <p:nvPr/>
        </p:nvSpPr>
        <p:spPr>
          <a:xfrm>
            <a:off x="6233008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008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X</a:t>
            </a:r>
            <a:endParaRPr lang="ko-KR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퀴즈 2 / 2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설정을 </a:t>
            </a:r>
            <a:r>
              <a:rPr lang="ko-KR" altLang="en-US" sz="3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AppConfig.java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에서 </a:t>
            </a:r>
            <a:r>
              <a:rPr lang="ko-KR" altLang="en-US" sz="3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appConfig.xml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로 바꾸면 </a:t>
            </a:r>
            <a:r>
              <a:rPr lang="ko-KR" altLang="en-US" sz="3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MemberServiceImpl</a:t>
            </a:r>
            <a:r>
              <a:rPr lang="ko-KR" alt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도 고쳐야 한다.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O</a:t>
            </a:r>
            <a:endParaRPr lang="ko-KR" sz="8000" dirty="0"/>
          </a:p>
        </p:txBody>
      </p:sp>
      <p:sp>
        <p:nvSpPr>
          <p:cNvPr id="6" name="Shape 4"/>
          <p:cNvSpPr/>
          <p:nvPr/>
        </p:nvSpPr>
        <p:spPr>
          <a:xfrm>
            <a:off x="6233008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008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X</a:t>
            </a:r>
            <a:endParaRPr lang="ko-KR" sz="8000" dirty="0"/>
          </a:p>
        </p:txBody>
      </p:sp>
      <p:sp>
        <p:nvSpPr>
          <p:cNvPr id="8" name="Shape 6"/>
          <p:cNvSpPr/>
          <p:nvPr/>
        </p:nvSpPr>
        <p:spPr>
          <a:xfrm>
            <a:off x="685800" y="4617720"/>
            <a:ext cx="10820095" cy="1554480"/>
          </a:xfrm>
          <a:prstGeom prst="roundRect">
            <a:avLst>
              <a:gd name="adj" fmla="val 7059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873752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이유</a:t>
            </a:r>
            <a:endParaRPr lang="ko-K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276088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서비스는 생성자로 인터페이스만 받는다. 바뀌는 건 컨테이너 클래스(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GenericXmlApplicationContext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)와 설정 파일뿐.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김영한의 스프링 핵심 원리 - 기본편</dc:title>
  <dc:subject>김영한의 스프링 핵심 원리 - 기본편</dc:subject>
  <dc:creator>이바다</dc:creator>
  <cp:lastModifiedBy>이바다</cp:lastModifiedBy>
  <cp:revision>1</cp:revision>
  <dcterms:created xsi:type="dcterms:W3CDTF">2026-10-12T14:17:29Z</dcterms:created>
  <dcterms:modified xsi:type="dcterms:W3CDTF">2026-10-12T14:17:29Z</dcterms:modified>
</cp:coreProperties>
</file>