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0:30 · 누적 0:30]
섹션 7, 컴포넌트 스캔을 맡은 이바다입니다.
지금까지 AppConfig 에서는 빈을 하나하나 등록하고, 생성자에 무엇을 넣을지도 직접 적었습니다.
오늘은 그 두 가지, 등록과 주입을 스프링이 자동으로 해 주는 방법과, 이때 생길 수 있는 빈 이름 충돌을 5분 안에 보겠습니다.
── 연출 ──
· "등록과 주입을 자동으로" — 발표 전체를 꿰는 한 문장입니다.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 1:40 · 누적 2:10]
먼저 왼쪽은 지금까지 쓴 AppConfig 입니다. orderService() 처럼 빈 하나마다 @Bean 메서드를 만들고, new OrderServiceImpl(memberRepository(), discountPolicy()) 처럼 무엇을 넣을지, 연결까지 직접 적었죠.
예제는 몇 개 안 되지만 빈이 수십, 수백 개가 되면 어떨까요? 왼쪽 아래처럼 설정 정보도 커지고, 클래스를 새로 만들고 등록을 빠뜨리는 일도 생깁니다.
그래서 오른쪽처럼 설정 클래스에는 @ComponentScan 만 붙이고, 각 클래스에 @Component 를 붙입니다. 스프링이 이 클래스들을 찾아서 자동으로 등록하는데, 이걸 컴포넌트 스캔이라고 합니다.
여기서 이런 의문이 들 수 있습니다. 어차피 클래스마다 @Component 를 붙이는 거면, @Bean 을 하나씩 적는 거랑 똑같지 않을까요?
차이는 무엇을, 어디에 적느냐입니다. @Bean 은 별도 설정 파일에 생성과 연결까지 적어야 하지만, @Component 는 클래스 위에 "나는 빈이다" 표시만 합니다. 연결은 오른쪽 @Autowired 를 보고 스프링이 해 줘요. 그래서 의존관계가 하나 늘어도 생성자만 고치면 되고, 클래스를 만들면서 바로 붙이니 빠뜨릴 일도 적습니다.
대신 오른쪽 아래 설명 끝처럼, AppConfig 에서 전체 구성을 한 파일로 보던 장점은 줄어듭니다. 그럼 스프링이 연결을 어떻게 하는지, 다음 두 장의 그림으로 보겠습니다.
── 연출 ──
· "똑같지 않을까요?" 의문을 먼저 던지고 → "무엇을, 어디에 적느냐"로 답하세요. 왼쪽 new ...(...) 와 오른쪽 @Autowired 를 번갈아 가리키며.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 · 0:50 · 누적 3:00]
첫 단계는 등록입니다. 왼쪽 코드의 @Component 클래스 네 개가 오른쪽 스프링 빈 저장소에 등록됩니다.
빈 이름은 클래스 이름에서 첫 글자만 소문자로 바꾼 것입니다. MemberServiceImpl 은 memberServiceImpl 이 돼요.
이름을 바꾸고 싶으면 @Component("memberService2") 처럼 직접 줄 수 있습니다.
아래 문장처럼, @Bean 으로 등록할 때는 메서드 이름이 빈 이름이었는데, 스캔에서는 클래스 이름이 기준입니다.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 · 0:50 · 누적 3:50]
둘째 단계는 주입입니다. 이제 AppConfig 가 없으니, 왼쪽처럼 클래스 안의 생성자에 @Autowired 를 붙여 여기에 넣어 달라고 표시합니다.
그러면 스프링 컨테이너가 파라미터 타입을 보고 빈 저장소에서 맞는 빈을 찾아 넣습니다. 오른쪽 두 번째 줄처럼 getBean 을 타입으로 대신 호출해 준다고 보시면 됩니다.
그림처럼 파라미터가 두 개여도 memoryMemberRepository 와 rateDiscountPolicy 를 모두 찾아서 넣어 줍니다.
그럼 같은 이름의 빈이 두 번 등록되면 어떻게 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 · 0:50 · 누적 4:40]
같은 이름의 빈이 충돌하는 경우는 두 가지입니다. 오른쪽 첫 줄처럼 자동 등록끼리 이름이 같으면 예외가 발생합니다.
왼쪽 코드처럼 자동 등록된 memoryMemberRepository 와 같은 이름으로 수동 등록하면, 수동 빈이 자동 빈을 덮어씁니다. 오류 없이 로그만 남아요.
개발자가 의도했다면 괜찮지만, 대부분은 설정이 꼬여서 생깁니다. 아래 문장처럼 이런 애매한 버그가 가장 잡기 어렵습니다.
그래서 최근 스프링 부트는 이 경우 오류를 내도록 기본값을 바꿨습니다.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[6/6 · 0:30 · 누적 5:10]
세 줄로 정리하겠습니다.
하나, @ComponentScan 이 @Component 클래스를 찾아 등록합니다. 둘, @Autowired 가 타입으로 빈을 찾아 넣어 줍니다.
셋, 수동과 자동 빈의 이름이 겹치면 스프링 부트는 오류를 냅니다. 들어주셔서 감사합니다.
── 연출 ──
· 천천히. 청중이 받아 적는 구간입니다.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TUDY_COVER">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914400"/>
            <a:ext cx="10820095" cy="914400"/>
          </a:xfrm>
          <a:prstGeom prst="rect">
            <a:avLst/>
          </a:prstGeom>
          <a:noFill/>
          <a:ln/>
        </p:spPr>
        <p:txBody>
          <a:bodyPr wrap="square" rtlCol="0"/>
          <a:lstStyle>
            <a:lvl1pPr algn="l" indent="0" marL="0">
              <a:buNone/>
              <a:defRPr lang="en-US" sz="4000" b="1" dirty="0">
                <a:solidFill>
                  <a:srgbClr val="23262F"/>
                </a:solidFill>
                <a:latin typeface="Pretendard"/>
                <a:ea typeface="Pretendard"/>
                <a:cs typeface="Pretendard"/>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UDY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777240"/>
            <a:ext cx="10820095" cy="777240"/>
          </a:xfrm>
          <a:prstGeom prst="rect">
            <a:avLst/>
          </a:prstGeom>
          <a:noFill/>
          <a:ln/>
        </p:spPr>
        <p:txBody>
          <a:bodyPr wrap="square" rtlCol="0"/>
          <a:lstStyle>
            <a:lvl1pPr algn="l" indent="0" marL="0">
              <a:buNone/>
              <a:defRPr lang="en-US" sz="3200" b="1" dirty="0">
                <a:solidFill>
                  <a:srgbClr val="23262F"/>
                </a:solidFill>
                <a:latin typeface="Pretendard"/>
                <a:ea typeface="Pretendard"/>
                <a:cs typeface="Pretendard"/>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UDY_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737360"/>
            <a:ext cx="10820095" cy="2194560"/>
          </a:xfrm>
          <a:prstGeom prst="rect">
            <a:avLst/>
          </a:prstGeom>
          <a:noFill/>
          <a:ln/>
        </p:spPr>
        <p:txBody>
          <a:bodyPr wrap="square" rtlCol="0"/>
          <a:lstStyle>
            <a:lvl1pPr algn="l" indent="0" marL="0">
              <a:buNone/>
              <a:defRPr lang="en-US" sz="4000" b="1" dirty="0">
                <a:solidFill>
                  <a:srgbClr val="23262F"/>
                </a:solidFill>
                <a:latin typeface="Pretendard"/>
                <a:ea typeface="Pretendard"/>
                <a:cs typeface="Pretendard"/>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UDY_QUIZ">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868680"/>
            <a:ext cx="10820095" cy="1234440"/>
          </a:xfrm>
          <a:prstGeom prst="rect">
            <a:avLst/>
          </a:prstGeom>
          <a:noFill/>
          <a:ln/>
        </p:spPr>
        <p:txBody>
          <a:bodyPr wrap="square" rtlCol="0"/>
          <a:lstStyle>
            <a:lvl1pPr algn="l" indent="0" marL="0">
              <a:buNone/>
              <a:defRPr lang="en-US" sz="3400" b="1" dirty="0">
                <a:solidFill>
                  <a:srgbClr val="23262F"/>
                </a:solidFill>
                <a:latin typeface="Pretendard"/>
                <a:ea typeface="Pretendard"/>
                <a:cs typeface="Pretendard"/>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TUDY_PRINCIP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097280"/>
            <a:ext cx="5394960" cy="2194560"/>
          </a:xfrm>
          <a:prstGeom prst="rect">
            <a:avLst/>
          </a:prstGeom>
          <a:noFill/>
          <a:ln/>
        </p:spPr>
        <p:txBody>
          <a:bodyPr wrap="square" rtlCol="0"/>
          <a:lstStyle>
            <a:lvl1pPr algn="l" indent="0" marL="0">
              <a:buNone/>
              <a:defRPr lang="en-US" sz="3600" b="1" dirty="0">
                <a:solidFill>
                  <a:srgbClr val="23262F"/>
                </a:solidFill>
                <a:latin typeface="Pretendard"/>
                <a:ea typeface="Pretendard"/>
                <a:cs typeface="Pretendard"/>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a:ea typeface="Pretendard"/>
                <a:cs typeface="Pretendard"/>
              </a:rPr>
              <a:t>김영한의 스프링 핵심 원리 - 기본편 · 섹션 7 컴포넌트 스캔</a:t>
            </a:r>
            <a:endParaRPr lang="ko-KR" sz="1400" dirty="0"/>
          </a:p>
        </p:txBody>
      </p:sp>
      <p:sp>
        <p:nvSpPr>
          <p:cNvPr id="3" name="Text 0"/>
          <p:cNvSpPr/>
          <p:nvPr>
            <p:ph idx="100" type="title" hasCustomPrompt="1"/>
          </p:nvPr>
        </p:nvSpPr>
        <p:spPr>
          <a:xfrm>
            <a:off x="685800" y="914400"/>
            <a:ext cx="10820095" cy="914400"/>
          </a:xfrm>
          <a:prstGeom prst="rect">
            <a:avLst/>
          </a:prstGeom>
          <a:noFill/>
          <a:ln/>
        </p:spPr>
        <p:txBody>
          <a:bodyPr wrap="square" lIns="0" tIns="0" rIns="0" bIns="0" rtlCol="0" anchor="ctr"/>
          <a:lstStyle/>
          <a:p>
            <a:pPr algn="l" indent="0" marL="0">
              <a:buNone/>
            </a:pPr>
            <a:r>
              <a:rPr lang="ko-KR" altLang="en-US" sz="4000" b="1" dirty="0">
                <a:solidFill>
                  <a:srgbClr val="23262F"/>
                </a:solidFill>
                <a:latin typeface="Pretendard"/>
                <a:ea typeface="Pretendard"/>
                <a:cs typeface="Pretendard"/>
              </a:rPr>
              <a:t>스프링 핵심 원리 기본편</a:t>
            </a:r>
            <a:endParaRPr lang="en-US" sz="4000" dirty="0"/>
          </a:p>
        </p:txBody>
      </p:sp>
      <p:sp>
        <p:nvSpPr>
          <p:cNvPr id="4" name="Shape 2"/>
          <p:cNvSpPr/>
          <p:nvPr/>
        </p:nvSpPr>
        <p:spPr>
          <a:xfrm>
            <a:off x="685800" y="2240280"/>
            <a:ext cx="3423818" cy="2514600"/>
          </a:xfrm>
          <a:prstGeom prst="roundRect">
            <a:avLst>
              <a:gd name="adj" fmla="val 4364"/>
            </a:avLst>
          </a:prstGeom>
          <a:solidFill>
            <a:srgbClr val="F8F7F4"/>
          </a:solidFill>
          <a:ln w="12700">
            <a:solidFill>
              <a:srgbClr val="F8F7F4"/>
            </a:solidFill>
            <a:prstDash val="solid"/>
          </a:ln>
        </p:spPr>
      </p:sp>
      <p:sp>
        <p:nvSpPr>
          <p:cNvPr id="5" name="Text 3"/>
          <p:cNvSpPr txBox="1"/>
          <p:nvPr/>
        </p:nvSpPr>
        <p:spPr>
          <a:xfrm>
            <a:off x="1005840" y="2514600"/>
            <a:ext cx="2783738" cy="640080"/>
          </a:xfrm>
          <a:prstGeom prst="rect">
            <a:avLst/>
          </a:prstGeom>
          <a:noFill/>
          <a:ln/>
        </p:spPr>
        <p:txBody>
          <a:bodyPr wrap="square" lIns="0" tIns="0" rIns="0" bIns="0" rtlCol="0" anchor="t"/>
          <a:lstStyle/>
          <a:p>
            <a:pPr indent="0" marL="0">
              <a:lnSpc>
                <a:spcPct val="110000"/>
              </a:lnSpc>
              <a:buNone/>
            </a:pPr>
            <a:r>
              <a:rPr lang="ko-KR" altLang="en-US" sz="4000" b="1" dirty="0">
                <a:solidFill>
                  <a:srgbClr val="0057FF"/>
                </a:solidFill>
                <a:latin typeface="Pretendard"/>
                <a:ea typeface="Pretendard"/>
                <a:cs typeface="Pretendard"/>
              </a:rPr>
              <a:t>01</a:t>
            </a:r>
            <a:endParaRPr lang="ko-KR" sz="4000" dirty="0"/>
          </a:p>
        </p:txBody>
      </p:sp>
      <p:sp>
        <p:nvSpPr>
          <p:cNvPr id="6" name="Text 4"/>
          <p:cNvSpPr txBox="1"/>
          <p:nvPr/>
        </p:nvSpPr>
        <p:spPr>
          <a:xfrm>
            <a:off x="1005840" y="3291840"/>
            <a:ext cx="2783738" cy="411480"/>
          </a:xfrm>
          <a:prstGeom prst="rect">
            <a:avLst/>
          </a:prstGeom>
          <a:noFill/>
          <a:ln/>
        </p:spPr>
        <p:txBody>
          <a:bodyPr wrap="square" lIns="0" tIns="0" rIns="0" bIns="0" rtlCol="0" anchor="t"/>
          <a:lstStyle/>
          <a:p>
            <a:pPr indent="0" marL="0">
              <a:lnSpc>
                <a:spcPct val="110000"/>
              </a:lnSpc>
              <a:buNone/>
            </a:pPr>
            <a:r>
              <a:rPr lang="ko-KR" altLang="en-US" sz="2000" b="1" dirty="0">
                <a:solidFill>
                  <a:srgbClr val="23262F"/>
                </a:solidFill>
                <a:latin typeface="Pretendard"/>
                <a:ea typeface="Pretendard"/>
                <a:cs typeface="Pretendard"/>
              </a:rPr>
              <a:t>스캔해서 등록</a:t>
            </a:r>
            <a:endParaRPr lang="ko-KR" sz="2000" dirty="0"/>
          </a:p>
        </p:txBody>
      </p:sp>
      <p:sp>
        <p:nvSpPr>
          <p:cNvPr id="7" name="Text 5"/>
          <p:cNvSpPr txBox="1"/>
          <p:nvPr/>
        </p:nvSpPr>
        <p:spPr>
          <a:xfrm>
            <a:off x="1005840" y="3749040"/>
            <a:ext cx="2783738" cy="86868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Pretendard"/>
                <a:ea typeface="Pretendard"/>
                <a:cs typeface="Pretendard"/>
              </a:rPr>
              <a:t>@ComponentScan · @Component</a:t>
            </a:r>
            <a:endParaRPr lang="ko-KR" sz="1400" dirty="0"/>
          </a:p>
        </p:txBody>
      </p:sp>
      <p:sp>
        <p:nvSpPr>
          <p:cNvPr id="8" name="Shape 6"/>
          <p:cNvSpPr/>
          <p:nvPr/>
        </p:nvSpPr>
        <p:spPr>
          <a:xfrm>
            <a:off x="4383938" y="2240280"/>
            <a:ext cx="3423818" cy="2514600"/>
          </a:xfrm>
          <a:prstGeom prst="roundRect">
            <a:avLst>
              <a:gd name="adj" fmla="val 4364"/>
            </a:avLst>
          </a:prstGeom>
          <a:solidFill>
            <a:srgbClr val="F8F7F4"/>
          </a:solidFill>
          <a:ln w="12700">
            <a:solidFill>
              <a:srgbClr val="F8F7F4"/>
            </a:solidFill>
            <a:prstDash val="solid"/>
          </a:ln>
        </p:spPr>
      </p:sp>
      <p:sp>
        <p:nvSpPr>
          <p:cNvPr id="9" name="Text 7"/>
          <p:cNvSpPr txBox="1"/>
          <p:nvPr/>
        </p:nvSpPr>
        <p:spPr>
          <a:xfrm>
            <a:off x="4703978" y="2514600"/>
            <a:ext cx="2783738" cy="640080"/>
          </a:xfrm>
          <a:prstGeom prst="rect">
            <a:avLst/>
          </a:prstGeom>
          <a:noFill/>
          <a:ln/>
        </p:spPr>
        <p:txBody>
          <a:bodyPr wrap="square" lIns="0" tIns="0" rIns="0" bIns="0" rtlCol="0" anchor="t"/>
          <a:lstStyle/>
          <a:p>
            <a:pPr indent="0" marL="0">
              <a:lnSpc>
                <a:spcPct val="110000"/>
              </a:lnSpc>
              <a:buNone/>
            </a:pPr>
            <a:r>
              <a:rPr lang="ko-KR" altLang="en-US" sz="4000" b="1" dirty="0">
                <a:solidFill>
                  <a:srgbClr val="0057FF"/>
                </a:solidFill>
                <a:latin typeface="Pretendard"/>
                <a:ea typeface="Pretendard"/>
                <a:cs typeface="Pretendard"/>
              </a:rPr>
              <a:t>02</a:t>
            </a:r>
            <a:endParaRPr lang="ko-KR" sz="4000" dirty="0"/>
          </a:p>
        </p:txBody>
      </p:sp>
      <p:sp>
        <p:nvSpPr>
          <p:cNvPr id="10" name="Text 8"/>
          <p:cNvSpPr txBox="1"/>
          <p:nvPr/>
        </p:nvSpPr>
        <p:spPr>
          <a:xfrm>
            <a:off x="4703978" y="3291840"/>
            <a:ext cx="2783738" cy="411480"/>
          </a:xfrm>
          <a:prstGeom prst="rect">
            <a:avLst/>
          </a:prstGeom>
          <a:noFill/>
          <a:ln/>
        </p:spPr>
        <p:txBody>
          <a:bodyPr wrap="square" lIns="0" tIns="0" rIns="0" bIns="0" rtlCol="0" anchor="t"/>
          <a:lstStyle/>
          <a:p>
            <a:pPr indent="0" marL="0">
              <a:lnSpc>
                <a:spcPct val="110000"/>
              </a:lnSpc>
              <a:buNone/>
            </a:pPr>
            <a:r>
              <a:rPr lang="ko-KR" altLang="en-US" sz="2000" b="1" dirty="0">
                <a:solidFill>
                  <a:srgbClr val="23262F"/>
                </a:solidFill>
                <a:latin typeface="Pretendard"/>
                <a:ea typeface="Pretendard"/>
                <a:cs typeface="Pretendard"/>
              </a:rPr>
              <a:t>자동 주입</a:t>
            </a:r>
            <a:endParaRPr lang="ko-KR" sz="2000" dirty="0"/>
          </a:p>
        </p:txBody>
      </p:sp>
      <p:sp>
        <p:nvSpPr>
          <p:cNvPr id="11" name="Text 9"/>
          <p:cNvSpPr txBox="1"/>
          <p:nvPr/>
        </p:nvSpPr>
        <p:spPr>
          <a:xfrm>
            <a:off x="4703978" y="3749040"/>
            <a:ext cx="2783738" cy="86868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Pretendard"/>
                <a:ea typeface="Pretendard"/>
                <a:cs typeface="Pretendard"/>
              </a:rPr>
              <a:t>@Autowired 는 타입으로</a:t>
            </a:r>
            <a:endParaRPr lang="ko-KR" sz="1400" dirty="0"/>
          </a:p>
        </p:txBody>
      </p:sp>
      <p:sp>
        <p:nvSpPr>
          <p:cNvPr id="12" name="Shape 10"/>
          <p:cNvSpPr/>
          <p:nvPr/>
        </p:nvSpPr>
        <p:spPr>
          <a:xfrm>
            <a:off x="8082077" y="2240280"/>
            <a:ext cx="3423818" cy="2514600"/>
          </a:xfrm>
          <a:prstGeom prst="roundRect">
            <a:avLst>
              <a:gd name="adj" fmla="val 4364"/>
            </a:avLst>
          </a:prstGeom>
          <a:solidFill>
            <a:srgbClr val="F8F7F4"/>
          </a:solidFill>
          <a:ln w="12700">
            <a:solidFill>
              <a:srgbClr val="F8F7F4"/>
            </a:solidFill>
            <a:prstDash val="solid"/>
          </a:ln>
        </p:spPr>
      </p:sp>
      <p:sp>
        <p:nvSpPr>
          <p:cNvPr id="13" name="Text 11"/>
          <p:cNvSpPr txBox="1"/>
          <p:nvPr/>
        </p:nvSpPr>
        <p:spPr>
          <a:xfrm>
            <a:off x="8402117" y="2514600"/>
            <a:ext cx="2783738" cy="640080"/>
          </a:xfrm>
          <a:prstGeom prst="rect">
            <a:avLst/>
          </a:prstGeom>
          <a:noFill/>
          <a:ln/>
        </p:spPr>
        <p:txBody>
          <a:bodyPr wrap="square" lIns="0" tIns="0" rIns="0" bIns="0" rtlCol="0" anchor="t"/>
          <a:lstStyle/>
          <a:p>
            <a:pPr indent="0" marL="0">
              <a:lnSpc>
                <a:spcPct val="110000"/>
              </a:lnSpc>
              <a:buNone/>
            </a:pPr>
            <a:r>
              <a:rPr lang="ko-KR" altLang="en-US" sz="4000" b="1" dirty="0">
                <a:solidFill>
                  <a:srgbClr val="0057FF"/>
                </a:solidFill>
                <a:latin typeface="Pretendard"/>
                <a:ea typeface="Pretendard"/>
                <a:cs typeface="Pretendard"/>
              </a:rPr>
              <a:t>03</a:t>
            </a:r>
            <a:endParaRPr lang="ko-KR" sz="4000" dirty="0"/>
          </a:p>
        </p:txBody>
      </p:sp>
      <p:sp>
        <p:nvSpPr>
          <p:cNvPr id="14" name="Text 12"/>
          <p:cNvSpPr txBox="1"/>
          <p:nvPr/>
        </p:nvSpPr>
        <p:spPr>
          <a:xfrm>
            <a:off x="8402117" y="3291840"/>
            <a:ext cx="2783738" cy="411480"/>
          </a:xfrm>
          <a:prstGeom prst="rect">
            <a:avLst/>
          </a:prstGeom>
          <a:noFill/>
          <a:ln/>
        </p:spPr>
        <p:txBody>
          <a:bodyPr wrap="square" lIns="0" tIns="0" rIns="0" bIns="0" rtlCol="0" anchor="t"/>
          <a:lstStyle/>
          <a:p>
            <a:pPr indent="0" marL="0">
              <a:lnSpc>
                <a:spcPct val="110000"/>
              </a:lnSpc>
              <a:buNone/>
            </a:pPr>
            <a:r>
              <a:rPr lang="ko-KR" altLang="en-US" sz="2000" b="1" dirty="0">
                <a:solidFill>
                  <a:srgbClr val="23262F"/>
                </a:solidFill>
                <a:latin typeface="Pretendard"/>
                <a:ea typeface="Pretendard"/>
                <a:cs typeface="Pretendard"/>
              </a:rPr>
              <a:t>빈 이름 충돌</a:t>
            </a:r>
            <a:endParaRPr lang="ko-KR" sz="2000" dirty="0"/>
          </a:p>
        </p:txBody>
      </p:sp>
      <p:sp>
        <p:nvSpPr>
          <p:cNvPr id="15" name="Text 13"/>
          <p:cNvSpPr txBox="1"/>
          <p:nvPr/>
        </p:nvSpPr>
        <p:spPr>
          <a:xfrm>
            <a:off x="8402117" y="3749040"/>
            <a:ext cx="2783738" cy="86868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Pretendard"/>
                <a:ea typeface="Pretendard"/>
                <a:cs typeface="Pretendard"/>
              </a:rPr>
              <a:t>수동과 자동이 겹치면</a:t>
            </a:r>
            <a:endParaRPr lang="ko-KR" sz="1400" dirty="0"/>
          </a:p>
        </p:txBody>
      </p:sp>
      <p:sp>
        <p:nvSpPr>
          <p:cNvPr id="16" name="Text 14"/>
          <p:cNvSpPr txBox="1"/>
          <p:nvPr/>
        </p:nvSpPr>
        <p:spPr>
          <a:xfrm>
            <a:off x="685800" y="6126480"/>
            <a:ext cx="10820095" cy="274320"/>
          </a:xfrm>
          <a:prstGeom prst="rect">
            <a:avLst/>
          </a:prstGeom>
          <a:noFill/>
          <a:ln/>
        </p:spPr>
        <p:txBody>
          <a:bodyPr wrap="square" lIns="0" tIns="0" rIns="0" bIns="0" rtlCol="0" anchor="t"/>
          <a:lstStyle/>
          <a:p>
            <a:pPr indent="0" marL="0">
              <a:lnSpc>
                <a:spcPct val="110000"/>
              </a:lnSpc>
              <a:buNone/>
            </a:pPr>
            <a:r>
              <a:rPr lang="ko-KR" altLang="en-US" sz="1200" dirty="0">
                <a:solidFill>
                  <a:srgbClr val="6B7280"/>
                </a:solidFill>
                <a:latin typeface="Pretendard"/>
                <a:ea typeface="Pretendard"/>
                <a:cs typeface="Pretendard"/>
              </a:rPr>
              <a:t>이바다</a:t>
            </a:r>
            <a:endParaRPr lang="ko-KR"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a:ea typeface="Pretendard"/>
                <a:cs typeface="Pretendard"/>
              </a:rPr>
              <a:t>07  컴포넌트 스캔</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a:ea typeface="Pretendard"/>
                <a:cs typeface="Pretendard"/>
              </a:rPr>
              <a:t>수동 등록과 컴포넌트 스캔</a:t>
            </a:r>
            <a:endParaRPr lang="en-US" sz="3200" dirty="0"/>
          </a:p>
        </p:txBody>
      </p:sp>
      <p:sp>
        <p:nvSpPr>
          <p:cNvPr id="4" name="Text 2"/>
          <p:cNvSpPr txBox="1"/>
          <p:nvPr/>
        </p:nvSpPr>
        <p:spPr>
          <a:xfrm>
            <a:off x="685800" y="1783080"/>
            <a:ext cx="5227168"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a:ea typeface="Pretendard"/>
                <a:cs typeface="Pretendard"/>
              </a:rPr>
              <a:t>AppConfig — 등록과 연결을 한 파일에 직접</a:t>
            </a:r>
            <a:endParaRPr lang="ko-KR" sz="1200" dirty="0"/>
          </a:p>
        </p:txBody>
      </p:sp>
      <p:sp>
        <p:nvSpPr>
          <p:cNvPr id="5" name="Shape 3"/>
          <p:cNvSpPr/>
          <p:nvPr/>
        </p:nvSpPr>
        <p:spPr>
          <a:xfrm>
            <a:off x="685800" y="2093976"/>
            <a:ext cx="5227168" cy="2854960"/>
          </a:xfrm>
          <a:prstGeom prst="roundRect">
            <a:avLst>
              <a:gd name="adj" fmla="val 3843"/>
            </a:avLst>
          </a:prstGeom>
          <a:solidFill>
            <a:srgbClr val="23262F"/>
          </a:solidFill>
          <a:ln w="12700">
            <a:solidFill>
              <a:srgbClr val="23262F"/>
            </a:solidFill>
            <a:prstDash val="solid"/>
          </a:ln>
        </p:spPr>
      </p:sp>
      <p:sp>
        <p:nvSpPr>
          <p:cNvPr id="6" name="Text 4"/>
          <p:cNvSpPr txBox="1"/>
          <p:nvPr/>
        </p:nvSpPr>
        <p:spPr>
          <a:xfrm>
            <a:off x="868680" y="2276856"/>
            <a:ext cx="4861408" cy="2489200"/>
          </a:xfrm>
          <a:prstGeom prst="rect">
            <a:avLst/>
          </a:prstGeom>
          <a:noFill/>
          <a:ln/>
        </p:spPr>
        <p:txBody>
          <a:bodyPr wrap="square" lIns="0" tIns="0" rIns="0" bIns="0" rtlCol="0" anchor="t"/>
          <a:lstStyle/>
          <a:p>
            <a:pPr indent="0" marL="0">
              <a:lnSpc>
                <a:spcPct val="120000"/>
              </a:lnSpc>
              <a:buNone/>
            </a:pPr>
            <a:r>
              <a:rPr lang="en-US" sz="1400" dirty="0">
                <a:solidFill>
                  <a:srgbClr val="BBB529"/>
                </a:solidFill>
                <a:latin typeface="Consolas"/>
                <a:ea typeface="Pretendard"/>
                <a:cs typeface="Consolas"/>
              </a:rPr>
              <a:t>@Configuration</a:t>
            </a:r>
            <a:endParaRPr lang="en-US" sz="1400" dirty="0"/>
          </a:p>
          <a:p>
            <a:pPr indent="0" marL="0">
              <a:lnSpc>
                <a:spcPct val="120000"/>
              </a:lnSpc>
              <a:buNone/>
            </a:pPr>
            <a:r>
              <a:rPr lang="en-US" sz="1400" dirty="0">
                <a:solidFill>
                  <a:srgbClr val="CC7832"/>
                </a:solidFill>
                <a:latin typeface="Consolas"/>
                <a:ea typeface="Pretendard"/>
                <a:cs typeface="Consolas"/>
              </a:rPr>
              <a:t>public</a:t>
            </a:r>
            <a:r>
              <a:rPr lang="en-US" sz="1400" dirty="0">
                <a:solidFill>
                  <a:srgbClr val="A9B7C6"/>
                </a:solidFill>
                <a:latin typeface="Consolas"/>
                <a:ea typeface="Pretendard"/>
                <a:cs typeface="Consolas"/>
              </a:rPr>
              <a:t> </a:t>
            </a:r>
            <a:r>
              <a:rPr lang="en-US" sz="1400" dirty="0">
                <a:solidFill>
                  <a:srgbClr val="CC7832"/>
                </a:solidFill>
                <a:latin typeface="Consolas"/>
                <a:ea typeface="Pretendard"/>
                <a:cs typeface="Consolas"/>
              </a:rPr>
              <a:t>class</a:t>
            </a:r>
            <a:r>
              <a:rPr lang="en-US" sz="1400" dirty="0">
                <a:solidFill>
                  <a:srgbClr val="A9B7C6"/>
                </a:solidFill>
                <a:latin typeface="Consolas"/>
                <a:ea typeface="Pretendard"/>
                <a:cs typeface="Consolas"/>
              </a:rPr>
              <a:t> AppConfig {</a:t>
            </a:r>
            <a:endParaRPr lang="en-US" sz="1400" dirty="0"/>
          </a:p>
          <a:p>
            <a:pPr indent="0" marL="0">
              <a:lnSpc>
                <a:spcPct val="120000"/>
              </a:lnSpc>
              <a:buNone/>
            </a:pPr>
            <a:r>
              <a:rPr lang="en-US" sz="1400" dirty="0">
                <a:solidFill>
                  <a:srgbClr val="A9B7C6"/>
                </a:solidFill>
                <a:latin typeface="Consolas"/>
                <a:ea typeface="Pretendard"/>
                <a:cs typeface="Consolas"/>
              </a:rPr>
              <a:t>    </a:t>
            </a:r>
            <a:r>
              <a:rPr lang="en-US" sz="1400" dirty="0">
                <a:solidFill>
                  <a:srgbClr val="BBB529"/>
                </a:solidFill>
                <a:latin typeface="Consolas"/>
                <a:ea typeface="Pretendard"/>
                <a:cs typeface="Consolas"/>
              </a:rPr>
              <a:t>@Bean</a:t>
            </a:r>
            <a:endParaRPr lang="en-US" sz="1400" dirty="0"/>
          </a:p>
          <a:p>
            <a:pPr indent="0" marL="0">
              <a:lnSpc>
                <a:spcPct val="120000"/>
              </a:lnSpc>
              <a:buNone/>
            </a:pPr>
            <a:r>
              <a:rPr lang="en-US" sz="1400" dirty="0">
                <a:solidFill>
                  <a:srgbClr val="A9B7C6"/>
                </a:solidFill>
                <a:latin typeface="Consolas"/>
                <a:ea typeface="Pretendard"/>
                <a:cs typeface="Consolas"/>
              </a:rPr>
              <a:t>    </a:t>
            </a:r>
            <a:r>
              <a:rPr lang="en-US" sz="1400" dirty="0">
                <a:solidFill>
                  <a:srgbClr val="CC7832"/>
                </a:solidFill>
                <a:latin typeface="Consolas"/>
                <a:ea typeface="Pretendard"/>
                <a:cs typeface="Consolas"/>
              </a:rPr>
              <a:t>public</a:t>
            </a:r>
            <a:r>
              <a:rPr lang="en-US" sz="1400" dirty="0">
                <a:solidFill>
                  <a:srgbClr val="A9B7C6"/>
                </a:solidFill>
                <a:latin typeface="Consolas"/>
                <a:ea typeface="Pretendard"/>
                <a:cs typeface="Consolas"/>
              </a:rPr>
              <a:t> OrderService </a:t>
            </a:r>
            <a:r>
              <a:rPr lang="en-US" sz="1400" dirty="0">
                <a:solidFill>
                  <a:srgbClr val="FFC66D"/>
                </a:solidFill>
                <a:latin typeface="Consolas"/>
                <a:ea typeface="Pretendard"/>
                <a:cs typeface="Consolas"/>
              </a:rPr>
              <a:t>orderService</a:t>
            </a:r>
            <a:r>
              <a:rPr lang="en-US" sz="1400" dirty="0">
                <a:solidFill>
                  <a:srgbClr val="A9B7C6"/>
                </a:solidFill>
                <a:latin typeface="Consolas"/>
                <a:ea typeface="Pretendard"/>
                <a:cs typeface="Consolas"/>
              </a:rPr>
              <a:t>() {</a:t>
            </a:r>
            <a:endParaRPr lang="en-US" sz="1400" dirty="0"/>
          </a:p>
          <a:p>
            <a:pPr indent="0" marL="0">
              <a:lnSpc>
                <a:spcPct val="120000"/>
              </a:lnSpc>
              <a:buNone/>
            </a:pPr>
            <a:r>
              <a:rPr lang="en-US" sz="1400" dirty="0">
                <a:solidFill>
                  <a:srgbClr val="A9B7C6"/>
                </a:solidFill>
                <a:latin typeface="Consolas"/>
                <a:ea typeface="Pretendard"/>
                <a:cs typeface="Consolas"/>
              </a:rPr>
              <a:t>        </a:t>
            </a:r>
            <a:r>
              <a:rPr lang="en-US" sz="1400" dirty="0">
                <a:solidFill>
                  <a:srgbClr val="CC7832"/>
                </a:solidFill>
                <a:latin typeface="Consolas"/>
                <a:ea typeface="Pretendard"/>
                <a:cs typeface="Consolas"/>
              </a:rPr>
              <a:t>return</a:t>
            </a:r>
            <a:r>
              <a:rPr lang="en-US" sz="1400" dirty="0">
                <a:solidFill>
                  <a:srgbClr val="A9B7C6"/>
                </a:solidFill>
                <a:latin typeface="Consolas"/>
                <a:ea typeface="Pretendard"/>
                <a:cs typeface="Consolas"/>
              </a:rPr>
              <a:t> </a:t>
            </a:r>
            <a:r>
              <a:rPr lang="en-US" sz="1400" dirty="0">
                <a:solidFill>
                  <a:srgbClr val="CC7832"/>
                </a:solidFill>
                <a:latin typeface="Consolas"/>
                <a:ea typeface="Pretendard"/>
                <a:cs typeface="Consolas"/>
              </a:rPr>
              <a:t>new</a:t>
            </a:r>
            <a:r>
              <a:rPr lang="en-US" sz="1400" dirty="0">
                <a:solidFill>
                  <a:srgbClr val="A9B7C6"/>
                </a:solidFill>
                <a:latin typeface="Consolas"/>
                <a:ea typeface="Pretendard"/>
                <a:cs typeface="Consolas"/>
              </a:rPr>
              <a:t> OrderServiceImpl(</a:t>
            </a:r>
            <a:endParaRPr lang="en-US" sz="1400" dirty="0"/>
          </a:p>
          <a:p>
            <a:pPr indent="0" marL="0">
              <a:lnSpc>
                <a:spcPct val="120000"/>
              </a:lnSpc>
              <a:buNone/>
            </a:pPr>
            <a:r>
              <a:rPr lang="en-US" sz="1400" dirty="0">
                <a:solidFill>
                  <a:srgbClr val="A9B7C6"/>
                </a:solidFill>
                <a:latin typeface="Consolas"/>
                <a:ea typeface="Pretendard"/>
                <a:cs typeface="Consolas"/>
              </a:rPr>
              <a:t>                </a:t>
            </a:r>
            <a:r>
              <a:rPr lang="en-US" sz="1400" dirty="0">
                <a:solidFill>
                  <a:srgbClr val="FFC66D"/>
                </a:solidFill>
                <a:latin typeface="Consolas"/>
                <a:ea typeface="Pretendard"/>
                <a:cs typeface="Consolas"/>
              </a:rPr>
              <a:t>memberRepository</a:t>
            </a:r>
            <a:r>
              <a:rPr lang="en-US" sz="1400" dirty="0">
                <a:solidFill>
                  <a:srgbClr val="A9B7C6"/>
                </a:solidFill>
                <a:latin typeface="Consolas"/>
                <a:ea typeface="Pretendard"/>
                <a:cs typeface="Consolas"/>
              </a:rPr>
              <a:t>(),</a:t>
            </a:r>
            <a:endParaRPr lang="en-US" sz="1400" dirty="0"/>
          </a:p>
          <a:p>
            <a:pPr indent="0" marL="0">
              <a:lnSpc>
                <a:spcPct val="120000"/>
              </a:lnSpc>
              <a:buNone/>
            </a:pPr>
            <a:r>
              <a:rPr lang="en-US" sz="1400" dirty="0">
                <a:solidFill>
                  <a:srgbClr val="A9B7C6"/>
                </a:solidFill>
                <a:latin typeface="Consolas"/>
                <a:ea typeface="Pretendard"/>
                <a:cs typeface="Consolas"/>
              </a:rPr>
              <a:t>                </a:t>
            </a:r>
            <a:r>
              <a:rPr lang="en-US" sz="1400" dirty="0">
                <a:solidFill>
                  <a:srgbClr val="FFC66D"/>
                </a:solidFill>
                <a:latin typeface="Consolas"/>
                <a:ea typeface="Pretendard"/>
                <a:cs typeface="Consolas"/>
              </a:rPr>
              <a:t>discountPolicy</a:t>
            </a:r>
            <a:r>
              <a:rPr lang="en-US" sz="1400" dirty="0">
                <a:solidFill>
                  <a:srgbClr val="A9B7C6"/>
                </a:solidFill>
                <a:latin typeface="Consolas"/>
                <a:ea typeface="Pretendard"/>
                <a:cs typeface="Consolas"/>
              </a:rPr>
              <a:t>());</a:t>
            </a:r>
            <a:endParaRPr lang="en-US" sz="1400" dirty="0"/>
          </a:p>
          <a:p>
            <a:pPr indent="0" marL="0">
              <a:lnSpc>
                <a:spcPct val="120000"/>
              </a:lnSpc>
              <a:buNone/>
            </a:pPr>
            <a:r>
              <a:rPr lang="en-US" sz="1400" dirty="0">
                <a:solidFill>
                  <a:srgbClr val="A9B7C6"/>
                </a:solidFill>
                <a:latin typeface="Consolas"/>
                <a:ea typeface="Pretendard"/>
                <a:cs typeface="Consolas"/>
              </a:rPr>
              <a:t>    }</a:t>
            </a:r>
            <a:endParaRPr lang="en-US" sz="1400" dirty="0"/>
          </a:p>
          <a:p>
            <a:pPr indent="0" marL="0">
              <a:lnSpc>
                <a:spcPct val="120000"/>
              </a:lnSpc>
              <a:buNone/>
            </a:pPr>
            <a:r>
              <a:rPr lang="en-US" sz="1400" dirty="0">
                <a:solidFill>
                  <a:srgbClr val="A9B7C6"/>
                </a:solidFill>
                <a:latin typeface="Consolas"/>
                <a:ea typeface="Pretendard"/>
                <a:cs typeface="Consolas"/>
              </a:rPr>
              <a:t>    </a:t>
            </a:r>
            <a:r>
              <a:rPr lang="en-US" sz="1400" dirty="0">
                <a:solidFill>
                  <a:srgbClr val="808080"/>
                </a:solidFill>
                <a:latin typeface="Consolas"/>
                <a:ea typeface="Pretendard"/>
                <a:cs typeface="Consolas"/>
              </a:rPr>
              <a:t>// 빈마다 등록 + 연결을 계속 적는다</a:t>
            </a:r>
            <a:endParaRPr lang="en-US" sz="1400" dirty="0"/>
          </a:p>
          <a:p>
            <a:pPr indent="0" marL="0">
              <a:lnSpc>
                <a:spcPct val="120000"/>
              </a:lnSpc>
              <a:buNone/>
            </a:pPr>
            <a:r>
              <a:rPr lang="en-US" sz="1400" dirty="0">
                <a:solidFill>
                  <a:srgbClr val="A9B7C6"/>
                </a:solidFill>
                <a:latin typeface="Consolas"/>
                <a:ea typeface="Pretendard"/>
                <a:cs typeface="Consolas"/>
              </a:rPr>
              <a:t>}</a:t>
            </a:r>
            <a:endParaRPr lang="en-US" sz="1400" dirty="0"/>
          </a:p>
        </p:txBody>
      </p:sp>
      <p:sp>
        <p:nvSpPr>
          <p:cNvPr id="7" name="Text 5"/>
          <p:cNvSpPr txBox="1"/>
          <p:nvPr/>
        </p:nvSpPr>
        <p:spPr>
          <a:xfrm>
            <a:off x="6278728" y="1783080"/>
            <a:ext cx="5227168"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a:ea typeface="Pretendard"/>
                <a:cs typeface="Pretendard"/>
              </a:rPr>
              <a:t>AutoAppConfig — 클래스에 표시만</a:t>
            </a:r>
            <a:endParaRPr lang="ko-KR" sz="1200" dirty="0"/>
          </a:p>
        </p:txBody>
      </p:sp>
      <p:sp>
        <p:nvSpPr>
          <p:cNvPr id="8" name="Shape 6"/>
          <p:cNvSpPr/>
          <p:nvPr/>
        </p:nvSpPr>
        <p:spPr>
          <a:xfrm>
            <a:off x="6278728" y="2093976"/>
            <a:ext cx="5227168" cy="2606040"/>
          </a:xfrm>
          <a:prstGeom prst="roundRect">
            <a:avLst>
              <a:gd name="adj" fmla="val 4211"/>
            </a:avLst>
          </a:prstGeom>
          <a:solidFill>
            <a:srgbClr val="23262F"/>
          </a:solidFill>
          <a:ln w="12700">
            <a:solidFill>
              <a:srgbClr val="23262F"/>
            </a:solidFill>
            <a:prstDash val="solid"/>
          </a:ln>
        </p:spPr>
      </p:sp>
      <p:sp>
        <p:nvSpPr>
          <p:cNvPr id="9" name="Text 7"/>
          <p:cNvSpPr txBox="1"/>
          <p:nvPr/>
        </p:nvSpPr>
        <p:spPr>
          <a:xfrm>
            <a:off x="6461608" y="2276856"/>
            <a:ext cx="4861408" cy="2240280"/>
          </a:xfrm>
          <a:prstGeom prst="rect">
            <a:avLst/>
          </a:prstGeom>
          <a:noFill/>
          <a:ln/>
        </p:spPr>
        <p:txBody>
          <a:bodyPr wrap="square" lIns="0" tIns="0" rIns="0" bIns="0" rtlCol="0" anchor="t"/>
          <a:lstStyle/>
          <a:p>
            <a:pPr indent="0" marL="0">
              <a:lnSpc>
                <a:spcPct val="120000"/>
              </a:lnSpc>
              <a:buNone/>
            </a:pPr>
            <a:r>
              <a:rPr lang="en-US" sz="1400" dirty="0">
                <a:solidFill>
                  <a:srgbClr val="BBB529"/>
                </a:solidFill>
                <a:latin typeface="Consolas"/>
                <a:ea typeface="Pretendard"/>
                <a:cs typeface="Consolas"/>
              </a:rPr>
              <a:t>@Configuration</a:t>
            </a:r>
            <a:endParaRPr lang="en-US" sz="1400" dirty="0"/>
          </a:p>
          <a:p>
            <a:pPr indent="0" marL="0">
              <a:lnSpc>
                <a:spcPct val="120000"/>
              </a:lnSpc>
              <a:buNone/>
            </a:pPr>
            <a:r>
              <a:rPr lang="en-US" sz="1400" dirty="0">
                <a:solidFill>
                  <a:srgbClr val="BBB529"/>
                </a:solidFill>
                <a:latin typeface="Consolas"/>
                <a:ea typeface="Pretendard"/>
                <a:cs typeface="Consolas"/>
              </a:rPr>
              <a:t>@ComponentScan</a:t>
            </a:r>
            <a:endParaRPr lang="en-US" sz="1400" dirty="0"/>
          </a:p>
          <a:p>
            <a:pPr indent="0" marL="0">
              <a:lnSpc>
                <a:spcPct val="120000"/>
              </a:lnSpc>
              <a:buNone/>
            </a:pPr>
            <a:r>
              <a:rPr lang="en-US" sz="1400" dirty="0">
                <a:solidFill>
                  <a:srgbClr val="CC7832"/>
                </a:solidFill>
                <a:latin typeface="Consolas"/>
                <a:ea typeface="Pretendard"/>
                <a:cs typeface="Consolas"/>
              </a:rPr>
              <a:t>public</a:t>
            </a:r>
            <a:r>
              <a:rPr lang="en-US" sz="1400" dirty="0">
                <a:solidFill>
                  <a:srgbClr val="A9B7C6"/>
                </a:solidFill>
                <a:latin typeface="Consolas"/>
                <a:ea typeface="Pretendard"/>
                <a:cs typeface="Consolas"/>
              </a:rPr>
              <a:t> </a:t>
            </a:r>
            <a:r>
              <a:rPr lang="en-US" sz="1400" dirty="0">
                <a:solidFill>
                  <a:srgbClr val="CC7832"/>
                </a:solidFill>
                <a:latin typeface="Consolas"/>
                <a:ea typeface="Pretendard"/>
                <a:cs typeface="Consolas"/>
              </a:rPr>
              <a:t>class</a:t>
            </a:r>
            <a:r>
              <a:rPr lang="en-US" sz="1400" dirty="0">
                <a:solidFill>
                  <a:srgbClr val="A9B7C6"/>
                </a:solidFill>
                <a:latin typeface="Consolas"/>
                <a:ea typeface="Pretendard"/>
                <a:cs typeface="Consolas"/>
              </a:rPr>
              <a:t> AutoAppConfig {}</a:t>
            </a:r>
            <a:endParaRPr lang="en-US" sz="1400" dirty="0"/>
          </a:p>
          <a:p>
            <a:pPr indent="0" marL="0">
              <a:lnSpc>
                <a:spcPct val="120000"/>
              </a:lnSpc>
              <a:buNone/>
            </a:pPr>
            <a:endParaRPr lang="en-US" sz="1400" dirty="0"/>
          </a:p>
          <a:p>
            <a:pPr indent="0" marL="0">
              <a:lnSpc>
                <a:spcPct val="120000"/>
              </a:lnSpc>
              <a:buNone/>
            </a:pPr>
            <a:r>
              <a:rPr lang="en-US" sz="1400" dirty="0">
                <a:solidFill>
                  <a:srgbClr val="BBB529"/>
                </a:solidFill>
                <a:latin typeface="Consolas"/>
                <a:ea typeface="Pretendard"/>
                <a:cs typeface="Consolas"/>
              </a:rPr>
              <a:t>@Component</a:t>
            </a:r>
            <a:endParaRPr lang="en-US" sz="1400" dirty="0"/>
          </a:p>
          <a:p>
            <a:pPr indent="0" marL="0">
              <a:lnSpc>
                <a:spcPct val="120000"/>
              </a:lnSpc>
              <a:buNone/>
            </a:pPr>
            <a:r>
              <a:rPr lang="en-US" sz="1400" dirty="0">
                <a:solidFill>
                  <a:srgbClr val="CC7832"/>
                </a:solidFill>
                <a:latin typeface="Consolas"/>
                <a:ea typeface="Pretendard"/>
                <a:cs typeface="Consolas"/>
              </a:rPr>
              <a:t>public</a:t>
            </a:r>
            <a:r>
              <a:rPr lang="en-US" sz="1400" dirty="0">
                <a:solidFill>
                  <a:srgbClr val="A9B7C6"/>
                </a:solidFill>
                <a:latin typeface="Consolas"/>
                <a:ea typeface="Pretendard"/>
                <a:cs typeface="Consolas"/>
              </a:rPr>
              <a:t> </a:t>
            </a:r>
            <a:r>
              <a:rPr lang="en-US" sz="1400" dirty="0">
                <a:solidFill>
                  <a:srgbClr val="CC7832"/>
                </a:solidFill>
                <a:latin typeface="Consolas"/>
                <a:ea typeface="Pretendard"/>
                <a:cs typeface="Consolas"/>
              </a:rPr>
              <a:t>class</a:t>
            </a:r>
            <a:r>
              <a:rPr lang="en-US" sz="1400" dirty="0">
                <a:solidFill>
                  <a:srgbClr val="A9B7C6"/>
                </a:solidFill>
                <a:latin typeface="Consolas"/>
                <a:ea typeface="Pretendard"/>
                <a:cs typeface="Consolas"/>
              </a:rPr>
              <a:t> OrderServiceImpl ... {</a:t>
            </a:r>
            <a:endParaRPr lang="en-US" sz="1400" dirty="0"/>
          </a:p>
          <a:p>
            <a:pPr indent="0" marL="0">
              <a:lnSpc>
                <a:spcPct val="120000"/>
              </a:lnSpc>
              <a:buNone/>
            </a:pPr>
            <a:r>
              <a:rPr lang="en-US" sz="1400" dirty="0">
                <a:solidFill>
                  <a:srgbClr val="A9B7C6"/>
                </a:solidFill>
                <a:latin typeface="Consolas"/>
                <a:ea typeface="Pretendard"/>
                <a:cs typeface="Consolas"/>
              </a:rPr>
              <a:t>    </a:t>
            </a:r>
            <a:r>
              <a:rPr lang="en-US" sz="1400" dirty="0">
                <a:solidFill>
                  <a:srgbClr val="BBB529"/>
                </a:solidFill>
                <a:latin typeface="Consolas"/>
                <a:ea typeface="Pretendard"/>
                <a:cs typeface="Consolas"/>
              </a:rPr>
              <a:t>@Autowired</a:t>
            </a:r>
            <a:endParaRPr lang="en-US" sz="1400" dirty="0"/>
          </a:p>
          <a:p>
            <a:pPr indent="0" marL="0">
              <a:lnSpc>
                <a:spcPct val="120000"/>
              </a:lnSpc>
              <a:buNone/>
            </a:pPr>
            <a:r>
              <a:rPr lang="en-US" sz="1400" dirty="0">
                <a:solidFill>
                  <a:srgbClr val="A9B7C6"/>
                </a:solidFill>
                <a:latin typeface="Consolas"/>
                <a:ea typeface="Pretendard"/>
                <a:cs typeface="Consolas"/>
              </a:rPr>
              <a:t>    </a:t>
            </a:r>
            <a:r>
              <a:rPr lang="en-US" sz="1400" dirty="0">
                <a:solidFill>
                  <a:srgbClr val="CC7832"/>
                </a:solidFill>
                <a:latin typeface="Consolas"/>
                <a:ea typeface="Pretendard"/>
                <a:cs typeface="Consolas"/>
              </a:rPr>
              <a:t>public</a:t>
            </a:r>
            <a:r>
              <a:rPr lang="en-US" sz="1400" dirty="0">
                <a:solidFill>
                  <a:srgbClr val="A9B7C6"/>
                </a:solidFill>
                <a:latin typeface="Consolas"/>
                <a:ea typeface="Pretendard"/>
                <a:cs typeface="Consolas"/>
              </a:rPr>
              <a:t> </a:t>
            </a:r>
            <a:r>
              <a:rPr lang="en-US" sz="1400" dirty="0">
                <a:solidFill>
                  <a:srgbClr val="FFC66D"/>
                </a:solidFill>
                <a:latin typeface="Consolas"/>
                <a:ea typeface="Pretendard"/>
                <a:cs typeface="Consolas"/>
              </a:rPr>
              <a:t>OrderServiceImpl</a:t>
            </a:r>
            <a:r>
              <a:rPr lang="en-US" sz="1400" dirty="0">
                <a:solidFill>
                  <a:srgbClr val="A9B7C6"/>
                </a:solidFill>
                <a:latin typeface="Consolas"/>
                <a:ea typeface="Pretendard"/>
                <a:cs typeface="Consolas"/>
              </a:rPr>
              <a:t>(...) {...}</a:t>
            </a:r>
            <a:endParaRPr lang="en-US" sz="1400" dirty="0"/>
          </a:p>
          <a:p>
            <a:pPr indent="0" marL="0">
              <a:lnSpc>
                <a:spcPct val="120000"/>
              </a:lnSpc>
              <a:buNone/>
            </a:pPr>
            <a:r>
              <a:rPr lang="en-US" sz="1400" dirty="0">
                <a:solidFill>
                  <a:srgbClr val="A9B7C6"/>
                </a:solidFill>
                <a:latin typeface="Consolas"/>
                <a:ea typeface="Pretendard"/>
                <a:cs typeface="Consolas"/>
              </a:rPr>
              <a:t>}</a:t>
            </a:r>
            <a:endParaRPr lang="en-US" sz="1400" dirty="0"/>
          </a:p>
        </p:txBody>
      </p:sp>
      <p:sp>
        <p:nvSpPr>
          <p:cNvPr id="10" name="Text 8"/>
          <p:cNvSpPr txBox="1"/>
          <p:nvPr/>
        </p:nvSpPr>
        <p:spPr>
          <a:xfrm>
            <a:off x="685800" y="5223256"/>
            <a:ext cx="5227168" cy="329184"/>
          </a:xfrm>
          <a:prstGeom prst="rect">
            <a:avLst/>
          </a:prstGeom>
          <a:noFill/>
          <a:ln/>
        </p:spPr>
        <p:txBody>
          <a:bodyPr wrap="square" lIns="0" tIns="0" rIns="0" bIns="0" rtlCol="0" anchor="t"/>
          <a:lstStyle/>
          <a:p>
            <a:pPr indent="0" marL="0">
              <a:lnSpc>
                <a:spcPct val="110000"/>
              </a:lnSpc>
              <a:buNone/>
            </a:pPr>
            <a:r>
              <a:rPr lang="ko-KR" altLang="en-US" sz="1700" b="1" dirty="0">
                <a:solidFill>
                  <a:srgbClr val="23262F"/>
                </a:solidFill>
                <a:latin typeface="Pretendard"/>
                <a:ea typeface="Pretendard"/>
                <a:cs typeface="Pretendard"/>
              </a:rPr>
              <a:t>수동</a:t>
            </a:r>
            <a:endParaRPr lang="ko-KR" sz="1700" dirty="0"/>
          </a:p>
        </p:txBody>
      </p:sp>
      <p:sp>
        <p:nvSpPr>
          <p:cNvPr id="11" name="Text 9"/>
          <p:cNvSpPr txBox="1"/>
          <p:nvPr/>
        </p:nvSpPr>
        <p:spPr>
          <a:xfrm>
            <a:off x="685800" y="5589016"/>
            <a:ext cx="5227168" cy="48006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Pretendard"/>
                <a:ea typeface="Pretendard"/>
                <a:cs typeface="Pretendard"/>
              </a:rPr>
              <a:t>생성과 </a:t>
            </a:r>
            <a:r>
              <a:rPr lang="ko-KR" altLang="en-US" sz="1400" b="1" dirty="0">
                <a:solidFill>
                  <a:srgbClr val="0057FF"/>
                </a:solidFill>
                <a:latin typeface="Pretendard"/>
                <a:ea typeface="Pretendard"/>
                <a:cs typeface="Pretendard"/>
              </a:rPr>
              <a:t>연결</a:t>
            </a:r>
            <a:r>
              <a:rPr lang="ko-KR" altLang="en-US" sz="1400" dirty="0">
                <a:solidFill>
                  <a:srgbClr val="6B7280"/>
                </a:solidFill>
                <a:latin typeface="Pretendard"/>
                <a:ea typeface="Pretendard"/>
                <a:cs typeface="Pretendard"/>
              </a:rPr>
              <a:t>까지 설정 파일 </a:t>
            </a:r>
            <a:r>
              <a:rPr lang="ko-KR" altLang="en-US" sz="1400" b="1" dirty="0">
                <a:solidFill>
                  <a:srgbClr val="0057FF"/>
                </a:solidFill>
                <a:latin typeface="Pretendard"/>
                <a:ea typeface="Pretendard"/>
                <a:cs typeface="Pretendard"/>
              </a:rPr>
              <a:t>한 곳</a:t>
            </a:r>
            <a:r>
              <a:rPr lang="ko-KR" altLang="en-US" sz="1400" dirty="0">
                <a:solidFill>
                  <a:srgbClr val="6B7280"/>
                </a:solidFill>
                <a:latin typeface="Pretendard"/>
                <a:ea typeface="Pretendard"/>
                <a:cs typeface="Pretendard"/>
              </a:rPr>
              <a:t>에 — 커지고, 빠뜨리기 쉽다</a:t>
            </a:r>
            <a:endParaRPr lang="ko-KR" sz="1400" dirty="0"/>
          </a:p>
        </p:txBody>
      </p:sp>
      <p:sp>
        <p:nvSpPr>
          <p:cNvPr id="12" name="Text 10"/>
          <p:cNvSpPr txBox="1"/>
          <p:nvPr/>
        </p:nvSpPr>
        <p:spPr>
          <a:xfrm>
            <a:off x="6278728" y="5223256"/>
            <a:ext cx="5227168" cy="329184"/>
          </a:xfrm>
          <a:prstGeom prst="rect">
            <a:avLst/>
          </a:prstGeom>
          <a:noFill/>
          <a:ln/>
        </p:spPr>
        <p:txBody>
          <a:bodyPr wrap="square" lIns="0" tIns="0" rIns="0" bIns="0" rtlCol="0" anchor="t"/>
          <a:lstStyle/>
          <a:p>
            <a:pPr indent="0" marL="0">
              <a:lnSpc>
                <a:spcPct val="110000"/>
              </a:lnSpc>
              <a:buNone/>
            </a:pPr>
            <a:r>
              <a:rPr lang="ko-KR" altLang="en-US" sz="1700" b="1" dirty="0">
                <a:solidFill>
                  <a:srgbClr val="23262F"/>
                </a:solidFill>
                <a:latin typeface="Pretendard"/>
                <a:ea typeface="Pretendard"/>
                <a:cs typeface="Pretendard"/>
              </a:rPr>
              <a:t>자동</a:t>
            </a:r>
            <a:endParaRPr lang="ko-KR" sz="1700" dirty="0"/>
          </a:p>
        </p:txBody>
      </p:sp>
      <p:sp>
        <p:nvSpPr>
          <p:cNvPr id="13" name="Text 11"/>
          <p:cNvSpPr txBox="1"/>
          <p:nvPr/>
        </p:nvSpPr>
        <p:spPr>
          <a:xfrm>
            <a:off x="6278728" y="5589016"/>
            <a:ext cx="5227168" cy="480060"/>
          </a:xfrm>
          <a:prstGeom prst="rect">
            <a:avLst/>
          </a:prstGeom>
          <a:noFill/>
          <a:ln/>
        </p:spPr>
        <p:txBody>
          <a:bodyPr wrap="square" lIns="0" tIns="0" rIns="0" bIns="0" rtlCol="0" anchor="t"/>
          <a:lstStyle/>
          <a:p>
            <a:pPr indent="0" marL="0">
              <a:lnSpc>
                <a:spcPct val="110000"/>
              </a:lnSpc>
              <a:buNone/>
            </a:pPr>
            <a:r>
              <a:rPr lang="ko-KR" altLang="en-US" sz="1400" dirty="0">
                <a:solidFill>
                  <a:srgbClr val="6B7280"/>
                </a:solidFill>
                <a:latin typeface="Pretendard"/>
                <a:ea typeface="Pretendard"/>
                <a:cs typeface="Pretendard"/>
              </a:rPr>
              <a:t>클래스에 </a:t>
            </a:r>
            <a:r>
              <a:rPr lang="ko-KR" altLang="en-US" sz="1400" b="1" dirty="0">
                <a:solidFill>
                  <a:srgbClr val="0057FF"/>
                </a:solidFill>
                <a:latin typeface="Pretendard"/>
                <a:ea typeface="Pretendard"/>
                <a:cs typeface="Pretendard"/>
              </a:rPr>
              <a:t>표시만</a:t>
            </a:r>
            <a:r>
              <a:rPr lang="ko-KR" altLang="en-US" sz="1400" dirty="0">
                <a:solidFill>
                  <a:srgbClr val="6B7280"/>
                </a:solidFill>
                <a:latin typeface="Pretendard"/>
                <a:ea typeface="Pretendard"/>
                <a:cs typeface="Pretendard"/>
              </a:rPr>
              <a:t>, 연결은 </a:t>
            </a:r>
            <a:r>
              <a:rPr lang="ko-KR" altLang="en-US" sz="1400" dirty="0">
                <a:solidFill>
                  <a:srgbClr val="6B7280"/>
                </a:solidFill>
                <a:latin typeface="Consolas"/>
                <a:ea typeface="Pretendard"/>
                <a:cs typeface="Consolas"/>
              </a:rPr>
              <a:t>@Autowired</a:t>
            </a:r>
            <a:r>
              <a:rPr lang="ko-KR" altLang="en-US" sz="1400" dirty="0">
                <a:solidFill>
                  <a:srgbClr val="6B7280"/>
                </a:solidFill>
                <a:latin typeface="Pretendard"/>
                <a:ea typeface="Pretendard"/>
                <a:cs typeface="Pretendard"/>
              </a:rPr>
              <a:t> 로 스프링이 — 대신 전체 구성이 </a:t>
            </a:r>
            <a:r>
              <a:rPr lang="ko-KR" altLang="en-US" sz="1400" b="1" dirty="0">
                <a:solidFill>
                  <a:srgbClr val="0057FF"/>
                </a:solidFill>
                <a:latin typeface="Pretendard"/>
                <a:ea typeface="Pretendard"/>
                <a:cs typeface="Pretendard"/>
              </a:rPr>
              <a:t>한눈에</a:t>
            </a:r>
            <a:r>
              <a:rPr lang="ko-KR" altLang="en-US" sz="1400" dirty="0">
                <a:solidFill>
                  <a:srgbClr val="6B7280"/>
                </a:solidFill>
                <a:latin typeface="Pretendard"/>
                <a:ea typeface="Pretendard"/>
                <a:cs typeface="Pretendard"/>
              </a:rPr>
              <a:t> 안 보인다</a:t>
            </a:r>
            <a:endParaRPr lang="ko-KR" sz="14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a:ea typeface="Pretendard"/>
                <a:cs typeface="Pretendard"/>
              </a:rPr>
              <a:t>07  컴포넌트 스캔</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a:ea typeface="Pretendard"/>
                <a:cs typeface="Pretendard"/>
              </a:rPr>
              <a:t>① 스캔해서 등록</a:t>
            </a:r>
            <a:endParaRPr lang="en-US" sz="3200" dirty="0"/>
          </a:p>
        </p:txBody>
      </p:sp>
      <p:sp>
        <p:nvSpPr>
          <p:cNvPr id="4" name="Shape 2"/>
          <p:cNvSpPr/>
          <p:nvPr/>
        </p:nvSpPr>
        <p:spPr>
          <a:xfrm>
            <a:off x="685800" y="1783080"/>
            <a:ext cx="6766560" cy="4023360"/>
          </a:xfrm>
          <a:prstGeom prst="roundRect">
            <a:avLst>
              <a:gd name="adj" fmla="val 2727"/>
            </a:avLst>
          </a:prstGeom>
          <a:solidFill>
            <a:srgbClr val="F8F7F4"/>
          </a:solidFill>
          <a:ln w="12700">
            <a:solidFill>
              <a:srgbClr val="F8F7F4"/>
            </a:solidFill>
            <a:prstDash val="solid"/>
          </a:ln>
        </p:spPr>
      </p:sp>
      <p:pic>
        <p:nvPicPr>
          <p:cNvPr id="5" name="Image 0" descr="@Component 클래스 네 개가 스프링 빈 저장소에 클래스명 첫 글자 소문자 이름으로 등록되는 그림">    </p:cNvPr>
          <p:cNvPicPr>
            <a:picLocks noChangeAspect="1"/>
          </p:cNvPicPr>
          <p:nvPr/>
        </p:nvPicPr>
        <p:blipFill>
          <a:blip r:embed="rId1"/>
          <a:stretch>
            <a:fillRect/>
          </a:stretch>
        </p:blipFill>
        <p:spPr>
          <a:xfrm>
            <a:off x="868680" y="2352170"/>
            <a:ext cx="6400800" cy="2885181"/>
          </a:xfrm>
          <a:prstGeom prst="rect">
            <a:avLst/>
          </a:prstGeom>
        </p:spPr>
      </p:pic>
      <p:sp>
        <p:nvSpPr>
          <p:cNvPr id="6" name="Text 3"/>
          <p:cNvSpPr txBox="1"/>
          <p:nvPr/>
        </p:nvSpPr>
        <p:spPr>
          <a:xfrm>
            <a:off x="685800" y="5879592"/>
            <a:ext cx="6766560" cy="274320"/>
          </a:xfrm>
          <a:prstGeom prst="rect">
            <a:avLst/>
          </a:prstGeom>
          <a:noFill/>
          <a:ln/>
        </p:spPr>
        <p:txBody>
          <a:bodyPr wrap="square" lIns="0" tIns="0" rIns="0" bIns="0" rtlCol="0" anchor="t"/>
          <a:lstStyle/>
          <a:p>
            <a:pPr indent="0" marL="0">
              <a:lnSpc>
                <a:spcPct val="110000"/>
              </a:lnSpc>
              <a:buNone/>
            </a:pPr>
            <a:r>
              <a:rPr lang="ko-KR" altLang="en-US" sz="1200" dirty="0">
                <a:solidFill>
                  <a:srgbClr val="6B7280"/>
                </a:solidFill>
                <a:latin typeface="Pretendard"/>
                <a:ea typeface="Pretendard"/>
                <a:cs typeface="Pretendard"/>
              </a:rPr>
              <a:t>출처: 강의자료 6장 — @ComponentScan</a:t>
            </a:r>
            <a:endParaRPr lang="ko-KR" sz="1200" dirty="0"/>
          </a:p>
        </p:txBody>
      </p:sp>
      <p:sp>
        <p:nvSpPr>
          <p:cNvPr id="7" name="Text 4"/>
          <p:cNvSpPr txBox="1"/>
          <p:nvPr/>
        </p:nvSpPr>
        <p:spPr>
          <a:xfrm>
            <a:off x="7863840" y="1828800"/>
            <a:ext cx="3642055" cy="7188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Consolas"/>
                <a:ea typeface="Pretendard"/>
                <a:cs typeface="Consolas"/>
              </a:rPr>
              <a:t>@Component</a:t>
            </a:r>
            <a:r>
              <a:rPr lang="ko-KR" altLang="en-US" sz="1800" dirty="0">
                <a:solidFill>
                  <a:srgbClr val="23262F"/>
                </a:solidFill>
                <a:latin typeface="Pretendard"/>
                <a:ea typeface="Pretendard"/>
                <a:cs typeface="Pretendard"/>
              </a:rPr>
              <a:t> 붙은 클래스를 찾아 </a:t>
            </a:r>
            <a:r>
              <a:rPr lang="ko-KR" altLang="en-US" sz="1800" b="1" dirty="0">
                <a:solidFill>
                  <a:srgbClr val="0057FF"/>
                </a:solidFill>
                <a:latin typeface="Pretendard"/>
                <a:ea typeface="Pretendard"/>
                <a:cs typeface="Pretendard"/>
              </a:rPr>
              <a:t>스프링 빈으로 등록</a:t>
            </a:r>
            <a:endParaRPr lang="ko-KR" sz="1800" dirty="0"/>
          </a:p>
        </p:txBody>
      </p:sp>
      <p:sp>
        <p:nvSpPr>
          <p:cNvPr id="8" name="Text 5"/>
          <p:cNvSpPr txBox="1"/>
          <p:nvPr/>
        </p:nvSpPr>
        <p:spPr>
          <a:xfrm>
            <a:off x="7863840" y="2701290"/>
            <a:ext cx="3642055" cy="7188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Pretendard"/>
                <a:ea typeface="Pretendard"/>
                <a:cs typeface="Pretendard"/>
              </a:rPr>
              <a:t>빈 이름 = 클래스명, </a:t>
            </a:r>
            <a:r>
              <a:rPr lang="ko-KR" altLang="en-US" sz="1800" b="1" dirty="0">
                <a:solidFill>
                  <a:srgbClr val="0057FF"/>
                </a:solidFill>
                <a:latin typeface="Pretendard"/>
                <a:ea typeface="Pretendard"/>
                <a:cs typeface="Pretendard"/>
              </a:rPr>
              <a:t>첫 글자만 소문자</a:t>
            </a:r>
            <a:endParaRPr lang="ko-KR" sz="1800" dirty="0"/>
          </a:p>
        </p:txBody>
      </p:sp>
      <p:sp>
        <p:nvSpPr>
          <p:cNvPr id="9" name="Text 6"/>
          <p:cNvSpPr txBox="1"/>
          <p:nvPr/>
        </p:nvSpPr>
        <p:spPr>
          <a:xfrm>
            <a:off x="7863840" y="3573780"/>
            <a:ext cx="3642055" cy="102743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Pretendard"/>
                <a:ea typeface="Pretendard"/>
                <a:cs typeface="Pretendard"/>
              </a:rPr>
              <a:t>직접 지정: </a:t>
            </a:r>
            <a:r>
              <a:rPr lang="ko-KR" altLang="en-US" sz="1800" dirty="0">
                <a:solidFill>
                  <a:srgbClr val="23262F"/>
                </a:solidFill>
                <a:latin typeface="Consolas"/>
                <a:ea typeface="Pretendard"/>
                <a:cs typeface="Consolas"/>
              </a:rPr>
              <a:t>@Component("memberService2")</a:t>
            </a:r>
            <a:endParaRPr lang="ko-KR" sz="1800" dirty="0"/>
          </a:p>
        </p:txBody>
      </p:sp>
      <p:sp>
        <p:nvSpPr>
          <p:cNvPr id="10" name="Text 7"/>
          <p:cNvSpPr txBox="1"/>
          <p:nvPr/>
        </p:nvSpPr>
        <p:spPr>
          <a:xfrm>
            <a:off x="7863840" y="4937760"/>
            <a:ext cx="3642055" cy="685800"/>
          </a:xfrm>
          <a:prstGeom prst="rect">
            <a:avLst/>
          </a:prstGeom>
          <a:noFill/>
          <a:ln/>
        </p:spPr>
        <p:txBody>
          <a:bodyPr wrap="square" lIns="0" tIns="0" rIns="0" bIns="0" rtlCol="0" anchor="t"/>
          <a:lstStyle/>
          <a:p>
            <a:pPr indent="0" marL="0">
              <a:lnSpc>
                <a:spcPct val="110000"/>
              </a:lnSpc>
              <a:buNone/>
            </a:pPr>
            <a:r>
              <a:rPr lang="ko-KR" altLang="en-US" sz="2000" b="1" dirty="0">
                <a:solidFill>
                  <a:srgbClr val="23262F"/>
                </a:solidFill>
                <a:latin typeface="Consolas"/>
                <a:ea typeface="Pretendard"/>
                <a:cs typeface="Consolas"/>
              </a:rPr>
              <a:t>@Bean</a:t>
            </a:r>
            <a:r>
              <a:rPr lang="ko-KR" altLang="en-US" sz="2000" b="1" dirty="0">
                <a:solidFill>
                  <a:srgbClr val="23262F"/>
                </a:solidFill>
                <a:latin typeface="Pretendard"/>
                <a:ea typeface="Pretendard"/>
                <a:cs typeface="Pretendard"/>
              </a:rPr>
              <a:t> 은 메서드 이름, 스캔은 </a:t>
            </a:r>
            <a:r>
              <a:rPr lang="ko-KR" altLang="en-US" sz="2000" b="1" dirty="0">
                <a:solidFill>
                  <a:srgbClr val="0057FF"/>
                </a:solidFill>
                <a:latin typeface="Pretendard"/>
                <a:ea typeface="Pretendard"/>
                <a:cs typeface="Pretendard"/>
              </a:rPr>
              <a:t>클래스 이름</a:t>
            </a:r>
            <a:endParaRPr lang="ko-KR" sz="20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a:ea typeface="Pretendard"/>
                <a:cs typeface="Pretendard"/>
              </a:rPr>
              <a:t>07  컴포넌트 스캔</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a:ea typeface="Pretendard"/>
                <a:cs typeface="Pretendard"/>
              </a:rPr>
              <a:t>② @Autowired 로 자동 주입</a:t>
            </a:r>
            <a:endParaRPr lang="en-US" sz="3200" dirty="0"/>
          </a:p>
        </p:txBody>
      </p:sp>
      <p:sp>
        <p:nvSpPr>
          <p:cNvPr id="4" name="Shape 2"/>
          <p:cNvSpPr/>
          <p:nvPr/>
        </p:nvSpPr>
        <p:spPr>
          <a:xfrm>
            <a:off x="685800" y="1783080"/>
            <a:ext cx="6766560" cy="4023360"/>
          </a:xfrm>
          <a:prstGeom prst="roundRect">
            <a:avLst>
              <a:gd name="adj" fmla="val 2727"/>
            </a:avLst>
          </a:prstGeom>
          <a:solidFill>
            <a:srgbClr val="F8F7F4"/>
          </a:solidFill>
          <a:ln w="12700">
            <a:solidFill>
              <a:srgbClr val="F8F7F4"/>
            </a:solidFill>
            <a:prstDash val="solid"/>
          </a:ln>
        </p:spPr>
      </p:sp>
      <p:pic>
        <p:nvPicPr>
          <p:cNvPr id="5" name="Image 0" descr="OrderServiceImpl 생성자의 @Autowired 로 빈 저장소의 memoryMemberRepository 와 rateDiscountPolicy 가 주입되는 그림">    </p:cNvPr>
          <p:cNvPicPr>
            <a:picLocks noChangeAspect="1"/>
          </p:cNvPicPr>
          <p:nvPr/>
        </p:nvPicPr>
        <p:blipFill>
          <a:blip r:embed="rId1"/>
          <a:stretch>
            <a:fillRect/>
          </a:stretch>
        </p:blipFill>
        <p:spPr>
          <a:xfrm>
            <a:off x="868680" y="2391202"/>
            <a:ext cx="6400800" cy="2807115"/>
          </a:xfrm>
          <a:prstGeom prst="rect">
            <a:avLst/>
          </a:prstGeom>
        </p:spPr>
      </p:pic>
      <p:sp>
        <p:nvSpPr>
          <p:cNvPr id="6" name="Text 3"/>
          <p:cNvSpPr txBox="1"/>
          <p:nvPr/>
        </p:nvSpPr>
        <p:spPr>
          <a:xfrm>
            <a:off x="685800" y="5879592"/>
            <a:ext cx="6766560" cy="274320"/>
          </a:xfrm>
          <a:prstGeom prst="rect">
            <a:avLst/>
          </a:prstGeom>
          <a:noFill/>
          <a:ln/>
        </p:spPr>
        <p:txBody>
          <a:bodyPr wrap="square" lIns="0" tIns="0" rIns="0" bIns="0" rtlCol="0" anchor="t"/>
          <a:lstStyle/>
          <a:p>
            <a:pPr indent="0" marL="0">
              <a:lnSpc>
                <a:spcPct val="110000"/>
              </a:lnSpc>
              <a:buNone/>
            </a:pPr>
            <a:r>
              <a:rPr lang="ko-KR" altLang="en-US" sz="1200" dirty="0">
                <a:solidFill>
                  <a:srgbClr val="6B7280"/>
                </a:solidFill>
                <a:latin typeface="Pretendard"/>
                <a:ea typeface="Pretendard"/>
                <a:cs typeface="Pretendard"/>
              </a:rPr>
              <a:t>출처: 강의자료 6장 — @Autowired 의존관계 자동 주입</a:t>
            </a:r>
            <a:endParaRPr lang="ko-KR" sz="1200" dirty="0"/>
          </a:p>
        </p:txBody>
      </p:sp>
      <p:sp>
        <p:nvSpPr>
          <p:cNvPr id="7" name="Text 4"/>
          <p:cNvSpPr txBox="1"/>
          <p:nvPr/>
        </p:nvSpPr>
        <p:spPr>
          <a:xfrm>
            <a:off x="7863840" y="2145030"/>
            <a:ext cx="3642055" cy="617220"/>
          </a:xfrm>
          <a:prstGeom prst="rect">
            <a:avLst/>
          </a:prstGeom>
          <a:noFill/>
          <a:ln/>
        </p:spPr>
        <p:txBody>
          <a:bodyPr wrap="square" lIns="0" tIns="0" rIns="0" bIns="0" rtlCol="0" anchor="ctr"/>
          <a:lstStyle/>
          <a:p>
            <a:pPr marL="203200" indent="-203200">
              <a:lnSpc>
                <a:spcPct val="110000"/>
              </a:lnSpc>
              <a:buSzPct val="100000"/>
              <a:buChar char="•"/>
            </a:pPr>
            <a:r>
              <a:rPr lang="ko-KR" altLang="en-US" sz="1800" dirty="0">
                <a:solidFill>
                  <a:srgbClr val="23262F"/>
                </a:solidFill>
                <a:latin typeface="Pretendard"/>
                <a:ea typeface="Pretendard"/>
                <a:cs typeface="Pretendard"/>
              </a:rPr>
              <a:t>생성자에 </a:t>
            </a:r>
            <a:r>
              <a:rPr lang="ko-KR" altLang="en-US" sz="1800" dirty="0">
                <a:solidFill>
                  <a:srgbClr val="23262F"/>
                </a:solidFill>
                <a:latin typeface="Consolas"/>
                <a:ea typeface="Pretendard"/>
                <a:cs typeface="Consolas"/>
              </a:rPr>
              <a:t>@Autowired</a:t>
            </a:r>
            <a:r>
              <a:rPr lang="ko-KR" altLang="en-US" sz="1800" dirty="0">
                <a:solidFill>
                  <a:srgbClr val="23262F"/>
                </a:solidFill>
                <a:latin typeface="Pretendard"/>
                <a:ea typeface="Pretendard"/>
                <a:cs typeface="Pretendard"/>
              </a:rPr>
              <a:t> → 스프링이 빈을 찾아 </a:t>
            </a:r>
            <a:r>
              <a:rPr lang="ko-KR" altLang="en-US" sz="1800" b="1" dirty="0">
                <a:solidFill>
                  <a:srgbClr val="0057FF"/>
                </a:solidFill>
                <a:latin typeface="Pretendard"/>
                <a:ea typeface="Pretendard"/>
                <a:cs typeface="Pretendard"/>
              </a:rPr>
              <a:t>주입</a:t>
            </a:r>
            <a:endParaRPr lang="ko-KR" sz="1800" dirty="0"/>
          </a:p>
        </p:txBody>
      </p:sp>
      <p:sp>
        <p:nvSpPr>
          <p:cNvPr id="8" name="Text 5"/>
          <p:cNvSpPr txBox="1"/>
          <p:nvPr/>
        </p:nvSpPr>
        <p:spPr>
          <a:xfrm>
            <a:off x="7863840" y="3486150"/>
            <a:ext cx="3642055" cy="617220"/>
          </a:xfrm>
          <a:prstGeom prst="rect">
            <a:avLst/>
          </a:prstGeom>
          <a:noFill/>
          <a:ln/>
        </p:spPr>
        <p:txBody>
          <a:bodyPr wrap="square" lIns="0" tIns="0" rIns="0" bIns="0" rtlCol="0" anchor="ctr"/>
          <a:lstStyle/>
          <a:p>
            <a:pPr marL="203200" indent="-203200">
              <a:lnSpc>
                <a:spcPct val="110000"/>
              </a:lnSpc>
              <a:buSzPct val="100000"/>
              <a:buChar char="•"/>
            </a:pPr>
            <a:r>
              <a:rPr lang="ko-KR" altLang="en-US" sz="1800" dirty="0">
                <a:solidFill>
                  <a:srgbClr val="23262F"/>
                </a:solidFill>
                <a:latin typeface="Pretendard"/>
                <a:ea typeface="Pretendard"/>
                <a:cs typeface="Pretendard"/>
              </a:rPr>
              <a:t>기본 조회 전략은 </a:t>
            </a:r>
            <a:r>
              <a:rPr lang="ko-KR" altLang="en-US" sz="1800" b="1" dirty="0">
                <a:solidFill>
                  <a:srgbClr val="0057FF"/>
                </a:solidFill>
                <a:latin typeface="Pretendard"/>
                <a:ea typeface="Pretendard"/>
                <a:cs typeface="Pretendard"/>
              </a:rPr>
              <a:t>타입</a:t>
            </a:r>
            <a:r>
              <a:rPr lang="ko-KR" altLang="en-US" sz="1800" dirty="0">
                <a:solidFill>
                  <a:srgbClr val="23262F"/>
                </a:solidFill>
                <a:latin typeface="Pretendard"/>
                <a:ea typeface="Pretendard"/>
                <a:cs typeface="Pretendard"/>
              </a:rPr>
              <a:t> — </a:t>
            </a:r>
            <a:r>
              <a:rPr lang="ko-KR" altLang="en-US" sz="1800" dirty="0">
                <a:solidFill>
                  <a:srgbClr val="23262F"/>
                </a:solidFill>
                <a:latin typeface="Consolas"/>
                <a:ea typeface="Pretendard"/>
                <a:cs typeface="Consolas"/>
              </a:rPr>
              <a:t>getBean(타입)</a:t>
            </a:r>
            <a:r>
              <a:rPr lang="ko-KR" altLang="en-US" sz="1800" dirty="0">
                <a:solidFill>
                  <a:srgbClr val="23262F"/>
                </a:solidFill>
                <a:latin typeface="Pretendard"/>
                <a:ea typeface="Pretendard"/>
                <a:cs typeface="Pretendard"/>
              </a:rPr>
              <a:t> 과 같다</a:t>
            </a:r>
            <a:endParaRPr lang="ko-KR" sz="1800" dirty="0"/>
          </a:p>
        </p:txBody>
      </p:sp>
      <p:sp>
        <p:nvSpPr>
          <p:cNvPr id="9" name="Text 6"/>
          <p:cNvSpPr txBox="1"/>
          <p:nvPr/>
        </p:nvSpPr>
        <p:spPr>
          <a:xfrm>
            <a:off x="7863840" y="4827270"/>
            <a:ext cx="3642055" cy="617220"/>
          </a:xfrm>
          <a:prstGeom prst="rect">
            <a:avLst/>
          </a:prstGeom>
          <a:noFill/>
          <a:ln/>
        </p:spPr>
        <p:txBody>
          <a:bodyPr wrap="square" lIns="0" tIns="0" rIns="0" bIns="0" rtlCol="0" anchor="ctr"/>
          <a:lstStyle/>
          <a:p>
            <a:pPr marL="203200" indent="-203200">
              <a:lnSpc>
                <a:spcPct val="110000"/>
              </a:lnSpc>
              <a:buSzPct val="100000"/>
              <a:buChar char="•"/>
            </a:pPr>
            <a:r>
              <a:rPr lang="ko-KR" altLang="en-US" sz="1800" dirty="0">
                <a:solidFill>
                  <a:srgbClr val="23262F"/>
                </a:solidFill>
                <a:latin typeface="Pretendard"/>
                <a:ea typeface="Pretendard"/>
                <a:cs typeface="Pretendard"/>
              </a:rPr>
              <a:t>파라미터가 여러 개여도 모두 찾아 넣는다</a:t>
            </a:r>
            <a:endParaRPr lang="ko-KR" sz="18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85800" y="457200"/>
            <a:ext cx="10820095" cy="292608"/>
          </a:xfrm>
          <a:prstGeom prst="rect">
            <a:avLst/>
          </a:prstGeom>
          <a:noFill/>
          <a:ln/>
        </p:spPr>
        <p:txBody>
          <a:bodyPr wrap="square" lIns="0" tIns="0" rIns="0" bIns="0" rtlCol="0" anchor="ctr"/>
          <a:lstStyle/>
          <a:p>
            <a:pPr indent="0" marL="0">
              <a:buNone/>
            </a:pPr>
            <a:r>
              <a:rPr lang="ko-KR" altLang="en-US" sz="1400" b="1" dirty="0">
                <a:solidFill>
                  <a:srgbClr val="6B7280"/>
                </a:solidFill>
                <a:latin typeface="Pretendard"/>
                <a:ea typeface="Pretendard"/>
                <a:cs typeface="Pretendard"/>
              </a:rPr>
              <a:t>07  컴포넌트 스캔</a:t>
            </a:r>
            <a:endParaRPr lang="ko-KR" sz="1400" dirty="0"/>
          </a:p>
        </p:txBody>
      </p:sp>
      <p:sp>
        <p:nvSpPr>
          <p:cNvPr id="3"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a:ea typeface="Pretendard"/>
                <a:cs typeface="Pretendard"/>
              </a:rPr>
              <a:t>빈 이름 충돌</a:t>
            </a:r>
            <a:endParaRPr lang="en-US" sz="3200" dirty="0"/>
          </a:p>
        </p:txBody>
      </p:sp>
      <p:sp>
        <p:nvSpPr>
          <p:cNvPr id="4" name="Text 2"/>
          <p:cNvSpPr txBox="1"/>
          <p:nvPr/>
        </p:nvSpPr>
        <p:spPr>
          <a:xfrm>
            <a:off x="685800" y="1783080"/>
            <a:ext cx="6309360" cy="274320"/>
          </a:xfrm>
          <a:prstGeom prst="rect">
            <a:avLst/>
          </a:prstGeom>
          <a:noFill/>
          <a:ln/>
        </p:spPr>
        <p:txBody>
          <a:bodyPr wrap="square" lIns="0" tIns="0" rIns="0" bIns="0" rtlCol="0" anchor="t"/>
          <a:lstStyle/>
          <a:p>
            <a:pPr indent="0" marL="0">
              <a:lnSpc>
                <a:spcPct val="110000"/>
              </a:lnSpc>
              <a:buNone/>
            </a:pPr>
            <a:r>
              <a:rPr lang="ko-KR" altLang="en-US" sz="1200" b="1" dirty="0">
                <a:solidFill>
                  <a:srgbClr val="6B7280"/>
                </a:solidFill>
                <a:latin typeface="Pretendard"/>
                <a:ea typeface="Pretendard"/>
                <a:cs typeface="Pretendard"/>
              </a:rPr>
              <a:t>수동 빈과 자동 빈이 같은 이름</a:t>
            </a:r>
            <a:endParaRPr lang="ko-KR" sz="1200" dirty="0"/>
          </a:p>
        </p:txBody>
      </p:sp>
      <p:sp>
        <p:nvSpPr>
          <p:cNvPr id="5" name="Shape 3"/>
          <p:cNvSpPr/>
          <p:nvPr/>
        </p:nvSpPr>
        <p:spPr>
          <a:xfrm>
            <a:off x="685800" y="2093976"/>
            <a:ext cx="6309360" cy="3210560"/>
          </a:xfrm>
          <a:prstGeom prst="roundRect">
            <a:avLst>
              <a:gd name="adj" fmla="val 3418"/>
            </a:avLst>
          </a:prstGeom>
          <a:solidFill>
            <a:srgbClr val="23262F"/>
          </a:solidFill>
          <a:ln w="12700">
            <a:solidFill>
              <a:srgbClr val="23262F"/>
            </a:solidFill>
            <a:prstDash val="solid"/>
          </a:ln>
        </p:spPr>
      </p:sp>
      <p:sp>
        <p:nvSpPr>
          <p:cNvPr id="6" name="Text 4"/>
          <p:cNvSpPr txBox="1"/>
          <p:nvPr/>
        </p:nvSpPr>
        <p:spPr>
          <a:xfrm>
            <a:off x="868680" y="2276856"/>
            <a:ext cx="5943600" cy="2844800"/>
          </a:xfrm>
          <a:prstGeom prst="rect">
            <a:avLst/>
          </a:prstGeom>
          <a:noFill/>
          <a:ln/>
        </p:spPr>
        <p:txBody>
          <a:bodyPr wrap="square" lIns="0" tIns="0" rIns="0" bIns="0" rtlCol="0" anchor="t"/>
          <a:lstStyle/>
          <a:p>
            <a:pPr indent="0" marL="0">
              <a:lnSpc>
                <a:spcPct val="120000"/>
              </a:lnSpc>
              <a:buNone/>
            </a:pPr>
            <a:r>
              <a:rPr lang="en-US" sz="1600" dirty="0">
                <a:solidFill>
                  <a:srgbClr val="808080"/>
                </a:solidFill>
                <a:latin typeface="Consolas"/>
                <a:ea typeface="Pretendard"/>
                <a:cs typeface="Consolas"/>
              </a:rPr>
              <a:t>// 자동 등록 — 빈 이름 memoryMemberRepository</a:t>
            </a:r>
            <a:endParaRPr lang="en-US" sz="1600" dirty="0"/>
          </a:p>
          <a:p>
            <a:pPr indent="0" marL="0">
              <a:lnSpc>
                <a:spcPct val="120000"/>
              </a:lnSpc>
              <a:buNone/>
            </a:pPr>
            <a:r>
              <a:rPr lang="en-US" sz="1600" dirty="0">
                <a:solidFill>
                  <a:srgbClr val="BBB529"/>
                </a:solidFill>
                <a:latin typeface="Consolas"/>
                <a:ea typeface="Pretendard"/>
                <a:cs typeface="Consolas"/>
              </a:rPr>
              <a:t>@Component</a:t>
            </a:r>
            <a:endParaRPr lang="en-US" sz="1600" dirty="0"/>
          </a:p>
          <a:p>
            <a:pPr indent="0" marL="0">
              <a:lnSpc>
                <a:spcPct val="120000"/>
              </a:lnSpc>
              <a:buNone/>
            </a:pPr>
            <a:r>
              <a:rPr lang="en-US" sz="1600" dirty="0">
                <a:solidFill>
                  <a:srgbClr val="CC7832"/>
                </a:solidFill>
                <a:latin typeface="Consolas"/>
                <a:ea typeface="Pretendard"/>
                <a:cs typeface="Consolas"/>
              </a:rPr>
              <a:t>public</a:t>
            </a:r>
            <a:r>
              <a:rPr lang="en-US" sz="1600" dirty="0">
                <a:solidFill>
                  <a:srgbClr val="A9B7C6"/>
                </a:solidFill>
                <a:latin typeface="Consolas"/>
                <a:ea typeface="Pretendard"/>
                <a:cs typeface="Consolas"/>
              </a:rPr>
              <a:t> </a:t>
            </a:r>
            <a:r>
              <a:rPr lang="en-US" sz="1600" dirty="0">
                <a:solidFill>
                  <a:srgbClr val="CC7832"/>
                </a:solidFill>
                <a:latin typeface="Consolas"/>
                <a:ea typeface="Pretendard"/>
                <a:cs typeface="Consolas"/>
              </a:rPr>
              <a:t>class</a:t>
            </a:r>
            <a:r>
              <a:rPr lang="en-US" sz="1600" dirty="0">
                <a:solidFill>
                  <a:srgbClr val="A9B7C6"/>
                </a:solidFill>
                <a:latin typeface="Consolas"/>
                <a:ea typeface="Pretendard"/>
                <a:cs typeface="Consolas"/>
              </a:rPr>
              <a:t> MemoryMemberRepository</a:t>
            </a:r>
            <a:endParaRPr lang="en-US" sz="1600" dirty="0"/>
          </a:p>
          <a:p>
            <a:pPr indent="0" marL="0">
              <a:lnSpc>
                <a:spcPct val="120000"/>
              </a:lnSpc>
              <a:buNone/>
            </a:pPr>
            <a:r>
              <a:rPr lang="en-US" sz="1600" dirty="0">
                <a:solidFill>
                  <a:srgbClr val="A9B7C6"/>
                </a:solidFill>
                <a:latin typeface="Consolas"/>
                <a:ea typeface="Pretendard"/>
                <a:cs typeface="Consolas"/>
              </a:rPr>
              <a:t>        </a:t>
            </a:r>
            <a:r>
              <a:rPr lang="en-US" sz="1600" dirty="0">
                <a:solidFill>
                  <a:srgbClr val="CC7832"/>
                </a:solidFill>
                <a:latin typeface="Consolas"/>
                <a:ea typeface="Pretendard"/>
                <a:cs typeface="Consolas"/>
              </a:rPr>
              <a:t>implements</a:t>
            </a:r>
            <a:r>
              <a:rPr lang="en-US" sz="1600" dirty="0">
                <a:solidFill>
                  <a:srgbClr val="A9B7C6"/>
                </a:solidFill>
                <a:latin typeface="Consolas"/>
                <a:ea typeface="Pretendard"/>
                <a:cs typeface="Consolas"/>
              </a:rPr>
              <a:t> MemberRepository {}</a:t>
            </a:r>
            <a:endParaRPr lang="en-US" sz="1600" dirty="0"/>
          </a:p>
          <a:p>
            <a:pPr indent="0" marL="0">
              <a:lnSpc>
                <a:spcPct val="120000"/>
              </a:lnSpc>
              <a:buNone/>
            </a:pPr>
            <a:endParaRPr lang="en-US" sz="1600" dirty="0"/>
          </a:p>
          <a:p>
            <a:pPr indent="0" marL="0">
              <a:lnSpc>
                <a:spcPct val="120000"/>
              </a:lnSpc>
              <a:buNone/>
            </a:pPr>
            <a:r>
              <a:rPr lang="en-US" sz="1600" dirty="0">
                <a:solidFill>
                  <a:srgbClr val="808080"/>
                </a:solidFill>
                <a:latin typeface="Consolas"/>
                <a:ea typeface="Pretendard"/>
                <a:cs typeface="Consolas"/>
              </a:rPr>
              <a:t>// 수동 등록 — 같은 이름</a:t>
            </a:r>
            <a:endParaRPr lang="en-US" sz="1600" dirty="0"/>
          </a:p>
          <a:p>
            <a:pPr indent="0" marL="0">
              <a:lnSpc>
                <a:spcPct val="120000"/>
              </a:lnSpc>
              <a:buNone/>
            </a:pPr>
            <a:r>
              <a:rPr lang="en-US" sz="1600" dirty="0">
                <a:solidFill>
                  <a:srgbClr val="BBB529"/>
                </a:solidFill>
                <a:latin typeface="Consolas"/>
                <a:ea typeface="Pretendard"/>
                <a:cs typeface="Consolas"/>
              </a:rPr>
              <a:t>@Bean</a:t>
            </a:r>
            <a:r>
              <a:rPr lang="en-US" sz="1600" dirty="0">
                <a:solidFill>
                  <a:srgbClr val="A9B7C6"/>
                </a:solidFill>
                <a:latin typeface="Consolas"/>
                <a:ea typeface="Pretendard"/>
                <a:cs typeface="Consolas"/>
              </a:rPr>
              <a:t>(name = </a:t>
            </a:r>
            <a:r>
              <a:rPr lang="en-US" sz="1600" dirty="0">
                <a:solidFill>
                  <a:srgbClr val="6A8759"/>
                </a:solidFill>
                <a:latin typeface="Consolas"/>
                <a:ea typeface="Pretendard"/>
                <a:cs typeface="Consolas"/>
              </a:rPr>
              <a:t>"memoryMemberRepository"</a:t>
            </a:r>
            <a:r>
              <a:rPr lang="en-US" sz="1600" dirty="0">
                <a:solidFill>
                  <a:srgbClr val="A9B7C6"/>
                </a:solidFill>
                <a:latin typeface="Consolas"/>
                <a:ea typeface="Pretendard"/>
                <a:cs typeface="Consolas"/>
              </a:rPr>
              <a:t>)</a:t>
            </a:r>
            <a:endParaRPr lang="en-US" sz="1600" dirty="0"/>
          </a:p>
          <a:p>
            <a:pPr indent="0" marL="0">
              <a:lnSpc>
                <a:spcPct val="120000"/>
              </a:lnSpc>
              <a:buNone/>
            </a:pPr>
            <a:r>
              <a:rPr lang="en-US" sz="1600" dirty="0">
                <a:solidFill>
                  <a:srgbClr val="CC7832"/>
                </a:solidFill>
                <a:latin typeface="Consolas"/>
                <a:ea typeface="Pretendard"/>
                <a:cs typeface="Consolas"/>
              </a:rPr>
              <a:t>public</a:t>
            </a:r>
            <a:r>
              <a:rPr lang="en-US" sz="1600" dirty="0">
                <a:solidFill>
                  <a:srgbClr val="A9B7C6"/>
                </a:solidFill>
                <a:latin typeface="Consolas"/>
                <a:ea typeface="Pretendard"/>
                <a:cs typeface="Consolas"/>
              </a:rPr>
              <a:t> MemberRepository </a:t>
            </a:r>
            <a:r>
              <a:rPr lang="en-US" sz="1600" dirty="0">
                <a:solidFill>
                  <a:srgbClr val="FFC66D"/>
                </a:solidFill>
                <a:latin typeface="Consolas"/>
                <a:ea typeface="Pretendard"/>
                <a:cs typeface="Consolas"/>
              </a:rPr>
              <a:t>memberRepository</a:t>
            </a:r>
            <a:r>
              <a:rPr lang="en-US" sz="1600" dirty="0">
                <a:solidFill>
                  <a:srgbClr val="A9B7C6"/>
                </a:solidFill>
                <a:latin typeface="Consolas"/>
                <a:ea typeface="Pretendard"/>
                <a:cs typeface="Consolas"/>
              </a:rPr>
              <a:t>() {</a:t>
            </a:r>
            <a:endParaRPr lang="en-US" sz="1600" dirty="0"/>
          </a:p>
          <a:p>
            <a:pPr indent="0" marL="0">
              <a:lnSpc>
                <a:spcPct val="120000"/>
              </a:lnSpc>
              <a:buNone/>
            </a:pPr>
            <a:r>
              <a:rPr lang="en-US" sz="1600" dirty="0">
                <a:solidFill>
                  <a:srgbClr val="A9B7C6"/>
                </a:solidFill>
                <a:latin typeface="Consolas"/>
                <a:ea typeface="Pretendard"/>
                <a:cs typeface="Consolas"/>
              </a:rPr>
              <a:t>    </a:t>
            </a:r>
            <a:r>
              <a:rPr lang="en-US" sz="1600" dirty="0">
                <a:solidFill>
                  <a:srgbClr val="CC7832"/>
                </a:solidFill>
                <a:latin typeface="Consolas"/>
                <a:ea typeface="Pretendard"/>
                <a:cs typeface="Consolas"/>
              </a:rPr>
              <a:t>return</a:t>
            </a:r>
            <a:r>
              <a:rPr lang="en-US" sz="1600" dirty="0">
                <a:solidFill>
                  <a:srgbClr val="A9B7C6"/>
                </a:solidFill>
                <a:latin typeface="Consolas"/>
                <a:ea typeface="Pretendard"/>
                <a:cs typeface="Consolas"/>
              </a:rPr>
              <a:t> </a:t>
            </a:r>
            <a:r>
              <a:rPr lang="en-US" sz="1600" dirty="0">
                <a:solidFill>
                  <a:srgbClr val="CC7832"/>
                </a:solidFill>
                <a:latin typeface="Consolas"/>
                <a:ea typeface="Pretendard"/>
                <a:cs typeface="Consolas"/>
              </a:rPr>
              <a:t>new</a:t>
            </a:r>
            <a:r>
              <a:rPr lang="en-US" sz="1600" dirty="0">
                <a:solidFill>
                  <a:srgbClr val="A9B7C6"/>
                </a:solidFill>
                <a:latin typeface="Consolas"/>
                <a:ea typeface="Pretendard"/>
                <a:cs typeface="Consolas"/>
              </a:rPr>
              <a:t> MemoryMemberRepository();</a:t>
            </a:r>
            <a:endParaRPr lang="en-US" sz="1600" dirty="0"/>
          </a:p>
          <a:p>
            <a:pPr indent="0" marL="0">
              <a:lnSpc>
                <a:spcPct val="120000"/>
              </a:lnSpc>
              <a:buNone/>
            </a:pPr>
            <a:r>
              <a:rPr lang="en-US" sz="1600" dirty="0">
                <a:solidFill>
                  <a:srgbClr val="A9B7C6"/>
                </a:solidFill>
                <a:latin typeface="Consolas"/>
                <a:ea typeface="Pretendard"/>
                <a:cs typeface="Consolas"/>
              </a:rPr>
              <a:t>}</a:t>
            </a:r>
            <a:endParaRPr lang="en-US" sz="1600" dirty="0"/>
          </a:p>
        </p:txBody>
      </p:sp>
      <p:sp>
        <p:nvSpPr>
          <p:cNvPr id="7" name="Text 5"/>
          <p:cNvSpPr txBox="1"/>
          <p:nvPr/>
        </p:nvSpPr>
        <p:spPr>
          <a:xfrm>
            <a:off x="7406640" y="1828800"/>
            <a:ext cx="4099255" cy="41021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Pretendard"/>
                <a:ea typeface="Pretendard"/>
                <a:cs typeface="Pretendard"/>
              </a:rPr>
              <a:t>자동 vs 자동 → </a:t>
            </a:r>
            <a:r>
              <a:rPr lang="ko-KR" altLang="en-US" sz="1800" b="1" dirty="0">
                <a:solidFill>
                  <a:srgbClr val="0057FF"/>
                </a:solidFill>
                <a:latin typeface="Pretendard"/>
                <a:ea typeface="Pretendard"/>
                <a:cs typeface="Pretendard"/>
              </a:rPr>
              <a:t>예외 발생</a:t>
            </a:r>
            <a:endParaRPr lang="ko-KR" sz="1800" dirty="0"/>
          </a:p>
        </p:txBody>
      </p:sp>
      <p:sp>
        <p:nvSpPr>
          <p:cNvPr id="8" name="Text 6"/>
          <p:cNvSpPr txBox="1"/>
          <p:nvPr/>
        </p:nvSpPr>
        <p:spPr>
          <a:xfrm>
            <a:off x="7406640" y="2648289"/>
            <a:ext cx="4099255" cy="7188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Pretendard"/>
                <a:ea typeface="Pretendard"/>
                <a:cs typeface="Pretendard"/>
              </a:rPr>
              <a:t>수동 vs 자동 → </a:t>
            </a:r>
            <a:r>
              <a:rPr lang="ko-KR" altLang="en-US" sz="1800" b="1" dirty="0">
                <a:solidFill>
                  <a:srgbClr val="0057FF"/>
                </a:solidFill>
                <a:latin typeface="Pretendard"/>
                <a:ea typeface="Pretendard"/>
                <a:cs typeface="Pretendard"/>
              </a:rPr>
              <a:t>수동이 덮어씀</a:t>
            </a:r>
            <a:r>
              <a:rPr lang="ko-KR" altLang="en-US" sz="1800" dirty="0">
                <a:solidFill>
                  <a:srgbClr val="23262F"/>
                </a:solidFill>
                <a:latin typeface="Pretendard"/>
                <a:ea typeface="Pretendard"/>
                <a:cs typeface="Pretendard"/>
              </a:rPr>
              <a:t> (로그만 남음)</a:t>
            </a:r>
            <a:endParaRPr lang="ko-KR" sz="1800" dirty="0"/>
          </a:p>
        </p:txBody>
      </p:sp>
      <p:sp>
        <p:nvSpPr>
          <p:cNvPr id="9" name="Text 7"/>
          <p:cNvSpPr txBox="1"/>
          <p:nvPr/>
        </p:nvSpPr>
        <p:spPr>
          <a:xfrm>
            <a:off x="7406640" y="3776387"/>
            <a:ext cx="4099255" cy="41021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ko-KR" altLang="en-US" sz="1800" dirty="0">
                <a:solidFill>
                  <a:srgbClr val="23262F"/>
                </a:solidFill>
                <a:latin typeface="Pretendard"/>
                <a:ea typeface="Pretendard"/>
                <a:cs typeface="Pretendard"/>
              </a:rPr>
              <a:t>최근 스프링 부트 → 기본값이 </a:t>
            </a:r>
            <a:r>
              <a:rPr lang="ko-KR" altLang="en-US" sz="1800" b="1" dirty="0">
                <a:solidFill>
                  <a:srgbClr val="0057FF"/>
                </a:solidFill>
                <a:latin typeface="Pretendard"/>
                <a:ea typeface="Pretendard"/>
                <a:cs typeface="Pretendard"/>
              </a:rPr>
              <a:t>오류</a:t>
            </a:r>
            <a:endParaRPr lang="ko-KR" sz="1800" dirty="0"/>
          </a:p>
        </p:txBody>
      </p:sp>
      <p:sp>
        <p:nvSpPr>
          <p:cNvPr id="10" name="Text 8"/>
          <p:cNvSpPr txBox="1"/>
          <p:nvPr/>
        </p:nvSpPr>
        <p:spPr>
          <a:xfrm>
            <a:off x="7406640" y="4778756"/>
            <a:ext cx="4099255" cy="342900"/>
          </a:xfrm>
          <a:prstGeom prst="rect">
            <a:avLst/>
          </a:prstGeom>
          <a:noFill/>
          <a:ln/>
        </p:spPr>
        <p:txBody>
          <a:bodyPr wrap="square" lIns="0" tIns="0" rIns="0" bIns="0" rtlCol="0" anchor="t"/>
          <a:lstStyle/>
          <a:p>
            <a:pPr indent="0" marL="0">
              <a:lnSpc>
                <a:spcPct val="110000"/>
              </a:lnSpc>
              <a:buNone/>
            </a:pPr>
            <a:r>
              <a:rPr lang="ko-KR" altLang="en-US" sz="2000" b="1" dirty="0">
                <a:solidFill>
                  <a:srgbClr val="23262F"/>
                </a:solidFill>
                <a:latin typeface="Pretendard"/>
                <a:ea typeface="Pretendard"/>
                <a:cs typeface="Pretendard"/>
              </a:rPr>
              <a:t>잡기 어려운 버그는 </a:t>
            </a:r>
            <a:r>
              <a:rPr lang="ko-KR" altLang="en-US" sz="2000" b="1" dirty="0">
                <a:solidFill>
                  <a:srgbClr val="0057FF"/>
                </a:solidFill>
                <a:latin typeface="Pretendard"/>
                <a:ea typeface="Pretendard"/>
                <a:cs typeface="Pretendard"/>
              </a:rPr>
              <a:t>애매한 버그</a:t>
            </a:r>
            <a:endParaRPr lang="ko-KR" sz="20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85800" y="777240"/>
            <a:ext cx="10820095" cy="777240"/>
          </a:xfrm>
          <a:prstGeom prst="rect">
            <a:avLst/>
          </a:prstGeom>
          <a:noFill/>
          <a:ln/>
        </p:spPr>
        <p:txBody>
          <a:bodyPr wrap="square" lIns="0" tIns="0" rIns="0" bIns="0" rtlCol="0" anchor="ctr"/>
          <a:lstStyle/>
          <a:p>
            <a:pPr algn="l" indent="0" marL="0">
              <a:buNone/>
            </a:pPr>
            <a:r>
              <a:rPr lang="ko-KR" altLang="en-US" sz="3200" b="1" dirty="0">
                <a:solidFill>
                  <a:srgbClr val="23262F"/>
                </a:solidFill>
                <a:latin typeface="Pretendard"/>
                <a:ea typeface="Pretendard"/>
                <a:cs typeface="Pretendard"/>
              </a:rPr>
              <a:t>정리</a:t>
            </a:r>
            <a:endParaRPr lang="en-US" sz="3200" dirty="0"/>
          </a:p>
        </p:txBody>
      </p:sp>
      <p:sp>
        <p:nvSpPr>
          <p:cNvPr id="3" name="Shape 1"/>
          <p:cNvSpPr/>
          <p:nvPr/>
        </p:nvSpPr>
        <p:spPr>
          <a:xfrm>
            <a:off x="685800" y="1783080"/>
            <a:ext cx="10820095" cy="1325880"/>
          </a:xfrm>
          <a:prstGeom prst="roundRect">
            <a:avLst>
              <a:gd name="adj" fmla="val 8276"/>
            </a:avLst>
          </a:prstGeom>
          <a:solidFill>
            <a:srgbClr val="F8F7F4"/>
          </a:solidFill>
          <a:ln w="12700">
            <a:solidFill>
              <a:srgbClr val="F8F7F4"/>
            </a:solidFill>
            <a:prstDash val="solid"/>
          </a:ln>
        </p:spPr>
      </p:sp>
      <p:sp>
        <p:nvSpPr>
          <p:cNvPr id="4" name="Text 2"/>
          <p:cNvSpPr txBox="1"/>
          <p:nvPr/>
        </p:nvSpPr>
        <p:spPr>
          <a:xfrm>
            <a:off x="1051560" y="1783080"/>
            <a:ext cx="1188720" cy="1325880"/>
          </a:xfrm>
          <a:prstGeom prst="rect">
            <a:avLst/>
          </a:prstGeom>
          <a:noFill/>
          <a:ln/>
        </p:spPr>
        <p:txBody>
          <a:bodyPr wrap="square" lIns="0" tIns="0" rIns="0" bIns="0" rtlCol="0" anchor="ctr"/>
          <a:lstStyle/>
          <a:p>
            <a:pPr indent="0" marL="0">
              <a:lnSpc>
                <a:spcPct val="110000"/>
              </a:lnSpc>
              <a:buNone/>
            </a:pPr>
            <a:r>
              <a:rPr lang="ko-KR" altLang="en-US" sz="4000" b="1" dirty="0">
                <a:solidFill>
                  <a:srgbClr val="0057FF"/>
                </a:solidFill>
                <a:latin typeface="Pretendard"/>
                <a:ea typeface="Pretendard"/>
                <a:cs typeface="Pretendard"/>
              </a:rPr>
              <a:t>01</a:t>
            </a:r>
            <a:endParaRPr lang="ko-KR" sz="4000" dirty="0"/>
          </a:p>
        </p:txBody>
      </p:sp>
      <p:sp>
        <p:nvSpPr>
          <p:cNvPr id="5" name="Text 3"/>
          <p:cNvSpPr txBox="1"/>
          <p:nvPr/>
        </p:nvSpPr>
        <p:spPr>
          <a:xfrm>
            <a:off x="2423160" y="1984248"/>
            <a:ext cx="8808415" cy="502920"/>
          </a:xfrm>
          <a:prstGeom prst="rect">
            <a:avLst/>
          </a:prstGeom>
          <a:noFill/>
          <a:ln/>
        </p:spPr>
        <p:txBody>
          <a:bodyPr wrap="square" lIns="0" tIns="0" rIns="0" bIns="0" rtlCol="0" anchor="t"/>
          <a:lstStyle/>
          <a:p>
            <a:pPr indent="0" marL="0">
              <a:lnSpc>
                <a:spcPct val="110000"/>
              </a:lnSpc>
              <a:buNone/>
            </a:pPr>
            <a:r>
              <a:rPr lang="ko-KR" altLang="en-US" sz="2400" b="1" dirty="0">
                <a:solidFill>
                  <a:srgbClr val="23262F"/>
                </a:solidFill>
                <a:latin typeface="Consolas"/>
                <a:ea typeface="Pretendard"/>
                <a:cs typeface="Consolas"/>
              </a:rPr>
              <a:t>@ComponentScan</a:t>
            </a:r>
            <a:r>
              <a:rPr lang="ko-KR" altLang="en-US" sz="2400" b="1" dirty="0">
                <a:solidFill>
                  <a:srgbClr val="23262F"/>
                </a:solidFill>
                <a:latin typeface="Pretendard"/>
                <a:ea typeface="Pretendard"/>
                <a:cs typeface="Pretendard"/>
              </a:rPr>
              <a:t> 이 </a:t>
            </a:r>
            <a:r>
              <a:rPr lang="ko-KR" altLang="en-US" sz="2400" b="1" dirty="0">
                <a:solidFill>
                  <a:srgbClr val="23262F"/>
                </a:solidFill>
                <a:latin typeface="Consolas"/>
                <a:ea typeface="Pretendard"/>
                <a:cs typeface="Consolas"/>
              </a:rPr>
              <a:t>@Component</a:t>
            </a:r>
            <a:r>
              <a:rPr lang="ko-KR" altLang="en-US" sz="2400" b="1" dirty="0">
                <a:solidFill>
                  <a:srgbClr val="23262F"/>
                </a:solidFill>
                <a:latin typeface="Pretendard"/>
                <a:ea typeface="Pretendard"/>
                <a:cs typeface="Pretendard"/>
              </a:rPr>
              <a:t> 클래스를 찾아 등록</a:t>
            </a:r>
            <a:endParaRPr lang="ko-KR" sz="2400" dirty="0"/>
          </a:p>
        </p:txBody>
      </p:sp>
      <p:sp>
        <p:nvSpPr>
          <p:cNvPr id="6" name="Text 4"/>
          <p:cNvSpPr txBox="1"/>
          <p:nvPr/>
        </p:nvSpPr>
        <p:spPr>
          <a:xfrm>
            <a:off x="2423160" y="2532888"/>
            <a:ext cx="8808415" cy="502920"/>
          </a:xfrm>
          <a:prstGeom prst="rect">
            <a:avLst/>
          </a:prstGeom>
          <a:noFill/>
          <a:ln/>
        </p:spPr>
        <p:txBody>
          <a:bodyPr wrap="square" lIns="0" tIns="0" rIns="0" bIns="0" rtlCol="0" anchor="t"/>
          <a:lstStyle/>
          <a:p>
            <a:pPr indent="0" marL="0">
              <a:lnSpc>
                <a:spcPct val="110000"/>
              </a:lnSpc>
              <a:buNone/>
            </a:pPr>
            <a:r>
              <a:rPr lang="ko-KR" altLang="en-US" sz="1700" dirty="0">
                <a:solidFill>
                  <a:srgbClr val="6B7280"/>
                </a:solidFill>
                <a:latin typeface="Pretendard"/>
                <a:ea typeface="Pretendard"/>
                <a:cs typeface="Pretendard"/>
              </a:rPr>
              <a:t>빈 이름 = 클래스명(첫 글자 소문자) · 직접 지정 가능</a:t>
            </a:r>
            <a:endParaRPr lang="ko-KR" sz="1700" dirty="0"/>
          </a:p>
        </p:txBody>
      </p:sp>
      <p:sp>
        <p:nvSpPr>
          <p:cNvPr id="7" name="Shape 5"/>
          <p:cNvSpPr/>
          <p:nvPr/>
        </p:nvSpPr>
        <p:spPr>
          <a:xfrm>
            <a:off x="685800" y="3291840"/>
            <a:ext cx="10820095" cy="1325880"/>
          </a:xfrm>
          <a:prstGeom prst="roundRect">
            <a:avLst>
              <a:gd name="adj" fmla="val 8276"/>
            </a:avLst>
          </a:prstGeom>
          <a:solidFill>
            <a:srgbClr val="F8F7F4"/>
          </a:solidFill>
          <a:ln w="12700">
            <a:solidFill>
              <a:srgbClr val="F8F7F4"/>
            </a:solidFill>
            <a:prstDash val="solid"/>
          </a:ln>
        </p:spPr>
      </p:sp>
      <p:sp>
        <p:nvSpPr>
          <p:cNvPr id="8" name="Text 6"/>
          <p:cNvSpPr txBox="1"/>
          <p:nvPr/>
        </p:nvSpPr>
        <p:spPr>
          <a:xfrm>
            <a:off x="1051560" y="3291840"/>
            <a:ext cx="1188720" cy="1325880"/>
          </a:xfrm>
          <a:prstGeom prst="rect">
            <a:avLst/>
          </a:prstGeom>
          <a:noFill/>
          <a:ln/>
        </p:spPr>
        <p:txBody>
          <a:bodyPr wrap="square" lIns="0" tIns="0" rIns="0" bIns="0" rtlCol="0" anchor="ctr"/>
          <a:lstStyle/>
          <a:p>
            <a:pPr indent="0" marL="0">
              <a:lnSpc>
                <a:spcPct val="110000"/>
              </a:lnSpc>
              <a:buNone/>
            </a:pPr>
            <a:r>
              <a:rPr lang="ko-KR" altLang="en-US" sz="4000" b="1" dirty="0">
                <a:solidFill>
                  <a:srgbClr val="0057FF"/>
                </a:solidFill>
                <a:latin typeface="Pretendard"/>
                <a:ea typeface="Pretendard"/>
                <a:cs typeface="Pretendard"/>
              </a:rPr>
              <a:t>02</a:t>
            </a:r>
            <a:endParaRPr lang="ko-KR" sz="4000" dirty="0"/>
          </a:p>
        </p:txBody>
      </p:sp>
      <p:sp>
        <p:nvSpPr>
          <p:cNvPr id="9" name="Text 7"/>
          <p:cNvSpPr txBox="1"/>
          <p:nvPr/>
        </p:nvSpPr>
        <p:spPr>
          <a:xfrm>
            <a:off x="2423160" y="3493008"/>
            <a:ext cx="8808415" cy="502920"/>
          </a:xfrm>
          <a:prstGeom prst="rect">
            <a:avLst/>
          </a:prstGeom>
          <a:noFill/>
          <a:ln/>
        </p:spPr>
        <p:txBody>
          <a:bodyPr wrap="square" lIns="0" tIns="0" rIns="0" bIns="0" rtlCol="0" anchor="t"/>
          <a:lstStyle/>
          <a:p>
            <a:pPr indent="0" marL="0">
              <a:lnSpc>
                <a:spcPct val="110000"/>
              </a:lnSpc>
              <a:buNone/>
            </a:pPr>
            <a:r>
              <a:rPr lang="ko-KR" altLang="en-US" sz="2400" b="1" dirty="0">
                <a:solidFill>
                  <a:srgbClr val="23262F"/>
                </a:solidFill>
                <a:latin typeface="Consolas"/>
                <a:ea typeface="Pretendard"/>
                <a:cs typeface="Consolas"/>
              </a:rPr>
              <a:t>@Autowired</a:t>
            </a:r>
            <a:r>
              <a:rPr lang="ko-KR" altLang="en-US" sz="2400" b="1" dirty="0">
                <a:solidFill>
                  <a:srgbClr val="23262F"/>
                </a:solidFill>
                <a:latin typeface="Pretendard"/>
                <a:ea typeface="Pretendard"/>
                <a:cs typeface="Pretendard"/>
              </a:rPr>
              <a:t> 가 타입으로 빈을 찾아 주입</a:t>
            </a:r>
            <a:endParaRPr lang="ko-KR" sz="2400" dirty="0"/>
          </a:p>
        </p:txBody>
      </p:sp>
      <p:sp>
        <p:nvSpPr>
          <p:cNvPr id="10" name="Text 8"/>
          <p:cNvSpPr txBox="1"/>
          <p:nvPr/>
        </p:nvSpPr>
        <p:spPr>
          <a:xfrm>
            <a:off x="2423160" y="4041648"/>
            <a:ext cx="8808415" cy="502920"/>
          </a:xfrm>
          <a:prstGeom prst="rect">
            <a:avLst/>
          </a:prstGeom>
          <a:noFill/>
          <a:ln/>
        </p:spPr>
        <p:txBody>
          <a:bodyPr wrap="square" lIns="0" tIns="0" rIns="0" bIns="0" rtlCol="0" anchor="t"/>
          <a:lstStyle/>
          <a:p>
            <a:pPr indent="0" marL="0">
              <a:lnSpc>
                <a:spcPct val="110000"/>
              </a:lnSpc>
              <a:buNone/>
            </a:pPr>
            <a:r>
              <a:rPr lang="ko-KR" altLang="en-US" sz="1700" dirty="0">
                <a:solidFill>
                  <a:srgbClr val="6B7280"/>
                </a:solidFill>
                <a:latin typeface="Pretendard"/>
                <a:ea typeface="Pretendard"/>
                <a:cs typeface="Pretendard"/>
              </a:rPr>
              <a:t>getBean(타입) 과 같음 · 파라미터가 여러 개여도 모두</a:t>
            </a:r>
            <a:endParaRPr lang="ko-KR" sz="1700" dirty="0"/>
          </a:p>
        </p:txBody>
      </p:sp>
      <p:sp>
        <p:nvSpPr>
          <p:cNvPr id="11" name="Shape 9"/>
          <p:cNvSpPr/>
          <p:nvPr/>
        </p:nvSpPr>
        <p:spPr>
          <a:xfrm>
            <a:off x="685800" y="4800600"/>
            <a:ext cx="10820095" cy="1325880"/>
          </a:xfrm>
          <a:prstGeom prst="roundRect">
            <a:avLst>
              <a:gd name="adj" fmla="val 8276"/>
            </a:avLst>
          </a:prstGeom>
          <a:solidFill>
            <a:srgbClr val="F8F7F4"/>
          </a:solidFill>
          <a:ln w="12700">
            <a:solidFill>
              <a:srgbClr val="F8F7F4"/>
            </a:solidFill>
            <a:prstDash val="solid"/>
          </a:ln>
        </p:spPr>
      </p:sp>
      <p:sp>
        <p:nvSpPr>
          <p:cNvPr id="12" name="Text 10"/>
          <p:cNvSpPr txBox="1"/>
          <p:nvPr/>
        </p:nvSpPr>
        <p:spPr>
          <a:xfrm>
            <a:off x="1051560" y="4800600"/>
            <a:ext cx="1188720" cy="1325880"/>
          </a:xfrm>
          <a:prstGeom prst="rect">
            <a:avLst/>
          </a:prstGeom>
          <a:noFill/>
          <a:ln/>
        </p:spPr>
        <p:txBody>
          <a:bodyPr wrap="square" lIns="0" tIns="0" rIns="0" bIns="0" rtlCol="0" anchor="ctr"/>
          <a:lstStyle/>
          <a:p>
            <a:pPr indent="0" marL="0">
              <a:lnSpc>
                <a:spcPct val="110000"/>
              </a:lnSpc>
              <a:buNone/>
            </a:pPr>
            <a:r>
              <a:rPr lang="ko-KR" altLang="en-US" sz="4000" b="1" dirty="0">
                <a:solidFill>
                  <a:srgbClr val="0057FF"/>
                </a:solidFill>
                <a:latin typeface="Pretendard"/>
                <a:ea typeface="Pretendard"/>
                <a:cs typeface="Pretendard"/>
              </a:rPr>
              <a:t>03</a:t>
            </a:r>
            <a:endParaRPr lang="ko-KR" sz="4000" dirty="0"/>
          </a:p>
        </p:txBody>
      </p:sp>
      <p:sp>
        <p:nvSpPr>
          <p:cNvPr id="13" name="Text 11"/>
          <p:cNvSpPr txBox="1"/>
          <p:nvPr/>
        </p:nvSpPr>
        <p:spPr>
          <a:xfrm>
            <a:off x="2423160" y="5001768"/>
            <a:ext cx="8808415" cy="502920"/>
          </a:xfrm>
          <a:prstGeom prst="rect">
            <a:avLst/>
          </a:prstGeom>
          <a:noFill/>
          <a:ln/>
        </p:spPr>
        <p:txBody>
          <a:bodyPr wrap="square" lIns="0" tIns="0" rIns="0" bIns="0" rtlCol="0" anchor="t"/>
          <a:lstStyle/>
          <a:p>
            <a:pPr indent="0" marL="0">
              <a:lnSpc>
                <a:spcPct val="110000"/>
              </a:lnSpc>
              <a:buNone/>
            </a:pPr>
            <a:r>
              <a:rPr lang="ko-KR" altLang="en-US" sz="2400" b="1" dirty="0">
                <a:solidFill>
                  <a:srgbClr val="23262F"/>
                </a:solidFill>
                <a:latin typeface="Pretendard"/>
                <a:ea typeface="Pretendard"/>
                <a:cs typeface="Pretendard"/>
              </a:rPr>
              <a:t>수동·자동 빈 이름이 겹치면 부트는 오류</a:t>
            </a:r>
            <a:endParaRPr lang="ko-KR" sz="2400" dirty="0"/>
          </a:p>
        </p:txBody>
      </p:sp>
      <p:sp>
        <p:nvSpPr>
          <p:cNvPr id="14" name="Text 12"/>
          <p:cNvSpPr txBox="1"/>
          <p:nvPr/>
        </p:nvSpPr>
        <p:spPr>
          <a:xfrm>
            <a:off x="2423160" y="5550408"/>
            <a:ext cx="8808415" cy="502920"/>
          </a:xfrm>
          <a:prstGeom prst="rect">
            <a:avLst/>
          </a:prstGeom>
          <a:noFill/>
          <a:ln/>
        </p:spPr>
        <p:txBody>
          <a:bodyPr wrap="square" lIns="0" tIns="0" rIns="0" bIns="0" rtlCol="0" anchor="t"/>
          <a:lstStyle/>
          <a:p>
            <a:pPr indent="0" marL="0">
              <a:lnSpc>
                <a:spcPct val="110000"/>
              </a:lnSpc>
              <a:buNone/>
            </a:pPr>
            <a:r>
              <a:rPr lang="ko-KR" altLang="en-US" sz="1700" dirty="0">
                <a:solidFill>
                  <a:srgbClr val="6B7280"/>
                </a:solidFill>
                <a:latin typeface="Pretendard"/>
                <a:ea typeface="Pretendard"/>
                <a:cs typeface="Pretendard"/>
              </a:rPr>
              <a:t>자동끼리는 예외 · 순수 스프링은 수동이 덮어씀</a:t>
            </a:r>
            <a:endParaRPr lang="ko-KR" sz="1700" dirty="0"/>
          </a:p>
        </p:txBody>
      </p:sp>
      <p:sp>
        <p:nvSpPr>
          <p:cNvPr id="25" name="Slide Number Placeholder 0"/>
          <p:cNvSpPr>
            <a:spLocks noGrp="1"/>
          </p:cNvSpPr>
          <p:nvPr>
            <p:ph type="sldNum" sz="quarter" idx="4294967295"/>
          </p:nvPr>
        </p:nvSpPr>
        <p:spPr>
          <a:xfrm>
            <a:off x="10774375" y="6355080"/>
            <a:ext cx="7315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B7280"/>
                </a:solidFill>
                <a:latin typeface="Pretendard"/>
                <a:ea typeface="Pretendard"/>
                <a:cs typeface="Pretendard"/>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Pretendard"/>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Pretendard"/>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김영한의 스프링 핵심 원리 - 기본편 (섹션 7 컴포넌트 스캔)</dc:title>
  <dc:subject>김영한의 스프링 핵심 원리 - 기본편</dc:subject>
  <dc:creator>이바다</dc:creator>
  <cp:lastModifiedBy>이바다</cp:lastModifiedBy>
  <cp:revision>1</cp:revision>
  <dcterms:created xsi:type="dcterms:W3CDTF">2026-10-20T11:54:29Z</dcterms:created>
  <dcterms:modified xsi:type="dcterms:W3CDTF">2026-10-20T11:54:29Z</dcterms:modified>
</cp:coreProperties>
</file>