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737360"/>
            <a:ext cx="10820095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QUIZ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UDY_PRINCIP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097280"/>
            <a:ext cx="53949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김영한의 스프링 입문 — 코드로 배우는 스프링 부트, 웹 MVC, DB 접근 기술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스프링 입문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5146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9184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요청과 응답</a:t>
            </a:r>
            <a:endParaRPr lang="ko-KR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4904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요청이 화면이 되기까지</a:t>
            </a:r>
            <a:endParaRPr lang="ko-KR" sz="1400" dirty="0"/>
          </a:p>
        </p:txBody>
      </p:sp>
      <p:sp>
        <p:nvSpPr>
          <p:cNvPr id="8" name="Shape 6"/>
          <p:cNvSpPr/>
          <p:nvPr/>
        </p:nvSpPr>
        <p:spPr>
          <a:xfrm>
            <a:off x="4383938" y="224028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3978" y="25146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329184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객체와 의존관계</a:t>
            </a:r>
            <a:endParaRPr lang="ko-KR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3978" y="374904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객체는 누가 만들고 누가 연결하나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8082077" y="224028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2514600"/>
            <a:ext cx="27837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29184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접근 기술</a:t>
            </a:r>
            <a:endParaRPr lang="ko-KR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3749040"/>
            <a:ext cx="2783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조회, 다섯 가지 방법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4864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마지막에 퀴즈 3문제</a:t>
            </a:r>
            <a:endParaRPr lang="ko-K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1264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이바다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흐름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관리 예제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6766560" cy="4023360"/>
          </a:xfrm>
          <a:prstGeom prst="roundRect">
            <a:avLst>
              <a:gd name="adj" fmla="val 272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pic>
        <p:nvPicPr>
          <p:cNvPr id="5" name="Image 0" descr="컨트롤러, 서비스, 리포지토리, DB, 도메인 계층 구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07913"/>
            <a:ext cx="6400800" cy="21736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8795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강의자료 3장 — 일반적인 웹 애플리케이션 계층 구조</a:t>
            </a:r>
            <a:endParaRPr lang="ko-KR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977390"/>
            <a:ext cx="364205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컨트롤러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요청을 받고 응답을 돌려준다</a:t>
            </a:r>
            <a:endParaRPr lang="ko-KR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983230"/>
            <a:ext cx="364205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핵심 비즈니스 로직 (중복 회원 검증)</a:t>
            </a:r>
            <a:endParaRPr lang="ko-KR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989070"/>
            <a:ext cx="364205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리포지토리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DB에 저장하고 조회한다</a:t>
            </a:r>
            <a:endParaRPr lang="ko-KR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5149215"/>
            <a:ext cx="3642055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회원(Member) 객체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요청과 응답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방식 세 가지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방식 — 객체를 반환하면 JSON 이 된다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10820095" cy="2357120"/>
          </a:xfrm>
          <a:prstGeom prst="roundRect">
            <a:avLst>
              <a:gd name="adj" fmla="val 4655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10454335" cy="199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@GetMapping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"hello-api"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@ResponseBody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Hello </a:t>
            </a:r>
            <a:r>
              <a:rPr lang="en-US" sz="16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helloApi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@RequestParam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"name"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) String name) {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Hello hello =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Hello();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hello.</a:t>
            </a:r>
            <a:r>
              <a:rPr lang="en-US" sz="16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setName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(name);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hello;    </a:t>
            </a:r>
            <a:r>
              <a:rPr lang="en-US" sz="16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→ {"name":"spring"}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54880"/>
            <a:ext cx="3423818" cy="1417320"/>
          </a:xfrm>
          <a:prstGeom prst="roundRect">
            <a:avLst>
              <a:gd name="adj" fmla="val 7742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5010912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정적 컨텐츠</a:t>
            </a:r>
            <a:endParaRPr lang="ko-KR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5468112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static 폴더의 HTML 파일을 </a:t>
            </a:r>
            <a:r>
              <a:rPr lang="ko-KR" altLang="en-US" sz="16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</a:t>
            </a:r>
            <a:r>
              <a:rPr lang="ko-KR" alt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내려준다</a:t>
            </a:r>
            <a:endParaRPr lang="ko-KR" sz="1600" dirty="0"/>
          </a:p>
        </p:txBody>
      </p:sp>
      <p:sp>
        <p:nvSpPr>
          <p:cNvPr id="10" name="Shape 8"/>
          <p:cNvSpPr/>
          <p:nvPr/>
        </p:nvSpPr>
        <p:spPr>
          <a:xfrm>
            <a:off x="4383938" y="4754880"/>
            <a:ext cx="3423818" cy="1417320"/>
          </a:xfrm>
          <a:prstGeom prst="roundRect">
            <a:avLst>
              <a:gd name="adj" fmla="val 7742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5010912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MVC + 템플릿</a:t>
            </a:r>
            <a:endParaRPr lang="ko-KR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5468112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viewResolver</a:t>
            </a:r>
            <a:r>
              <a:rPr lang="ko-KR" alt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 템플릿을 HTML 로 바꿔 내려준다</a:t>
            </a:r>
            <a:endParaRPr 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8082077" y="4754880"/>
            <a:ext cx="3423818" cy="1417320"/>
          </a:xfrm>
          <a:prstGeom prst="roundRect">
            <a:avLst>
              <a:gd name="adj" fmla="val 7742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5010912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endParaRPr lang="ko-KR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5468112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HttpMessageConverter</a:t>
            </a:r>
            <a:r>
              <a:rPr lang="ko-KR" alt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 객체를 JSON 으로 바꾼다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요청과 응답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@Controller 와 @RestController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@Controller — 화면(뷰)을 반환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5227168" cy="2606040"/>
          </a:xfrm>
          <a:prstGeom prst="roundRect">
            <a:avLst>
              <a:gd name="adj" fmla="val 4211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48614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@Controller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HelloController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@GetMapping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"hello-mvc"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String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helloMvc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(Model model)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model.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addAttribute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"name"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"spring"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"hello-template"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;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뷰 이름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@RestController — 데이터(JSON)를 반환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2093976"/>
            <a:ext cx="5227168" cy="2854960"/>
          </a:xfrm>
          <a:prstGeom prst="roundRect">
            <a:avLst>
              <a:gd name="adj" fmla="val 3843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608" y="2276856"/>
            <a:ext cx="4861408" cy="248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@RestController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@Controller + @ResponseBody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HelloApiController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@GetMapping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"hello-api"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Hello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helloApi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Hello hello =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Hello();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hello.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setName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"spring"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hello;  </a:t>
            </a: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→ JSON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22325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@Controller</a:t>
            </a:r>
            <a:endParaRPr lang="ko-KR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58901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이동(화면 전환) 요청 — 뷰 이름을 반환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522325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@RestController</a:t>
            </a:r>
            <a:endParaRPr lang="ko-KR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558901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요청(AJAX·API) — 모든 메서드에 </a:t>
            </a:r>
            <a:r>
              <a:rPr lang="ko-KR" altLang="en-US" sz="1400" dirty="0">
                <a:solidFill>
                  <a:srgbClr val="6B72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@ResponseBody</a:t>
            </a: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적용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객체와 의존관계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인터페이스와 구현체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742950"/>
          </a:xfrm>
          <a:prstGeom prst="roundRect">
            <a:avLst>
              <a:gd name="adj" fmla="val 14769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10088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200" b="1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interface</a:t>
            </a:r>
            <a:r>
              <a:rPr lang="ko-KR" altLang="en-US" sz="2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기능의 </a:t>
            </a:r>
            <a:r>
              <a:rPr lang="ko-KR" altLang="en-US" sz="2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역할만 정의</a:t>
            </a:r>
            <a:r>
              <a:rPr lang="ko-KR" altLang="en-US" sz="2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 </a:t>
            </a:r>
            <a:r>
              <a:rPr lang="ko-KR" altLang="en-US" sz="2200" b="1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implements</a:t>
            </a:r>
            <a:r>
              <a:rPr lang="ko-KR" altLang="en-US" sz="2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= 그 역할을 </a:t>
            </a:r>
            <a:r>
              <a:rPr lang="ko-KR" altLang="en-US" sz="22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구현</a:t>
            </a:r>
            <a:endParaRPr lang="ko-KR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0035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인터페이스(역할 정의)와 사용하는 쪽</a:t>
            </a:r>
            <a:endParaRPr 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111246"/>
            <a:ext cx="5227168" cy="2232660"/>
          </a:xfrm>
          <a:prstGeom prst="roundRect">
            <a:avLst>
              <a:gd name="adj" fmla="val 4915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94126"/>
            <a:ext cx="4861408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interface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SocialJoin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join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(String token);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사용하는 쪽은 인터페이스만 안다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SocialJoin socialJoin =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KakaoJoin();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socialJoin.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join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(token);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280035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구현체 — 선언된 메서드를 반드시 구현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3111246"/>
            <a:ext cx="5227168" cy="3032760"/>
          </a:xfrm>
          <a:prstGeom prst="roundRect">
            <a:avLst>
              <a:gd name="adj" fmla="val 3618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3294126"/>
            <a:ext cx="4861408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KakaoJoin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implements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SocialJoin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join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(String token)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카카오에서 회원 정보 조회 후 저장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NaverJoin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implements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SocialJoin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join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(String token)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네이버에서 회원 정보 조회 후 저장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객체와 의존관계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리포지토리 인터페이스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리포지토리 인터페이스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6309360" cy="1859280"/>
          </a:xfrm>
          <a:prstGeom prst="roundRect">
            <a:avLst>
              <a:gd name="adj" fmla="val 5902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594360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interface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MemberRepository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Member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save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(Member member);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Optional&lt;Member&gt;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findById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(Long id);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Optional&lt;Member&gt;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findByName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(String name);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List&lt;Member&gt;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findAll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22757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우선은 메모리 구현체로 개발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4538472"/>
            <a:ext cx="6309360" cy="1610360"/>
          </a:xfrm>
          <a:prstGeom prst="roundRect">
            <a:avLst>
              <a:gd name="adj" fmla="val 6814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721352"/>
            <a:ext cx="59436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MemoryMemberRepository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implements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MemberRepository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Map&lt;Long, Member&gt; store =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HashMap&lt;&gt;();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828800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저장소가 RDB 일지 NoSQL 일지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아직 모른다</a:t>
            </a:r>
            <a:endParaRPr lang="ko-KR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3187700"/>
            <a:ext cx="4099255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먼저 설계</a:t>
            </a:r>
            <a:endParaRPr lang="ko-KR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4237990"/>
            <a:ext cx="4099255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개발은 가벼운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구현체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시작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객체와 의존관계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주입 (DI)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997196"/>
            <a:ext cx="10820095" cy="1175004"/>
          </a:xfrm>
          <a:prstGeom prst="roundRect">
            <a:avLst>
              <a:gd name="adj" fmla="val 9339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5253228"/>
            <a:ext cx="1008857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8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객체를 밖에서 넣어주는 것 =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DI(의존성 주입)</a:t>
            </a:r>
            <a:r>
              <a:rPr lang="ko-KR" altLang="en-US" sz="18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구현체를 고르는 코드가 서비스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밖</a:t>
            </a:r>
            <a:r>
              <a:rPr lang="ko-KR" altLang="en-US" sz="18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나간다.</a:t>
            </a:r>
            <a:endParaRPr lang="ko-KR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— 서비스가 직접 생성한다</a:t>
            </a:r>
            <a:endParaRPr 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093976"/>
            <a:ext cx="5227168" cy="1112520"/>
          </a:xfrm>
          <a:prstGeom prst="roundRect">
            <a:avLst>
              <a:gd name="adj" fmla="val 9863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76856"/>
            <a:ext cx="4861408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MemberService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MemberRepository memberRepository =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MemoryMemberRepository();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78728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— 생성자로 받는다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2093976"/>
            <a:ext cx="5227168" cy="2108200"/>
          </a:xfrm>
          <a:prstGeom prst="roundRect">
            <a:avLst>
              <a:gd name="adj" fmla="val 5205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2276856"/>
            <a:ext cx="4861408" cy="174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MemberService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MemberRepository memberRepository;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MemberService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MemberRepository memberRepository)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.memberRepository = memberRepository;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객체와 의존관계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 final 과 @RequiredArgsConstructor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생성자를 직접 작성 (강의)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6309360" cy="1610360"/>
          </a:xfrm>
          <a:prstGeom prst="roundRect">
            <a:avLst>
              <a:gd name="adj" fmla="val 6814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59436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MemberRepository memberRepository;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MemberService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(MemberRepository memberRepository)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.memberRepository = memberRepository;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786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Lombok — 같은 생성자를 자동 생성 (실무)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4289552"/>
            <a:ext cx="6309360" cy="1610360"/>
          </a:xfrm>
          <a:prstGeom prst="roundRect">
            <a:avLst>
              <a:gd name="adj" fmla="val 6814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472432"/>
            <a:ext cx="59436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@Service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@RequiredArgsConstructor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MemberService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MemberRepository memberRepository;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828800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final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생성자에서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번만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넣고 바꿀 수 없다</a:t>
            </a:r>
            <a:endParaRPr lang="ko-KR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782401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넣는 걸 빠뜨리면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컴파일 오류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누락 방지</a:t>
            </a:r>
            <a:endParaRPr lang="ko-KR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3736001"/>
            <a:ext cx="4099255" cy="102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@RequiredArgsConstructor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final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필드를 받는 생성자를 자동 생성</a:t>
            </a:r>
            <a:endParaRPr lang="ko-KR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4998212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생성자가 하나면 </a:t>
            </a: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@Autowired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생략 가능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객체와 의존관계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의존성 주입 방법 세 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2641600"/>
          </a:xfrm>
          <a:prstGeom prst="roundRect">
            <a:avLst>
              <a:gd name="adj" fmla="val 4154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10454335" cy="227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① 필드 주입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@Autowired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MemberService memberService;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② setter 주입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@Autowired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setMemberService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(MemberService memberService) { ... }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③ 생성자 주입 (권장)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MemberController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(MemberService memberService) { ... 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4754880"/>
            <a:ext cx="3423818" cy="1417320"/>
          </a:xfrm>
          <a:prstGeom prst="roundRect">
            <a:avLst>
              <a:gd name="adj" fmla="val 7742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5010912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주입</a:t>
            </a:r>
            <a:endParaRPr lang="ko-KR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468112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넣어줄 통로가 없어</a:t>
            </a:r>
            <a:endParaRPr lang="ko-KR" sz="1600" dirty="0"/>
          </a:p>
          <a:p>
            <a:pPr indent="0" marL="0">
              <a:lnSpc>
                <a:spcPct val="110000"/>
              </a:lnSpc>
              <a:buNone/>
            </a:pPr>
            <a:r>
              <a:rPr lang="ko-KR" alt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스프링 없이는 테스트가 어렵다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4383938" y="4754880"/>
            <a:ext cx="3423818" cy="1417320"/>
          </a:xfrm>
          <a:prstGeom prst="roundRect">
            <a:avLst>
              <a:gd name="adj" fmla="val 7742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8258" y="5010912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setter 주입</a:t>
            </a:r>
            <a:endParaRPr lang="ko-KR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5468112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dirty="0">
                <a:solidFill>
                  <a:srgbClr val="6B72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ko-KR" alt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이라 </a:t>
            </a:r>
            <a:r>
              <a:rPr lang="ko-KR" altLang="en-US" sz="16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누구나 나중에 바꿀 수</a:t>
            </a:r>
            <a:r>
              <a:rPr lang="ko-KR" alt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있다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8082077" y="4754880"/>
            <a:ext cx="3423818" cy="1417320"/>
          </a:xfrm>
          <a:prstGeom prst="roundRect">
            <a:avLst>
              <a:gd name="adj" fmla="val 7742"/>
            </a:avLst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6397" y="5010912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생성자 주입 (권장)</a:t>
            </a:r>
            <a:endParaRPr lang="ko-KR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6397" y="5468112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시점에 </a:t>
            </a:r>
            <a:r>
              <a:rPr lang="ko-KR" altLang="en-US" sz="1600" b="1" u="sng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번만</a:t>
            </a:r>
            <a:r>
              <a:rPr lang="ko-KR" alt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1600" dirty="0">
                <a:solidFill>
                  <a:srgbClr val="FFFFF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final</a:t>
            </a:r>
            <a:r>
              <a:rPr lang="ko-KR" alt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 누락·변경 방지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객체와 의존관계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등록 ① 컴포넌트 스캔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MemberService — 애노테이션만 붙인다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6309360" cy="2606040"/>
          </a:xfrm>
          <a:prstGeom prst="roundRect">
            <a:avLst>
              <a:gd name="adj" fmla="val 4211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5943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@Service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MemberService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MemberRepository memberRepository;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@Autowired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MemberService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    MemberRepository memberRepository)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.memberRepository = memberRepository;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9743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스프링이 시작할 때 대신 하는 일 (개념 코드)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5285232"/>
            <a:ext cx="6309360" cy="863600"/>
          </a:xfrm>
          <a:prstGeom prst="roundRect">
            <a:avLst>
              <a:gd name="adj" fmla="val 12706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5468112"/>
            <a:ext cx="594360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MemberRepository repo =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MemoryMemberRepository();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MemberService service =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MemberService(repo);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828800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@Component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 붙은 클래스를 스프링이 찾아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빈으로 등록</a:t>
            </a:r>
            <a:endParaRPr lang="ko-KR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968244"/>
            <a:ext cx="4099255" cy="102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@Controller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@Service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@Repository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도 안에 </a:t>
            </a: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@Component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를 품고 있다</a:t>
            </a:r>
            <a:endParaRPr lang="ko-KR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4416298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@Autowired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생성자 → 파라미터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타입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맞는 빈을 찾아 넣는다</a:t>
            </a:r>
            <a:endParaRPr lang="ko-KR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5555742"/>
            <a:ext cx="4099255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등록된 빈은 기본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싱글톤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객체와 의존관계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등록 ② 자바 코드로 직접 등록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SpringConfig — 설정 클래스에서 직접 등록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6309360" cy="3779520"/>
          </a:xfrm>
          <a:prstGeom prst="roundRect">
            <a:avLst>
              <a:gd name="adj" fmla="val 2903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594360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@Configuration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SpringConfig {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@Bean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MemberService </a:t>
            </a:r>
            <a:r>
              <a:rPr lang="en-US" sz="16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memberService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MemberService(</a:t>
            </a:r>
            <a:r>
              <a:rPr lang="en-US" sz="16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memberRepository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@Bean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MemberRepository </a:t>
            </a:r>
            <a:r>
              <a:rPr lang="en-US" sz="16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memberRepository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MemoryMemberRepository();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828800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@Bean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메서드가 반환한 객체를 빈으로 등록</a:t>
            </a:r>
            <a:endParaRPr lang="ko-KR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791079"/>
            <a:ext cx="4099255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구현체를 쓸지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곳에서 결정</a:t>
            </a:r>
            <a:endParaRPr lang="ko-KR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3444748"/>
            <a:ext cx="4099255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구현을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바꿔야 할 때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유리</a:t>
            </a:r>
            <a:endParaRPr lang="ko-KR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4281297"/>
            <a:ext cx="40992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실무는 </a:t>
            </a:r>
            <a:r>
              <a:rPr lang="ko-KR" altLang="en-US" sz="2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둘을 함께</a:t>
            </a:r>
            <a:r>
              <a:rPr lang="ko-KR" altLang="en-US" sz="2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쓴다</a:t>
            </a:r>
            <a:endParaRPr lang="ko-KR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5050536"/>
            <a:ext cx="4099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만든 컨트롤러·서비스·리포지토리는 스캔, 설정·외부 라이브러리 객체·교체할 구현은 @Bean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DB 접근 기술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 JDBC 와 JdbcTemplate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 JDBC — findByName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5227168" cy="3103880"/>
          </a:xfrm>
          <a:prstGeom prst="roundRect">
            <a:avLst>
              <a:gd name="adj" fmla="val 3535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4861408" cy="273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conn =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getConnection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pstmt = conn.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prepareStatement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(sql);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pstmt.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setString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897BB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, name);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rs = pstmt.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executeQuery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(rs.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next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()) {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Member member =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Member();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member.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setId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(rs.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getLong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"id"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));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member.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setName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(rs.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getString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"name"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));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Optional.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of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(member);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+ try / catch / finally 로 close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JdbcTemplate — findByName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2093976"/>
            <a:ext cx="5227168" cy="1361440"/>
          </a:xfrm>
          <a:prstGeom prst="roundRect">
            <a:avLst>
              <a:gd name="adj" fmla="val 8060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608" y="2276856"/>
            <a:ext cx="4861408" cy="99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List&lt;Member&gt; result = jdbcTemplate.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query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"select * from member where name = ?"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memberRowMapper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(), name);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result.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stream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().</a:t>
            </a:r>
            <a:r>
              <a:rPr lang="en-US" sz="14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findAny</a:t>
            </a:r>
            <a:r>
              <a:rPr lang="en-US" sz="14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47217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 JDBC</a:t>
            </a:r>
            <a:endParaRPr lang="ko-KR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83793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연결·SQL·매핑·close 를 매번 직접 쓴다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547217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JdbcTemplate</a:t>
            </a:r>
            <a:endParaRPr lang="ko-KR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583793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코드가 사라지고 </a:t>
            </a:r>
            <a:r>
              <a:rPr lang="ko-KR" altLang="en-US" sz="1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과 매핑</a:t>
            </a: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만 남는다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DB 접근 기술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와 JPA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— SQL 을 XML 에 분리 (일반 예시)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5227168" cy="1432560"/>
          </a:xfrm>
          <a:prstGeom prst="roundRect">
            <a:avLst>
              <a:gd name="adj" fmla="val 7660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486140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BF6A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&lt;select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ABABA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id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A5C261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"findByName"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ABABA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resultType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A5C261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"Member"</a:t>
            </a:r>
            <a:r>
              <a:rPr lang="en-US" sz="1500" dirty="0">
                <a:solidFill>
                  <a:srgbClr val="E8BF6A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select * from member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where name = #{name}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BF6A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&lt;/select&gt;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783080"/>
            <a:ext cx="522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 — 테이블이 아니라 객체를 조회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2093976"/>
            <a:ext cx="5227168" cy="1965960"/>
          </a:xfrm>
          <a:prstGeom prst="roundRect">
            <a:avLst>
              <a:gd name="adj" fmla="val 5581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1608" y="2276856"/>
            <a:ext cx="48614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List&lt;Member&gt; result = em.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createQuery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"select m from Member m "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+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"where m.name = :name"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, Member.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.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setParameter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6A875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"name"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, name)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.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getResultList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result.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stream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().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findAny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();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33425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endParaRPr lang="ko-KR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0001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은 직접 쓰고, 결과는 객체로 </a:t>
            </a:r>
            <a:r>
              <a:rPr lang="ko-KR" altLang="en-US" sz="1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매핑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4334256"/>
            <a:ext cx="522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</a:t>
            </a:r>
            <a:endParaRPr lang="ko-KR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78728" y="4700016"/>
            <a:ext cx="52271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객체(Member)</a:t>
            </a:r>
            <a:r>
              <a:rPr lang="ko-KR" altLang="en-US" sz="14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대상 조회, 기본 CRUD SQL 은 자동 생성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DB 접근 기술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 와 스프링 데이터 JPA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 — 구현 클래스를 직접 만든다</a:t>
            </a:r>
            <a:endParaRPr lang="ko-KR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93976"/>
            <a:ext cx="6309360" cy="1699260"/>
          </a:xfrm>
          <a:prstGeom prst="roundRect">
            <a:avLst>
              <a:gd name="adj" fmla="val 6457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76856"/>
            <a:ext cx="59436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JpaMemberRepository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implements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MemberRepository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final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EntityManager em;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save·findById·findByName·findAll 직접 구현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0675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스프링 데이터 JPA — 인터페이스만 만든다</a:t>
            </a:r>
            <a:endParaRPr 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4378452"/>
            <a:ext cx="6309360" cy="1699260"/>
          </a:xfrm>
          <a:prstGeom prst="roundRect">
            <a:avLst>
              <a:gd name="adj" fmla="val 6457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561332"/>
            <a:ext cx="59436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interface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SpringDataJpaMemberRepository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extends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JpaRepository&lt;Member, Long&gt;,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            MemberRepository {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Optional&lt;Member&gt; </a:t>
            </a:r>
            <a:r>
              <a:rPr lang="en-US" sz="1500" dirty="0">
                <a:solidFill>
                  <a:srgbClr val="FFC66D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findByName</a:t>
            </a: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(String name);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828800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JPA: </a:t>
            </a: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EntityManager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클래스를 직접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작성</a:t>
            </a:r>
            <a:endParaRPr lang="ko-KR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894584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스프링 데이터 JPA: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인터페이스만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선언하면 구현체를 스프링이 생성</a:t>
            </a:r>
            <a:endParaRPr lang="ko-KR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3960368"/>
            <a:ext cx="4099255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findByName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처럼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메서드 이름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조회 생성</a:t>
            </a:r>
            <a:endParaRPr lang="ko-KR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5209032"/>
            <a:ext cx="4099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 를 </a:t>
            </a:r>
            <a:r>
              <a:rPr lang="ko-KR" altLang="en-US" sz="2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대체하지 않는다</a:t>
            </a:r>
            <a:r>
              <a:rPr lang="ko-KR" altLang="en-US" sz="2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JPA 위에서 편하게 쓰게 해주는 도구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772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2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10820095" cy="1325880"/>
          </a:xfrm>
          <a:prstGeom prst="roundRect">
            <a:avLst>
              <a:gd name="adj" fmla="val 8276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78308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98424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컨트롤러가 요청을 받고, 세 가지 방식으로 응답</a:t>
            </a:r>
            <a:endParaRPr lang="ko-KR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53288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정적 컨텐츠 · MVC 와 템플릿 · API(@ResponseBody, @RestController)</a:t>
            </a:r>
            <a:endParaRPr lang="ko-KR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291840"/>
            <a:ext cx="10820095" cy="1325880"/>
          </a:xfrm>
          <a:prstGeom prst="roundRect">
            <a:avLst>
              <a:gd name="adj" fmla="val 8276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329184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49300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인터페이스로 역할을 나누고, 생성자로 주입</a:t>
            </a:r>
            <a:endParaRPr lang="ko-KR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404164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private final · 생성자 주입 권장 · 컴포넌트 스캔 + @Bean</a:t>
            </a:r>
            <a:endParaRPr lang="ko-KR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4800600"/>
            <a:ext cx="10820095" cy="1325880"/>
          </a:xfrm>
          <a:prstGeom prst="roundRect">
            <a:avLst>
              <a:gd name="adj" fmla="val 8276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80060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40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500176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2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기술은 SQL 중심에서 객체 중심으로</a:t>
            </a:r>
            <a:endParaRPr lang="ko-KR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5550408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 JDBC → JdbcTemplate·MyBatis → JPA → 스프링 데이터 JPA</a:t>
            </a:r>
            <a:endParaRPr lang="ko-K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퀴즈 1 / 3   ·   O / X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@ResponseBody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를 붙이면 viewResolver 대신 </a:t>
            </a:r>
            <a:r>
              <a:rPr lang="ko-KR" altLang="en-US" sz="3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HttpMessageConverter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 동작한다.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ko-KR" sz="8000" dirty="0"/>
          </a:p>
        </p:txBody>
      </p:sp>
      <p:sp>
        <p:nvSpPr>
          <p:cNvPr id="6" name="Shape 4"/>
          <p:cNvSpPr/>
          <p:nvPr/>
        </p:nvSpPr>
        <p:spPr>
          <a:xfrm>
            <a:off x="6233008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3008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ko-KR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퀴즈 1 / 3   ·   O / X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@ResponseBody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를 붙이면 viewResolver 대신 </a:t>
            </a:r>
            <a:r>
              <a:rPr lang="ko-KR" altLang="en-US" sz="3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HttpMessageConverter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 동작한다.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ko-KR" sz="8000" dirty="0"/>
          </a:p>
        </p:txBody>
      </p:sp>
      <p:sp>
        <p:nvSpPr>
          <p:cNvPr id="6" name="Shape 4"/>
          <p:cNvSpPr/>
          <p:nvPr/>
        </p:nvSpPr>
        <p:spPr>
          <a:xfrm>
            <a:off x="6233008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3008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ko-KR" sz="8000" dirty="0"/>
          </a:p>
        </p:txBody>
      </p:sp>
      <p:sp>
        <p:nvSpPr>
          <p:cNvPr id="8" name="Shape 6"/>
          <p:cNvSpPr/>
          <p:nvPr/>
        </p:nvSpPr>
        <p:spPr>
          <a:xfrm>
            <a:off x="685800" y="4617720"/>
            <a:ext cx="10820095" cy="1314450"/>
          </a:xfrm>
          <a:prstGeom prst="roundRect">
            <a:avLst>
              <a:gd name="adj" fmla="val 8348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873752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</a:t>
            </a:r>
            <a:endParaRPr lang="ko-KR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276088"/>
            <a:ext cx="1008857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뷰를 찾지 않고 HTTP 바디에 직접 쓴다. 문자는 문자 변환기, 객체는 JSON 변환기가 처리한다.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퀴즈 2 / 3   ·   O / X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스프링 빈은 기본적으로 </a:t>
            </a:r>
            <a:r>
              <a:rPr lang="ko-KR" altLang="en-US" sz="3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요청할 때마다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새 객체가 만들어진다.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ko-KR" sz="8000" dirty="0"/>
          </a:p>
        </p:txBody>
      </p:sp>
      <p:sp>
        <p:nvSpPr>
          <p:cNvPr id="6" name="Shape 4"/>
          <p:cNvSpPr/>
          <p:nvPr/>
        </p:nvSpPr>
        <p:spPr>
          <a:xfrm>
            <a:off x="6233008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3008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ko-KR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퀴즈 2 / 3   ·   O / X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스프링 빈은 기본적으로 </a:t>
            </a:r>
            <a:r>
              <a:rPr lang="ko-KR" altLang="en-US" sz="3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요청할 때마다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새 객체가 만들어진다.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</a:t>
            </a:r>
            <a:endParaRPr lang="ko-KR" sz="8000" dirty="0"/>
          </a:p>
        </p:txBody>
      </p:sp>
      <p:sp>
        <p:nvSpPr>
          <p:cNvPr id="6" name="Shape 4"/>
          <p:cNvSpPr/>
          <p:nvPr/>
        </p:nvSpPr>
        <p:spPr>
          <a:xfrm>
            <a:off x="6233008" y="2240280"/>
            <a:ext cx="5272888" cy="2103120"/>
          </a:xfrm>
          <a:prstGeom prst="roundRect">
            <a:avLst>
              <a:gd name="adj" fmla="val 5217"/>
            </a:avLst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33008" y="2240280"/>
            <a:ext cx="52728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8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</a:t>
            </a:r>
            <a:endParaRPr lang="ko-KR" sz="8000" dirty="0"/>
          </a:p>
        </p:txBody>
      </p:sp>
      <p:sp>
        <p:nvSpPr>
          <p:cNvPr id="8" name="Shape 6"/>
          <p:cNvSpPr/>
          <p:nvPr/>
        </p:nvSpPr>
        <p:spPr>
          <a:xfrm>
            <a:off x="685800" y="4617720"/>
            <a:ext cx="10820095" cy="1314450"/>
          </a:xfrm>
          <a:prstGeom prst="roundRect">
            <a:avLst>
              <a:gd name="adj" fmla="val 8348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873752"/>
            <a:ext cx="10088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</a:t>
            </a:r>
            <a:endParaRPr lang="ko-KR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276088"/>
            <a:ext cx="10088575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스프링 빈은 기본이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싱글톤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이다. 하나만 만들어 등록하고, 모든 요청이 같은 인스턴스를 공유한다.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퀴즈 3 / 3   ·   단답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</a:t>
            </a:r>
            <a:r>
              <a:rPr lang="ko-KR" altLang="en-US" sz="3400" b="1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 만든 객체에서 </a:t>
            </a:r>
            <a:r>
              <a:rPr lang="ko-KR" altLang="en-US" sz="3400" b="1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memberService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의 값은?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6309360" cy="2926080"/>
          </a:xfrm>
          <a:prstGeom prst="roundRect">
            <a:avLst>
              <a:gd name="adj" fmla="val 3750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42316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OrderService {   </a:t>
            </a:r>
            <a:r>
              <a:rPr lang="en-US" sz="18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@Service 없음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@Autowired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MemberService memberService;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OrderService orderService = </a:t>
            </a:r>
            <a:r>
              <a:rPr lang="en-US" sz="18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OrderService();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orderService 안의 memberService 는?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퀴즈 3 / 3   ·   단답</a:t>
            </a:r>
            <a:endParaRPr lang="ko-KR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868680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</a:t>
            </a:r>
            <a:r>
              <a:rPr lang="ko-KR" altLang="en-US" sz="3400" b="1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 만든 객체에서 </a:t>
            </a:r>
            <a:r>
              <a:rPr lang="ko-KR" altLang="en-US" sz="3400" b="1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memberService</a:t>
            </a:r>
            <a:r>
              <a:rPr lang="ko-KR" altLang="en-US" sz="3400" b="1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의 값은?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6309360" cy="2926080"/>
          </a:xfrm>
          <a:prstGeom prst="roundRect">
            <a:avLst>
              <a:gd name="adj" fmla="val 3750"/>
            </a:avLst>
          </a:prstGeom>
          <a:solidFill>
            <a:srgbClr val="23262F"/>
          </a:solidFill>
          <a:ln w="12700">
            <a:solidFill>
              <a:srgbClr val="232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42316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public</a:t>
            </a: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class</a:t>
            </a: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OrderService {   </a:t>
            </a:r>
            <a:r>
              <a:rPr lang="en-US" sz="18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@Service 없음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BBB529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@Autowired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private</a:t>
            </a: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MemberService memberService;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OrderService orderService = </a:t>
            </a:r>
            <a:r>
              <a:rPr lang="en-US" sz="1800" dirty="0">
                <a:solidFill>
                  <a:srgbClr val="CC7832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en-US" sz="1800" dirty="0">
                <a:solidFill>
                  <a:srgbClr val="A9B7C6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 OrderService();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08080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// orderService 안의 memberService 는?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06640" y="2240280"/>
            <a:ext cx="4099255" cy="1005840"/>
          </a:xfrm>
          <a:prstGeom prst="roundRect">
            <a:avLst>
              <a:gd name="adj" fmla="val 10909"/>
            </a:avLst>
          </a:prstGeom>
          <a:solidFill>
            <a:srgbClr val="0057FF"/>
          </a:solidFill>
          <a:ln w="12700">
            <a:solidFill>
              <a:srgbClr val="005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2240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</a:t>
            </a:r>
            <a:endParaRPr lang="ko-KR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2240280"/>
            <a:ext cx="2361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null</a:t>
            </a:r>
            <a:endParaRPr lang="ko-KR" sz="3000" dirty="0"/>
          </a:p>
        </p:txBody>
      </p:sp>
      <p:sp>
        <p:nvSpPr>
          <p:cNvPr id="9" name="Shape 7"/>
          <p:cNvSpPr/>
          <p:nvPr/>
        </p:nvSpPr>
        <p:spPr>
          <a:xfrm>
            <a:off x="7406640" y="3520440"/>
            <a:ext cx="4099255" cy="2240280"/>
          </a:xfrm>
          <a:prstGeom prst="roundRect">
            <a:avLst>
              <a:gd name="adj" fmla="val 4898"/>
            </a:avLst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3776472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이유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178808"/>
            <a:ext cx="33677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@Autowired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는 </a:t>
            </a:r>
            <a:r>
              <a:rPr lang="ko-KR" altLang="en-US" sz="1800" b="1" dirty="0">
                <a:solidFill>
                  <a:srgbClr val="005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스프링 빈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에서만 동작한다. 직접 </a:t>
            </a:r>
            <a:r>
              <a:rPr lang="ko-KR" altLang="en-US" sz="1800" dirty="0">
                <a:solidFill>
                  <a:srgbClr val="23262F"/>
                </a:solidFill>
                <a:latin typeface="Consolas" pitchFamily="34" charset="0"/>
                <a:ea typeface="Pretendard" pitchFamily="34" charset="-122"/>
                <a:cs typeface="Consolas" pitchFamily="34" charset="-120"/>
              </a:rPr>
              <a:t>new</a:t>
            </a:r>
            <a:r>
              <a:rPr lang="ko-KR" altLang="en-US" sz="1800" dirty="0">
                <a:solidFill>
                  <a:srgbClr val="2326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 만든 객체는 스프링이 모르니 주입되지 않는다.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김영한의 스프링 입문</dc:title>
  <dc:subject>김영한의 스프링 입문 — 코드로 배우는 스프링 부트, 웹 MVC, DB 접근 기술</dc:subject>
  <dc:creator>이바다</dc:creator>
  <cp:lastModifiedBy>이바다</cp:lastModifiedBy>
  <cp:revision>1</cp:revision>
  <dcterms:created xsi:type="dcterms:W3CDTF">2026-10-04T03:20:39Z</dcterms:created>
  <dcterms:modified xsi:type="dcterms:W3CDTF">2026-10-04T03:20:39Z</dcterms:modified>
</cp:coreProperties>
</file>