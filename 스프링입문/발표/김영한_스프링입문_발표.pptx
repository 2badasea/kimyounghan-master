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 · 0:40 · 누적 0:40]
스프링 입문 발표를 맡은 이바다입니다.
이 강의는 회원 관리 예제 하나를 처음부터 끝까지 키워가면서, 스프링으로 웹 애플리케이션을 만드는 흐름을 얇고 넓게 훑습니다.
오늘은 그 흐름을 세 덩어리로 나눠 보겠습니다. 요청과 응답, 객체와 의존관계, 그리고 DB 접근 기술입니다.
한 문장으로 미리 말씀드리면, 개발자가 직접 하던 일을 스프링에 맡기는 과정입니다.
마지막에 퀴즈 세 문제가 있으니 같이 풀어보시면 좋겠습니다.
── 연출 ──
· "개발자가 직접 하던 일을 스프링에 맡긴다" — 이 말이 발표 전체를 관통합니다. 천천히.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 · 0:50 · 누적 1:30]
먼저 오늘의 지도입니다. 강의 전체가 이 그림 하나를 채워가는 과정이에요.
왼쪽부터 컨트롤러가 요청을 받고, 서비스가 비즈니스 로직을 처리하고, 리포지토리가 DB에 저장합니다. 아래 도메인은 회원 객체입니다.
요구사항은 단순합니다. 회원 ID와 이름, 그리고 등록과 조회.
그런데 하나 기억해주세요. 강의는 데이터 저장소가 아직 정해지지 않았다는 가정으로 시작합니다. 이 가정 때문에 뒤에서 인터페이스와 의존성 주입이 등장합니다.
── 연출 ──
· "저장소가 아직 정해지지 않았다" — 2막(인터페이스·DI)이 필요한 이유입니다. 힘을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[3/21 · 1:00 · 누적 2:30]
첫 번째 덩어리, 요청과 응답입니다. 2장은 브라우저 요청에 응답하는 방법을 세 가지로 나눠 보여줍니다.
아래 카드부터 보시죠. 첫째, 정적 컨텐츠. static 폴더에 있는 HTML 을 가공 없이 그대로 내려줍니다.
둘째, MVC 와 템플릿 엔진. 컨트롤러가 모델에 데이터를 담아 뷰 이름을 돌려주면, 뷰 리졸버라는 스프링의 구성 요소가 그 이름으로 Thymeleaf 템플릿을 찾아 HTML 로 바꿔서 내려줍니다.
셋째, API. 위 코드처럼 @ResponseBody 를 붙이고 객체를 반환하면, 뷰를 찾지 않고 HttpMessageConverter 가 객체를 JSON 으로 바꿔 HTTP 바디에 바로 씁니다.
참고로 같은 이름이면 컨트롤러가 정적 파일보다 우선입니다.
── 연출 ──
· 세 방식은 카드 순서대로, API 는 위 코드를 가리키며 설명하세요.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 · 1:00 · 누적 3:30] 【강의 밖 보충】
여기서 강의에는 없는 내용을 하나 보충하겠습니다.
방금 API 방식에서 메서드마다 @ResponseBody 를 붙였는데요, 실무에서는 오른쪽처럼 클래스에 @RestController 를 붙이는 경우가 많습니다.
@RestController 는 @Controller 에 @ResponseBody 를 합친 애노테이션입니다. 그래서 이 클래스의 모든 메서드는 @ResponseBody 를 따로 붙이지 않아도 반환값이 HTTP 바디로 바로 나갑니다.
역할을 나누면 이렇습니다. 왼쪽 @Controller 는 뷰 이름을 반환하니까 페이지를 이동하는 화면 요청에 주로 씁니다.
오른쪽 @RestController 는 데이터를 반환하니까 AJAX 호출이나 API 처럼 데이터만 주고받는 요청에 주로 씁니다. 둘 다 안에서는 똑같이 서비스를 호출해 비즈니스 로직을 실행하고, 차이는 응답을 화면으로 주느냐, 데이터로 주느냐입니다.
── 연출 ──
· "강의 밖 보충"이라고 먼저 밝히세요.
· 마지막 문장 — 둘 다 서비스를 호출한다, 차이는 응답 형태 — 를 분명히.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 · 1:00 · 누적 4:30]
두 번째 덩어리, 객체와 의존관계입니다. 그 전에 인터페이스부터 짚고 가겠습니다.
위에 적은 것처럼, 인터페이스는 어떤 기능을 할지, 역할만 정의한 것입니다. 왼쪽 SocialJoin 은 "토큰을 받아서 가입시킨다"는 메서드 선언만 있고, 어떻게 하는지는 없어요.
이 인터페이스를 implements 한 클래스는 선언된 메서드를 전부 구현해야 합니다. 하나라도 빠지면 컴파일 오류가 납니다. 오른쪽처럼 카카오 가입과 네이버 가입이 같은 join 을 각자 다르게 구현하는 거죠.
핵심은 왼쪽 아래입니다. 사용하는 쪽은 SocialJoin 이라는 인터페이스만 알고 호출합니다. new KakaoJoin() 을 new NaverJoin() 으로 바꾸기만 하면, 호출하는 코드는 그대로인데 네이버 가입으로 바뀝니다.
강의에서 저장소를 메모리에서 DB 로 바꾸는 것도 이 "갈아끼우기" 원리 그대로입니다.
── 연출 ──
· 오른쪽 두 클래스를 번갈아 가리키며 "같은 역할, 다른 구현"을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 · 0:40 · 누적 5:10]
강의도 같은 방법을 씁니다. 저장소가 아직 정해지지 않았으니, 위 코드처럼 리포지토리를 인터페이스로 먼저 만듭니다.
저장, 아이디로 조회, 이름으로 조회, 전체 조회. 무엇으로 저장할지는 정하지 않고, 무엇을 할 수 있는지만 정한 겁니다.
개발을 멈출 수는 없으니, 아래처럼 HashMap 에 저장하는 가벼운 메모리 구현체로 먼저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[7/21 · 1:20 · 누적 6:30]
서비스를 만들 때도 같은 고민이 나옵니다. 두 코드를 보시죠.
왼쪽은 서비스가 new MemoryMemberRepository() 로 저장소를 직접 만듭니다.
오른쪽은 생성자로 받기만 합니다. 누가 넣어주는지는 서비스가 신경 쓰지 않습니다.
여기서 질문 하나 드릴게요. 오른쪽도 결국 저장소를 바꾸려면 어딘가의 코드는 고쳐야 하지 않을까요? 채팅에 O, X 로 답해주세요.
(5~8초 기다린다 — 채팅)
맞습니다. 어딘가는 고쳐야 합니다. 차이는 어디를 고치느냐입니다.
왼쪽은 구현체를 고르는 코드가 서비스 안에 있습니다. 저장소를 바꾸려면 비즈니스 로직이 들어있는 서비스를 열어서 고쳐야 하고, 이 저장소를 쓰는 서비스가 열 개면 열 군데를 고쳐야 해요.
오른쪽은 그 코드가 서비스 밖으로 나갔습니다. 서비스를 만들어서 넣어주는 쪽, 테스트라면 테스트 코드, 스프링이라면 뒤에서 볼 설정 클래스 한 곳만 바꾸면 됩니다. 서비스 코드는 그대로입니다.
이렇게 필요한 객체를 밖에서 넣어주는 것을 DI, 의존성 주입이라고 합니다. 3장 테스트에서는 개발자가 직접 넣어주고, 4장부터는 스프링이 넣어줍니다.
── 연출 ──
· 질문 후 반드시 기다리세요. 채팅 답을 읽어준 뒤 "어디를 고치느냐"로 넘어갑니다.
· "안에 / 밖으로"를 왼쪽·오른쪽 코드를 번갈아 가리키며.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[8/21 · 0:50 · 누적 7:20] 【강의 밖 보충】
방금 코드에서 필드를 private final 로 선언했는데, 이유가 있습니다.
final 은 생성자에서 딱 한 번 값을 넣으면 이후에 바꿀 수 없다는 뜻입니다. 의존관계가 실행 중에 바뀔 일이 없으니 잠가두는 거죠.
그리고 final 필드를 생성자에서 넣지 않으면 컴파일 오류가 납니다. 실수로 주입을 빠뜨리는 걸 컴파일 단계에서 막아줍니다.
실무에서는 이 생성자를 매번 쓰지 않고, 아래처럼 Lombok 의 @RequiredArgsConstructor 를 클래스에 붙입니다. final 이 붙은 필드만 받는 생성자를 자동으로 만들어줘요. 생성자가 하나뿐이면 @Autowired 도 생략할 수 있어서, 필드 선언 한 줄로 주입이 끝납니다.
참고로 @NoArgsConstructor 는 파라미터 없는 기본 생성자, @AllArgsConstructor 는 모든 필드를 받는 생성자라서 주입 용도와는 다릅니다.
── 연출 ──
· "강의 밖 보충 — Lombok"이라고 먼저 밝히세요.
· @Required / @NoArgs / @AllArgs 의 차이는 한 문장으로만.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[9/21 · 1:20 · 누적 8:40]
의존성을 주입하는 방법은 세 가지가 있습니다. 강의자료 4장에도 나오는 내용입니다.
첫째, 필드 주입. 필드에 @Autowired 를 바로 붙입니다. 코드는 제일 짧은데, 테스트가 어렵습니다.
이 필드는 private 이고 생성자도 setter 도 없죠. 스프링 없이 테스트하려고 new MemberController() 로 만들면 memberService 는 null 이고, 테스트용 객체를 넣어줄 통로가 없습니다. 결국 테스트할 때마다 스프링을 통째로 띄워야 해서 느리고 무거워집니다.
또 필드 주입은 final 을 붙일 수 없어서, 주입이 빠져도 컴파일 때는 모르고 실행 중에 NullPointerException 으로 알게 됩니다.
둘째, setter 주입. setter 메서드로 넣습니다. 그런데 setter 는 public 이라 누구든 나중에 다른 객체로 바꿔버릴 수 있어요.
셋째, 생성자 주입. 객체가 만들어지는 시점에 딱 한 번 넣습니다. 앞에서 본 final 과 함께 쓰면 누락도, 중간 변경도 막을 수 있습니다.
강의자료의 결론은 이 문장입니다. "의존관계가 실행 중에 동적으로 변하는 경우는 거의 없으므로 생성자 주입을 권장한다."
── 연출 ──
· 마지막 강의자료 문장은 그대로 읽으세요.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 · 1:10 · 누적 9:50]
그럼 스프링은 무엇을 넣어줄지 어떻게 알까요? 스프링이 관리하는 객체를 스프링 빈이라고 하는데, 빈을 등록하는 방법이 두 가지입니다.
첫째, 컴포넌트 스캔. 위 코드처럼 클래스에 @Service 를 붙이기만 하면 됩니다. 스프링이 시작할 때 @Component 가 붙은 클래스를 찾아서 자동으로 등록해요.
@Controller, @Service, @Repository 는 안에 @Component 를 품고 있어서 같이 스캔됩니다.
그럼 생성자의 @Autowired 는 무슨 일을 할까요? 순서대로 풀어보겠습니다.
스프링은 시작할 때 @Repository 가 붙은 MemoryMemberRepository 를 객체로 만들어 스프링 컨테이너라는 보관함에 넣어둡니다.
다음으로 MemberService 를 만들려고 보니, 생성자가 MemberRepository 를 달라고 합니다. 스프링은 이 파라미터의 타입을 보고 보관함에서 MemberRepository 타입의 빈을 찾습니다. MemoryMemberRepository 가 이 인터페이스를 구현하고 있으니 그 객체를 꺼내서 생성자에 넣어줍니다.
아래 두 줄이 그 과정입니다. 우리가 직접 쓰던 new MemberService(repo) 를 스프링이 대신 해주는 것, 이걸 자동 연결이라고 합니다.
참고로 이렇게 등록된 빈은 기본이 싱글톤입니다. 하나만 만들어서 모두가 공유해요. 이건 퀴즈로 다시 나옵니다.
── 연출 ──
· @Autowired 설명은 "보관함에 넣는다 → 타입을 본다 → 찾아서 넣는다" 세 단계로 끊어서.
· 아래 개념 코드는 실제 스프링 코드가 아니라 "이런 일을 대신 한다"는 그림이라고 밝히세요.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 · 1:00 · 누적 10:50]
둘째, 자바 코드로 직접 등록하는 방법입니다. @Configuration 클래스 안에 @Bean 메서드를 만들면, 그 메서드가 반환한 객체가 빈으로 등록됩니다.
어떤 구현체를 넣을지가 이 클래스 한 곳에 모여 있다는 게 특징입니다. 강의는 "향후 메모리 리포지토리를 다른 리포지토리로 변경할 예정이므로" 이 방식을 택합니다. 아까 "어딘가는 고쳐야 한다"고 했던 그 어딘가가 바로 여기예요. 저장소를 바꿀 때 이 클래스의 return 한 줄만 바꾸면 되고, 서비스는 그대로입니다.
그럼 실무에서는 어느 쪽을 쓸까요? 둘을 함께 씁니다. 강의자료에도 정형화된 컨트롤러·서비스·리포지토리는 컴포넌트 스캔, 상황에 따라 구현 클래스를 바꿔야 하면 설정으로 등록한다고 나와 있어요.
여기에 실무에서 하나 더하면, 내가 고칠 수 없는 클래스도 @Bean 으로 등록합니다. 외부 라이브러리가 제공하는 객체에는 @Component 를 붙일 수 없으니까요. 비밀번호 암호화 객체나 HTTP 통신 객체 같은 것들이 그렇고, 웹 설정이나 보안 설정 같은 환경설정도 @Configuration 클래스로 모읍니다.
정리하면, 내가 만든 정형화된 클래스는 스캔으로, 설정과 외부 객체와 바꿔 끼울 구현은 @Bean 으로 나눠 씁니다.
── 연출 ──
· "둘을 함께" — 오른쪽 아래 문장을 가리키며 정리하세요.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[12/21 · 0:50 · 누적 11:40]
세 번째 덩어리, DB 접근 기술입니다. 6장에서 드디어 저장소가 정해지는데, 강의는 같은 리포지토리를 기술을 바꿔가며 네 번 다시 만듭니다.
같은 기능, 이름으로 회원 찾기 findByName 이 기술마다 어떻게 다른지 보겠습니다.
왼쪽 순수 JDBC 는 커넥션을 얻고, SQL 을 준비하고, 파라미터를 넣고, 결과를 하나하나 객체로 옮기고, 마지막에 닫는 것까지 전부 직접 합니다. 강의자료에도 "20년 전 이야기이니 참고만 하고 넘어가자"고 적혀 있어요.
오른쪽 JdbcTemplate 은 반복 코드가 사라지고 SQL 과 매핑 규칙만 남습니다. 같은 일인데 네 줄이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[13/21 · 0:50 · 누적 12:30]
강의자료에는 JdbcTemplate 과 MyBatis 가 같은 부류로 소개됩니다. 반복 코드는 없애주지만 SQL 은 직접 쓴다는 점에서요. 왼쪽은 MyBatis 의 일반적인 예시인데, SQL 을 XML 로 분리하고 결과를 객체로 매핑해줍니다.
오른쪽 JPA 는 방향이 다릅니다. 쿼리 안을 보시면 member 테이블이 아니라 Member 객체를 조회하고 있어요. 이걸 JPQL 이라고 합니다.
그리고 저장이나 아이디로 찾기 같은 기본적인 SQL 은 아예 JPA 가 만들어줍니다. em.persist(member) 한 줄이면 insert 가 나가요.
SQL 중심에서 객체 중심으로 바뀌는 지점입니다.
── 연출 ──
· 왼쪽 MyBatis 는 "강의자료에선 이름만 언급, 일반 예시"라고 밝히세요.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 · 0:50 · 누적 13:20]
마지막으로 JPA 와 스프링 데이터 JPA 의 차이입니다. 이름이 비슷해서 헷갈리기 쉬운데요.
위 JPA 는 표준 기술입니다. EntityManager 를 받아서 저장, 조회 같은 메서드를 구현 클래스에 직접 작성합니다.
아래 스프링 데이터 JPA 는 인터페이스만 만듭니다. 구현 클래스가 없어요. JpaRepository 를 상속하면 저장, 조회, 삭제 같은 기본 기능이 들어오고, 실제 구현체는 스프링이 실행할 때 만들어서 빈으로 등록해줍니다.
findByName 처럼 메서드 이름만 규칙에 맞게 지으면 "이름으로 조회" 쿼리까지 만들어줍니다.
중요한 건, 스프링 데이터 JPA 는 JPA 를 대체하는 게 아니라 JPA 위에서 편하게 쓰게 해주는 도구라는 점입니다. 강의자료도 JPA 를 먼저 학습하라고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[15/21 · 0:40 · 누적 14:00]
세 줄로 정리하겠습니다.
하나. 컨트롤러가 요청을 받고, 정적 컨텐츠, 템플릿, API 세 가지 방식으로 응답합니다.
둘. 인터페이스로 역할을 나누고, 필요한 객체는 생성자로 주입받습니다. 그래서 구현체를 바꿀 때 서비스가 아니라 조립하는 한 곳만 고칩니다.
셋. DB 접근 기술은 반복 코드를 줄이는 방향에서, SQL 중심에서 객체 중심으로 옮겨왔습니다.
── 연출 ──
· 세 줄은 천천히. 청중이 받아 적는 구간입니다.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[16/21 · 0:30 · 누적 14:30]
퀴즈 세 문제로 마무리하겠습니다. 첫 번째 문제입니다. O 일까요, X 일까요?
(20~30초 기다린 뒤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[17/21 · 0:50 · 누적 15:20]
정답은 O 입니다.
@ResponseBody 가 붙으면 viewResolver 가 뷰를 찾는 과정을 건너뛰고, HttpMessageConverter 가 반환값을 HTTP 바디에 직접 씁니다.
어떤 변환기가 동작하는지는 반환 타입에 따라 다릅니다. 강의자료 기준으로, 문자열을 반환하면 StringHttpMessageConverter 가 문자 그대로 쓰고, 자바 객체를 반환하면 MappingJackson2HttpMessageConverter 가 Jackson 라이브러리로 객체를 JSON 으로 바꿉니다. 그 밖에 byte 처리용 변환기 등도 기본으로 등록되어 있어요.
정확히는 클라이언트가 보낸 Accept 헤더와 컨트롤러의 반환 타입을 함께 보고 변환기를 고릅니다. 자세한 건 스프링 MVC 강의에서 다룹니다.
── 연출 ──
· 문자열 → String 변환기, 객체 → Jackson(JSON) 변환기. 이 두 줄을 또박또박.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 · 0:30 · 누적 15:50]
두 번째 문제입니다. O 일까요, X 일까요?
(20~30초 기다린 뒤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 · 0:50 · 누적 16:40]
정답은 X 입니다. 스프링 빈은 기본이 싱글톤입니다.
"같은 인스턴스를 공유한다"는 건 이런 뜻입니다. 회원 가입 요청이 동시에 100개 들어와도 MemberService 객체는 딱 하나이고, 100개의 요청이 모두 그 한 객체의 메서드를 호출합니다.
장점은 비용입니다. 요청마다 객체를 새로 만들고 버리면, 요청이 많을수록 생성 비용과 메모리 정리 비용이 계속 쌓입니다. 하나를 만들어 돌려쓰면 그 비용이 들지 않아요.
대신 주의할 점이 하나 있습니다. 모두가 공유하는 객체이니까, 필드에 요청마다 달라지는 값을 저장하면 안 됩니다. 다른 사용자의 값과 섞여요. 그래서 서비스의 필드에는 아까 본 것처럼 private final 의존관계만 둡니다.
싱글톤은 다음 강의, 스프링 핵심 원리에서 깊게 다룹니다.
── 연출 ──
· "100개 요청, 객체는 하나" 비유를 천천히.
· 주의점(필드에 상태 저장 금지)까지 말해야 앞의 private final 과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 · 0:30 · 누적 17:10]
마지막 문제입니다. @Service 가 없는 클래스를 직접 new 로 만들었습니다. 이 객체 안의 memberService 에는 무엇이 들어있을까요?
(20~30초 기다린 뒤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 · 0:50 · 누적 18:00]
정답은 null 입니다. 이 상태로 memberService 를 쓰면 NullPointerException 이 납니다.
강의자료 4장에 이런 주의 문장이 있습니다. "@Autowired 를 통한 DI 는 스프링이 관리하는 객체에서만 동작한다. 스프링 빈으로 등록하지 않고 내가 직접 생성한 객체에서는 동작하지 않는다."
@Autowired 는 스프링이 빈을 만들 때 "여기에 넣어주세요"라고 표시해두는 것뿐입니다. 직접 new 로 만든 객체는 스프링이 존재 자체를 모르니까 넣어줄 기회가 없어요.
그래서 컨트롤러나 서비스는 우리가 new 하지 않고, 스프링에 빈으로 등록해서 스프링에게 받아서 씁니다. 오늘 발표의 처음 문장, 개발자가 하던 일을 스프링에 맡긴다는 게 바로 이겁니다.
들어주셔서 감사합니다.
── 연출 ──
· 강의자료 주의 문장은 그대로 읽으세요.
· 마지막에 첫 슬라이드의 관통 메시지로 돌아가며 닫습니다.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UDY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20095" cy="914400"/>
          </a:xfrm>
          <a:prstGeom prst="rect">
            <a:avLst/>
          </a:prstGeom>
          <a:noFill/>
          <a:ln/>
        </p:spPr>
        <p:txBody>
          <a:bodyPr wrap="square" rtlCol="0"/>
          <a:lstStyle>
            <a:lvl1pPr algn="l" indent="0" marL="0">
              <a:buNone/>
              <a:defRPr lang="en-US" sz="4000" b="1" dirty="0">
                <a:solidFill>
                  <a:srgbClr val="23262F"/>
                </a:solidFill>
                <a:latin typeface="Pretendard" pitchFamily="34" charset="0"/>
                <a:ea typeface="Pretendard" pitchFamily="34" charset="-122"/>
                <a:cs typeface="Pretendard"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UDY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rtlCol="0"/>
          <a:lstStyle>
            <a:lvl1pPr algn="l" indent="0" marL="0">
              <a:buNone/>
              <a:defRPr lang="en-US" sz="3200" b="1" dirty="0">
                <a:solidFill>
                  <a:srgbClr val="23262F"/>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UDY_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737360"/>
            <a:ext cx="10820095" cy="2194560"/>
          </a:xfrm>
          <a:prstGeom prst="rect">
            <a:avLst/>
          </a:prstGeom>
          <a:noFill/>
          <a:ln/>
        </p:spPr>
        <p:txBody>
          <a:bodyPr wrap="square" rtlCol="0"/>
          <a:lstStyle>
            <a:lvl1pPr algn="l" indent="0" marL="0">
              <a:buNone/>
              <a:defRPr lang="en-US" sz="4000" b="1" dirty="0">
                <a:solidFill>
                  <a:srgbClr val="23262F"/>
                </a:solidFill>
                <a:latin typeface="Pretendard" pitchFamily="34" charset="0"/>
                <a:ea typeface="Pretendard" pitchFamily="34" charset="-122"/>
                <a:cs typeface="Pretendard"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UDY_QUIZ">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68680"/>
            <a:ext cx="10820095" cy="1234440"/>
          </a:xfrm>
          <a:prstGeom prst="rect">
            <a:avLst/>
          </a:prstGeom>
          <a:noFill/>
          <a:ln/>
        </p:spPr>
        <p:txBody>
          <a:bodyPr wrap="square" rtlCol="0"/>
          <a:lstStyle>
            <a:lvl1pPr algn="l" indent="0" marL="0">
              <a:buNone/>
              <a:defRPr lang="en-US" sz="3400" b="1" dirty="0">
                <a:solidFill>
                  <a:srgbClr val="23262F"/>
                </a:solidFill>
                <a:latin typeface="Pretendard" pitchFamily="34" charset="0"/>
                <a:ea typeface="Pretendard" pitchFamily="34" charset="-122"/>
                <a:cs typeface="Pretendard"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UDY_PRINCIP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5394960" cy="2194560"/>
          </a:xfrm>
          <a:prstGeom prst="rect">
            <a:avLst/>
          </a:prstGeom>
          <a:noFill/>
          <a:ln/>
        </p:spPr>
        <p:txBody>
          <a:bodyPr wrap="square" rtlCol="0"/>
          <a:lstStyle>
            <a:lvl1pPr algn="l" indent="0" marL="0">
              <a:buNone/>
              <a:defRPr lang="en-US" sz="3600" b="1" dirty="0">
                <a:solidFill>
                  <a:srgbClr val="23262F"/>
                </a:solidFill>
                <a:latin typeface="Pretendard" pitchFamily="34" charset="0"/>
                <a:ea typeface="Pretendard" pitchFamily="34" charset="-122"/>
                <a:cs typeface="Pretendard"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김영한의 스프링 입문 — 코드로 배우는 스프링 부트, 웹 MVC, DB 접근 기술</a:t>
            </a:r>
            <a:endParaRPr lang="ko-KR" sz="1400" dirty="0"/>
          </a:p>
        </p:txBody>
      </p:sp>
      <p:sp>
        <p:nvSpPr>
          <p:cNvPr id="3" name="Text 0"/>
          <p:cNvSpPr/>
          <p:nvPr>
            <p:ph idx="100" type="title" hasCustomPrompt="1"/>
          </p:nvPr>
        </p:nvSpPr>
        <p:spPr>
          <a:xfrm>
            <a:off x="685800" y="914400"/>
            <a:ext cx="10820095" cy="914400"/>
          </a:xfrm>
          <a:prstGeom prst="rect">
            <a:avLst/>
          </a:prstGeom>
          <a:noFill/>
          <a:ln/>
        </p:spPr>
        <p:txBody>
          <a:bodyPr wrap="square" lIns="0" tIns="0" rIns="0" bIns="0" rtlCol="0" anchor="ctr"/>
          <a:lstStyle/>
          <a:p>
            <a:pPr algn="l" indent="0" marL="0">
              <a:buNone/>
            </a:pPr>
            <a:r>
              <a:rPr lang="ko-KR" altLang="en-US" sz="4000" b="1" dirty="0">
                <a:solidFill>
                  <a:srgbClr val="23262F"/>
                </a:solidFill>
                <a:latin typeface="Pretendard" pitchFamily="34" charset="0"/>
                <a:ea typeface="Pretendard" pitchFamily="34" charset="-122"/>
                <a:cs typeface="Pretendard" pitchFamily="34" charset="-120"/>
              </a:rPr>
              <a:t>스프링 입문</a:t>
            </a:r>
            <a:endParaRPr lang="en-US" sz="4000" dirty="0"/>
          </a:p>
        </p:txBody>
      </p:sp>
      <p:sp>
        <p:nvSpPr>
          <p:cNvPr id="4" name="Shape 2"/>
          <p:cNvSpPr/>
          <p:nvPr/>
        </p:nvSpPr>
        <p:spPr>
          <a:xfrm>
            <a:off x="685800" y="2240280"/>
            <a:ext cx="3423818" cy="2514600"/>
          </a:xfrm>
          <a:prstGeom prst="roundRect">
            <a:avLst>
              <a:gd name="adj" fmla="val 4364"/>
            </a:avLst>
          </a:prstGeom>
          <a:solidFill>
            <a:srgbClr val="F8F7F4"/>
          </a:solidFill>
          <a:ln w="12700">
            <a:solidFill>
              <a:srgbClr val="F8F7F4"/>
            </a:solidFill>
            <a:prstDash val="solid"/>
          </a:ln>
        </p:spPr>
      </p:sp>
      <p:sp>
        <p:nvSpPr>
          <p:cNvPr id="5" name="Text 3"/>
          <p:cNvSpPr txBox="1"/>
          <p:nvPr/>
        </p:nvSpPr>
        <p:spPr>
          <a:xfrm>
            <a:off x="1005840"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01</a:t>
            </a:r>
            <a:endParaRPr lang="ko-KR" sz="4000" dirty="0"/>
          </a:p>
        </p:txBody>
      </p:sp>
      <p:sp>
        <p:nvSpPr>
          <p:cNvPr id="6" name="Text 4"/>
          <p:cNvSpPr txBox="1"/>
          <p:nvPr/>
        </p:nvSpPr>
        <p:spPr>
          <a:xfrm>
            <a:off x="1005840"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pitchFamily="34" charset="0"/>
                <a:ea typeface="Pretendard" pitchFamily="34" charset="-122"/>
                <a:cs typeface="Pretendard" pitchFamily="34" charset="-120"/>
              </a:rPr>
              <a:t>요청과 응답</a:t>
            </a:r>
            <a:endParaRPr lang="ko-KR" sz="2000" dirty="0"/>
          </a:p>
        </p:txBody>
      </p:sp>
      <p:sp>
        <p:nvSpPr>
          <p:cNvPr id="7" name="Text 5"/>
          <p:cNvSpPr txBox="1"/>
          <p:nvPr/>
        </p:nvSpPr>
        <p:spPr>
          <a:xfrm>
            <a:off x="1005840"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브라우저 요청이 화면이 되기까지</a:t>
            </a:r>
            <a:endParaRPr lang="ko-KR" sz="1400" dirty="0"/>
          </a:p>
        </p:txBody>
      </p:sp>
      <p:sp>
        <p:nvSpPr>
          <p:cNvPr id="8" name="Shape 6"/>
          <p:cNvSpPr/>
          <p:nvPr/>
        </p:nvSpPr>
        <p:spPr>
          <a:xfrm>
            <a:off x="4383938" y="2240280"/>
            <a:ext cx="3423818" cy="2514600"/>
          </a:xfrm>
          <a:prstGeom prst="roundRect">
            <a:avLst>
              <a:gd name="adj" fmla="val 4364"/>
            </a:avLst>
          </a:prstGeom>
          <a:solidFill>
            <a:srgbClr val="F8F7F4"/>
          </a:solidFill>
          <a:ln w="12700">
            <a:solidFill>
              <a:srgbClr val="F8F7F4"/>
            </a:solidFill>
            <a:prstDash val="solid"/>
          </a:ln>
        </p:spPr>
      </p:sp>
      <p:sp>
        <p:nvSpPr>
          <p:cNvPr id="9" name="Text 7"/>
          <p:cNvSpPr txBox="1"/>
          <p:nvPr/>
        </p:nvSpPr>
        <p:spPr>
          <a:xfrm>
            <a:off x="4703978"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02</a:t>
            </a:r>
            <a:endParaRPr lang="ko-KR" sz="4000" dirty="0"/>
          </a:p>
        </p:txBody>
      </p:sp>
      <p:sp>
        <p:nvSpPr>
          <p:cNvPr id="10" name="Text 8"/>
          <p:cNvSpPr txBox="1"/>
          <p:nvPr/>
        </p:nvSpPr>
        <p:spPr>
          <a:xfrm>
            <a:off x="4703978"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pitchFamily="34" charset="0"/>
                <a:ea typeface="Pretendard" pitchFamily="34" charset="-122"/>
                <a:cs typeface="Pretendard" pitchFamily="34" charset="-120"/>
              </a:rPr>
              <a:t>객체와 의존관계</a:t>
            </a:r>
            <a:endParaRPr lang="ko-KR" sz="2000" dirty="0"/>
          </a:p>
        </p:txBody>
      </p:sp>
      <p:sp>
        <p:nvSpPr>
          <p:cNvPr id="11" name="Text 9"/>
          <p:cNvSpPr txBox="1"/>
          <p:nvPr/>
        </p:nvSpPr>
        <p:spPr>
          <a:xfrm>
            <a:off x="4703978"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객체는 누가 만들고 누가 연결하나</a:t>
            </a:r>
            <a:endParaRPr lang="ko-KR" sz="1400" dirty="0"/>
          </a:p>
        </p:txBody>
      </p:sp>
      <p:sp>
        <p:nvSpPr>
          <p:cNvPr id="12" name="Shape 10"/>
          <p:cNvSpPr/>
          <p:nvPr/>
        </p:nvSpPr>
        <p:spPr>
          <a:xfrm>
            <a:off x="8082077" y="2240280"/>
            <a:ext cx="3423818" cy="2514600"/>
          </a:xfrm>
          <a:prstGeom prst="roundRect">
            <a:avLst>
              <a:gd name="adj" fmla="val 4364"/>
            </a:avLst>
          </a:prstGeom>
          <a:solidFill>
            <a:srgbClr val="F8F7F4"/>
          </a:solidFill>
          <a:ln w="12700">
            <a:solidFill>
              <a:srgbClr val="F8F7F4"/>
            </a:solidFill>
            <a:prstDash val="solid"/>
          </a:ln>
        </p:spPr>
      </p:sp>
      <p:sp>
        <p:nvSpPr>
          <p:cNvPr id="13" name="Text 11"/>
          <p:cNvSpPr txBox="1"/>
          <p:nvPr/>
        </p:nvSpPr>
        <p:spPr>
          <a:xfrm>
            <a:off x="8402117"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03</a:t>
            </a:r>
            <a:endParaRPr lang="ko-KR" sz="4000" dirty="0"/>
          </a:p>
        </p:txBody>
      </p:sp>
      <p:sp>
        <p:nvSpPr>
          <p:cNvPr id="14" name="Text 12"/>
          <p:cNvSpPr txBox="1"/>
          <p:nvPr/>
        </p:nvSpPr>
        <p:spPr>
          <a:xfrm>
            <a:off x="8402117"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pitchFamily="34" charset="0"/>
                <a:ea typeface="Pretendard" pitchFamily="34" charset="-122"/>
                <a:cs typeface="Pretendard" pitchFamily="34" charset="-120"/>
              </a:rPr>
              <a:t>DB 접근 기술</a:t>
            </a:r>
            <a:endParaRPr lang="ko-KR" sz="2000" dirty="0"/>
          </a:p>
        </p:txBody>
      </p:sp>
      <p:sp>
        <p:nvSpPr>
          <p:cNvPr id="15" name="Text 13"/>
          <p:cNvSpPr txBox="1"/>
          <p:nvPr/>
        </p:nvSpPr>
        <p:spPr>
          <a:xfrm>
            <a:off x="8402117"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같은 조회, 다섯 가지 방법</a:t>
            </a:r>
            <a:endParaRPr lang="ko-KR" sz="1400" dirty="0"/>
          </a:p>
        </p:txBody>
      </p:sp>
      <p:sp>
        <p:nvSpPr>
          <p:cNvPr id="16" name="Text 14"/>
          <p:cNvSpPr txBox="1"/>
          <p:nvPr/>
        </p:nvSpPr>
        <p:spPr>
          <a:xfrm>
            <a:off x="685800" y="5486400"/>
            <a:ext cx="10820095" cy="365760"/>
          </a:xfrm>
          <a:prstGeom prst="rect">
            <a:avLst/>
          </a:prstGeom>
          <a:noFill/>
          <a:ln/>
        </p:spPr>
        <p:txBody>
          <a:bodyPr wrap="square" lIns="0" tIns="0" rIns="0" bIns="0" rtlCol="0" anchor="t"/>
          <a:lstStyle/>
          <a:p>
            <a:pPr indent="0" marL="0">
              <a:lnSpc>
                <a:spcPct val="110000"/>
              </a:lnSpc>
              <a:buNone/>
            </a:pPr>
            <a:r>
              <a:rPr lang="ko-KR" altLang="en-US" sz="1600" b="1" dirty="0">
                <a:solidFill>
                  <a:srgbClr val="6B7280"/>
                </a:solidFill>
                <a:latin typeface="Pretendard" pitchFamily="34" charset="0"/>
                <a:ea typeface="Pretendard" pitchFamily="34" charset="-122"/>
                <a:cs typeface="Pretendard" pitchFamily="34" charset="-120"/>
              </a:rPr>
              <a:t>+ 마지막에 퀴즈 3문제</a:t>
            </a:r>
            <a:endParaRPr lang="ko-KR" sz="1600" dirty="0"/>
          </a:p>
        </p:txBody>
      </p:sp>
      <p:sp>
        <p:nvSpPr>
          <p:cNvPr id="17" name="Text 15"/>
          <p:cNvSpPr txBox="1"/>
          <p:nvPr/>
        </p:nvSpPr>
        <p:spPr>
          <a:xfrm>
            <a:off x="685800" y="6126480"/>
            <a:ext cx="10820095"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pitchFamily="34" charset="0"/>
                <a:ea typeface="Pretendard" pitchFamily="34" charset="-122"/>
                <a:cs typeface="Pretendard" pitchFamily="34" charset="-120"/>
              </a:rPr>
              <a:t>이바다</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전체 흐름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회원 관리 예제 구조</a:t>
            </a:r>
            <a:endParaRPr lang="en-US" sz="3200" dirty="0"/>
          </a:p>
        </p:txBody>
      </p:sp>
      <p:sp>
        <p:nvSpPr>
          <p:cNvPr id="4" name="Shape 2"/>
          <p:cNvSpPr/>
          <p:nvPr/>
        </p:nvSpPr>
        <p:spPr>
          <a:xfrm>
            <a:off x="685800" y="1783080"/>
            <a:ext cx="6766560" cy="4023360"/>
          </a:xfrm>
          <a:prstGeom prst="roundRect">
            <a:avLst>
              <a:gd name="adj" fmla="val 2727"/>
            </a:avLst>
          </a:prstGeom>
          <a:solidFill>
            <a:srgbClr val="F8F7F4"/>
          </a:solidFill>
          <a:ln w="12700">
            <a:solidFill>
              <a:srgbClr val="F8F7F4"/>
            </a:solidFill>
            <a:prstDash val="solid"/>
          </a:ln>
        </p:spPr>
      </p:sp>
      <p:pic>
        <p:nvPicPr>
          <p:cNvPr id="5" name="Image 0" descr="컨트롤러, 서비스, 리포지토리, DB, 도메인 계층 구조">    </p:cNvPr>
          <p:cNvPicPr>
            <a:picLocks noChangeAspect="1"/>
          </p:cNvPicPr>
          <p:nvPr/>
        </p:nvPicPr>
        <p:blipFill>
          <a:blip r:embed="rId1"/>
          <a:stretch>
            <a:fillRect/>
          </a:stretch>
        </p:blipFill>
        <p:spPr>
          <a:xfrm>
            <a:off x="868680" y="2707913"/>
            <a:ext cx="6400800" cy="2173694"/>
          </a:xfrm>
          <a:prstGeom prst="rect">
            <a:avLst/>
          </a:prstGeom>
        </p:spPr>
      </p:pic>
      <p:sp>
        <p:nvSpPr>
          <p:cNvPr id="6" name="Text 3"/>
          <p:cNvSpPr txBox="1"/>
          <p:nvPr/>
        </p:nvSpPr>
        <p:spPr>
          <a:xfrm>
            <a:off x="685800" y="5879592"/>
            <a:ext cx="6766560"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pitchFamily="34" charset="0"/>
                <a:ea typeface="Pretendard" pitchFamily="34" charset="-122"/>
                <a:cs typeface="Pretendard" pitchFamily="34" charset="-120"/>
              </a:rPr>
              <a:t>출처: 강의자료 3장 — 일반적인 웹 애플리케이션 계층 구조</a:t>
            </a:r>
            <a:endParaRPr lang="ko-KR" sz="1200" dirty="0"/>
          </a:p>
        </p:txBody>
      </p:sp>
      <p:sp>
        <p:nvSpPr>
          <p:cNvPr id="7" name="Text 4"/>
          <p:cNvSpPr txBox="1"/>
          <p:nvPr/>
        </p:nvSpPr>
        <p:spPr>
          <a:xfrm>
            <a:off x="7863840" y="197739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b="1" dirty="0">
                <a:solidFill>
                  <a:srgbClr val="0057FF"/>
                </a:solidFill>
                <a:latin typeface="Pretendard" pitchFamily="34" charset="0"/>
                <a:ea typeface="Pretendard" pitchFamily="34" charset="-122"/>
                <a:cs typeface="Pretendard" pitchFamily="34" charset="-120"/>
              </a:rPr>
              <a:t>컨트롤러</a:t>
            </a:r>
            <a:r>
              <a:rPr lang="ko-KR" altLang="en-US" sz="1800" dirty="0">
                <a:solidFill>
                  <a:srgbClr val="23262F"/>
                </a:solidFill>
                <a:latin typeface="Pretendard" pitchFamily="34" charset="0"/>
                <a:ea typeface="Pretendard" pitchFamily="34" charset="-122"/>
                <a:cs typeface="Pretendard" pitchFamily="34" charset="-120"/>
              </a:rPr>
              <a:t> — 요청을 받고 응답을 돌려준다</a:t>
            </a:r>
            <a:endParaRPr lang="ko-KR" sz="1800" dirty="0"/>
          </a:p>
        </p:txBody>
      </p:sp>
      <p:sp>
        <p:nvSpPr>
          <p:cNvPr id="8" name="Text 5"/>
          <p:cNvSpPr txBox="1"/>
          <p:nvPr/>
        </p:nvSpPr>
        <p:spPr>
          <a:xfrm>
            <a:off x="7863840" y="298323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b="1" dirty="0">
                <a:solidFill>
                  <a:srgbClr val="0057FF"/>
                </a:solidFill>
                <a:latin typeface="Pretendard" pitchFamily="34" charset="0"/>
                <a:ea typeface="Pretendard" pitchFamily="34" charset="-122"/>
                <a:cs typeface="Pretendard" pitchFamily="34" charset="-120"/>
              </a:rPr>
              <a:t>서비스</a:t>
            </a:r>
            <a:r>
              <a:rPr lang="ko-KR" altLang="en-US" sz="1800" dirty="0">
                <a:solidFill>
                  <a:srgbClr val="23262F"/>
                </a:solidFill>
                <a:latin typeface="Pretendard" pitchFamily="34" charset="0"/>
                <a:ea typeface="Pretendard" pitchFamily="34" charset="-122"/>
                <a:cs typeface="Pretendard" pitchFamily="34" charset="-120"/>
              </a:rPr>
              <a:t> — 핵심 비즈니스 로직 (중복 회원 검증)</a:t>
            </a:r>
            <a:endParaRPr lang="ko-KR" sz="1800" dirty="0"/>
          </a:p>
        </p:txBody>
      </p:sp>
      <p:sp>
        <p:nvSpPr>
          <p:cNvPr id="9" name="Text 6"/>
          <p:cNvSpPr txBox="1"/>
          <p:nvPr/>
        </p:nvSpPr>
        <p:spPr>
          <a:xfrm>
            <a:off x="7863840" y="398907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b="1" dirty="0">
                <a:solidFill>
                  <a:srgbClr val="0057FF"/>
                </a:solidFill>
                <a:latin typeface="Pretendard" pitchFamily="34" charset="0"/>
                <a:ea typeface="Pretendard" pitchFamily="34" charset="-122"/>
                <a:cs typeface="Pretendard" pitchFamily="34" charset="-120"/>
              </a:rPr>
              <a:t>리포지토리</a:t>
            </a:r>
            <a:r>
              <a:rPr lang="ko-KR" altLang="en-US" sz="1800" dirty="0">
                <a:solidFill>
                  <a:srgbClr val="23262F"/>
                </a:solidFill>
                <a:latin typeface="Pretendard" pitchFamily="34" charset="0"/>
                <a:ea typeface="Pretendard" pitchFamily="34" charset="-122"/>
                <a:cs typeface="Pretendard" pitchFamily="34" charset="-120"/>
              </a:rPr>
              <a:t> — DB에 저장하고 조회한다</a:t>
            </a:r>
            <a:endParaRPr lang="ko-KR" sz="1800" dirty="0"/>
          </a:p>
        </p:txBody>
      </p:sp>
      <p:sp>
        <p:nvSpPr>
          <p:cNvPr id="10" name="Text 7"/>
          <p:cNvSpPr txBox="1"/>
          <p:nvPr/>
        </p:nvSpPr>
        <p:spPr>
          <a:xfrm>
            <a:off x="7863840" y="5149215"/>
            <a:ext cx="3642055" cy="308610"/>
          </a:xfrm>
          <a:prstGeom prst="rect">
            <a:avLst/>
          </a:prstGeom>
          <a:noFill/>
          <a:ln/>
        </p:spPr>
        <p:txBody>
          <a:bodyPr wrap="square" lIns="0" tIns="0" rIns="0" bIns="0" rtlCol="0" anchor="ctr"/>
          <a:lstStyle/>
          <a:p>
            <a:pPr marL="203200" indent="-203200">
              <a:lnSpc>
                <a:spcPct val="110000"/>
              </a:lnSpc>
              <a:buSzPct val="100000"/>
              <a:buChar char="•"/>
            </a:pPr>
            <a:r>
              <a:rPr lang="ko-KR" altLang="en-US" sz="1800" b="1" dirty="0">
                <a:solidFill>
                  <a:srgbClr val="0057FF"/>
                </a:solidFill>
                <a:latin typeface="Pretendard" pitchFamily="34" charset="0"/>
                <a:ea typeface="Pretendard" pitchFamily="34" charset="-122"/>
                <a:cs typeface="Pretendard" pitchFamily="34" charset="-120"/>
              </a:rPr>
              <a:t>도메인</a:t>
            </a:r>
            <a:r>
              <a:rPr lang="ko-KR" altLang="en-US" sz="1800" dirty="0">
                <a:solidFill>
                  <a:srgbClr val="23262F"/>
                </a:solidFill>
                <a:latin typeface="Pretendard" pitchFamily="34" charset="0"/>
                <a:ea typeface="Pretendard" pitchFamily="34" charset="-122"/>
                <a:cs typeface="Pretendard" pitchFamily="34" charset="-120"/>
              </a:rPr>
              <a:t> — 회원(Member) 객체</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01  요청과 응답</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응답 방식 세 가지</a:t>
            </a:r>
            <a:endParaRPr lang="en-US" sz="3200" dirty="0"/>
          </a:p>
        </p:txBody>
      </p:sp>
      <p:sp>
        <p:nvSpPr>
          <p:cNvPr id="4" name="Text 2"/>
          <p:cNvSpPr txBox="1"/>
          <p:nvPr/>
        </p:nvSpPr>
        <p:spPr>
          <a:xfrm>
            <a:off x="685800" y="1783080"/>
            <a:ext cx="10820095"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API 방식 — 객체를 반환하면 JSON 이 된다</a:t>
            </a:r>
            <a:endParaRPr lang="ko-KR" sz="1200" dirty="0"/>
          </a:p>
        </p:txBody>
      </p:sp>
      <p:sp>
        <p:nvSpPr>
          <p:cNvPr id="5" name="Shape 3"/>
          <p:cNvSpPr/>
          <p:nvPr/>
        </p:nvSpPr>
        <p:spPr>
          <a:xfrm>
            <a:off x="685800" y="2093976"/>
            <a:ext cx="10820095" cy="2357120"/>
          </a:xfrm>
          <a:prstGeom prst="roundRect">
            <a:avLst>
              <a:gd name="adj" fmla="val 4655"/>
            </a:avLst>
          </a:prstGeom>
          <a:solidFill>
            <a:srgbClr val="23262F"/>
          </a:solidFill>
          <a:ln w="12700">
            <a:solidFill>
              <a:srgbClr val="23262F"/>
            </a:solidFill>
            <a:prstDash val="solid"/>
          </a:ln>
        </p:spPr>
      </p:sp>
      <p:sp>
        <p:nvSpPr>
          <p:cNvPr id="6" name="Text 4"/>
          <p:cNvSpPr txBox="1"/>
          <p:nvPr/>
        </p:nvSpPr>
        <p:spPr>
          <a:xfrm>
            <a:off x="868680" y="2276856"/>
            <a:ext cx="10454335" cy="1991360"/>
          </a:xfrm>
          <a:prstGeom prst="rect">
            <a:avLst/>
          </a:prstGeom>
          <a:noFill/>
          <a:ln/>
        </p:spPr>
        <p:txBody>
          <a:bodyPr wrap="square" lIns="0" tIns="0" rIns="0" bIns="0" rtlCol="0" anchor="t"/>
          <a:lstStyle/>
          <a:p>
            <a:pPr indent="0" marL="0">
              <a:lnSpc>
                <a:spcPct val="120000"/>
              </a:lnSpc>
              <a:buNone/>
            </a:pPr>
            <a:r>
              <a:rPr lang="en-US" sz="1600" dirty="0">
                <a:solidFill>
                  <a:srgbClr val="BBB529"/>
                </a:solidFill>
                <a:latin typeface="Consolas" pitchFamily="34" charset="0"/>
                <a:ea typeface="Pretendard" pitchFamily="34" charset="-122"/>
                <a:cs typeface="Consolas" pitchFamily="34" charset="-120"/>
              </a:rPr>
              <a:t>@GetMapping</a:t>
            </a:r>
            <a:r>
              <a:rPr lang="en-US" sz="1600" dirty="0">
                <a:solidFill>
                  <a:srgbClr val="A9B7C6"/>
                </a:solidFill>
                <a:latin typeface="Consolas" pitchFamily="34" charset="0"/>
                <a:ea typeface="Pretendard" pitchFamily="34" charset="-122"/>
                <a:cs typeface="Consolas" pitchFamily="34" charset="-120"/>
              </a:rPr>
              <a:t>(</a:t>
            </a:r>
            <a:r>
              <a:rPr lang="en-US" sz="1600" dirty="0">
                <a:solidFill>
                  <a:srgbClr val="6A8759"/>
                </a:solidFill>
                <a:latin typeface="Consolas" pitchFamily="34" charset="0"/>
                <a:ea typeface="Pretendard" pitchFamily="34" charset="-122"/>
                <a:cs typeface="Consolas" pitchFamily="34" charset="-120"/>
              </a:rPr>
              <a:t>"hello-api"</a:t>
            </a:r>
            <a:r>
              <a:rPr lang="en-US" sz="1600" dirty="0">
                <a:solidFill>
                  <a:srgbClr val="A9B7C6"/>
                </a:solidFill>
                <a:latin typeface="Consolas" pitchFamily="34" charset="0"/>
                <a:ea typeface="Pretendard" pitchFamily="34" charset="-122"/>
                <a:cs typeface="Consolas" pitchFamily="34" charset="-120"/>
              </a:rPr>
              <a:t>)</a:t>
            </a:r>
            <a:endParaRPr lang="en-US" sz="1600" dirty="0"/>
          </a:p>
          <a:p>
            <a:pPr indent="0" marL="0">
              <a:lnSpc>
                <a:spcPct val="120000"/>
              </a:lnSpc>
              <a:buNone/>
            </a:pPr>
            <a:r>
              <a:rPr lang="en-US" sz="1600" dirty="0">
                <a:solidFill>
                  <a:srgbClr val="BBB529"/>
                </a:solidFill>
                <a:latin typeface="Consolas" pitchFamily="34" charset="0"/>
                <a:ea typeface="Pretendard" pitchFamily="34" charset="-122"/>
                <a:cs typeface="Consolas" pitchFamily="34" charset="-120"/>
              </a:rPr>
              <a:t>@ResponseBody</a:t>
            </a:r>
            <a:endParaRPr lang="en-US" sz="1600" dirty="0"/>
          </a:p>
          <a:p>
            <a:pPr indent="0" marL="0">
              <a:lnSpc>
                <a:spcPct val="120000"/>
              </a:lnSpc>
              <a:buNone/>
            </a:pP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Hello </a:t>
            </a:r>
            <a:r>
              <a:rPr lang="en-US" sz="1600" dirty="0">
                <a:solidFill>
                  <a:srgbClr val="FFC66D"/>
                </a:solidFill>
                <a:latin typeface="Consolas" pitchFamily="34" charset="0"/>
                <a:ea typeface="Pretendard" pitchFamily="34" charset="-122"/>
                <a:cs typeface="Consolas" pitchFamily="34" charset="-120"/>
              </a:rPr>
              <a:t>helloApi</a:t>
            </a:r>
            <a:r>
              <a:rPr lang="en-US" sz="1600" dirty="0">
                <a:solidFill>
                  <a:srgbClr val="A9B7C6"/>
                </a:solidFill>
                <a:latin typeface="Consolas" pitchFamily="34" charset="0"/>
                <a:ea typeface="Pretendard" pitchFamily="34" charset="-122"/>
                <a:cs typeface="Consolas" pitchFamily="34" charset="-120"/>
              </a:rPr>
              <a:t>(</a:t>
            </a:r>
            <a:r>
              <a:rPr lang="en-US" sz="1600" dirty="0">
                <a:solidFill>
                  <a:srgbClr val="BBB529"/>
                </a:solidFill>
                <a:latin typeface="Consolas" pitchFamily="34" charset="0"/>
                <a:ea typeface="Pretendard" pitchFamily="34" charset="-122"/>
                <a:cs typeface="Consolas" pitchFamily="34" charset="-120"/>
              </a:rPr>
              <a:t>@RequestParam</a:t>
            </a:r>
            <a:r>
              <a:rPr lang="en-US" sz="1600" dirty="0">
                <a:solidFill>
                  <a:srgbClr val="A9B7C6"/>
                </a:solidFill>
                <a:latin typeface="Consolas" pitchFamily="34" charset="0"/>
                <a:ea typeface="Pretendard" pitchFamily="34" charset="-122"/>
                <a:cs typeface="Consolas" pitchFamily="34" charset="-120"/>
              </a:rPr>
              <a:t>(</a:t>
            </a:r>
            <a:r>
              <a:rPr lang="en-US" sz="1600" dirty="0">
                <a:solidFill>
                  <a:srgbClr val="6A8759"/>
                </a:solidFill>
                <a:latin typeface="Consolas" pitchFamily="34" charset="0"/>
                <a:ea typeface="Pretendard" pitchFamily="34" charset="-122"/>
                <a:cs typeface="Consolas" pitchFamily="34" charset="-120"/>
              </a:rPr>
              <a:t>"name"</a:t>
            </a:r>
            <a:r>
              <a:rPr lang="en-US" sz="1600" dirty="0">
                <a:solidFill>
                  <a:srgbClr val="A9B7C6"/>
                </a:solidFill>
                <a:latin typeface="Consolas" pitchFamily="34" charset="0"/>
                <a:ea typeface="Pretendard" pitchFamily="34" charset="-122"/>
                <a:cs typeface="Consolas" pitchFamily="34" charset="-120"/>
              </a:rPr>
              <a:t>) String name) {</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Hello hello = </a:t>
            </a:r>
            <a:r>
              <a:rPr lang="en-US" sz="1600" dirty="0">
                <a:solidFill>
                  <a:srgbClr val="CC7832"/>
                </a:solidFill>
                <a:latin typeface="Consolas" pitchFamily="34" charset="0"/>
                <a:ea typeface="Pretendard" pitchFamily="34" charset="-122"/>
                <a:cs typeface="Consolas" pitchFamily="34" charset="-120"/>
              </a:rPr>
              <a:t>new</a:t>
            </a:r>
            <a:r>
              <a:rPr lang="en-US" sz="1600" dirty="0">
                <a:solidFill>
                  <a:srgbClr val="A9B7C6"/>
                </a:solidFill>
                <a:latin typeface="Consolas" pitchFamily="34" charset="0"/>
                <a:ea typeface="Pretendard" pitchFamily="34" charset="-122"/>
                <a:cs typeface="Consolas" pitchFamily="34" charset="-120"/>
              </a:rPr>
              <a:t> Hello();</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hello.</a:t>
            </a:r>
            <a:r>
              <a:rPr lang="en-US" sz="1600" dirty="0">
                <a:solidFill>
                  <a:srgbClr val="FFC66D"/>
                </a:solidFill>
                <a:latin typeface="Consolas" pitchFamily="34" charset="0"/>
                <a:ea typeface="Pretendard" pitchFamily="34" charset="-122"/>
                <a:cs typeface="Consolas" pitchFamily="34" charset="-120"/>
              </a:rPr>
              <a:t>setName</a:t>
            </a:r>
            <a:r>
              <a:rPr lang="en-US" sz="1600" dirty="0">
                <a:solidFill>
                  <a:srgbClr val="A9B7C6"/>
                </a:solidFill>
                <a:latin typeface="Consolas" pitchFamily="34" charset="0"/>
                <a:ea typeface="Pretendard" pitchFamily="34" charset="-122"/>
                <a:cs typeface="Consolas" pitchFamily="34" charset="-120"/>
              </a:rPr>
              <a:t>(name);</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return</a:t>
            </a:r>
            <a:r>
              <a:rPr lang="en-US" sz="1600" dirty="0">
                <a:solidFill>
                  <a:srgbClr val="A9B7C6"/>
                </a:solidFill>
                <a:latin typeface="Consolas" pitchFamily="34" charset="0"/>
                <a:ea typeface="Pretendard" pitchFamily="34" charset="-122"/>
                <a:cs typeface="Consolas" pitchFamily="34" charset="-120"/>
              </a:rPr>
              <a:t> hello;    </a:t>
            </a:r>
            <a:r>
              <a:rPr lang="en-US" sz="1600" dirty="0">
                <a:solidFill>
                  <a:srgbClr val="808080"/>
                </a:solidFill>
                <a:latin typeface="Consolas" pitchFamily="34" charset="0"/>
                <a:ea typeface="Pretendard" pitchFamily="34" charset="-122"/>
                <a:cs typeface="Consolas" pitchFamily="34" charset="-120"/>
              </a:rPr>
              <a:t>// → {"name":"spring"}</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a:t>
            </a:r>
            <a:endParaRPr lang="en-US" sz="1600" dirty="0"/>
          </a:p>
        </p:txBody>
      </p:sp>
      <p:sp>
        <p:nvSpPr>
          <p:cNvPr id="7" name="Shape 5"/>
          <p:cNvSpPr/>
          <p:nvPr/>
        </p:nvSpPr>
        <p:spPr>
          <a:xfrm>
            <a:off x="685800" y="4754880"/>
            <a:ext cx="3423818" cy="1417320"/>
          </a:xfrm>
          <a:prstGeom prst="roundRect">
            <a:avLst>
              <a:gd name="adj" fmla="val 7742"/>
            </a:avLst>
          </a:prstGeom>
          <a:solidFill>
            <a:srgbClr val="F8F7F4"/>
          </a:solidFill>
          <a:ln w="12700">
            <a:solidFill>
              <a:srgbClr val="F8F7F4"/>
            </a:solidFill>
            <a:prstDash val="solid"/>
          </a:ln>
        </p:spPr>
      </p:sp>
      <p:sp>
        <p:nvSpPr>
          <p:cNvPr id="8" name="Text 6"/>
          <p:cNvSpPr txBox="1"/>
          <p:nvPr/>
        </p:nvSpPr>
        <p:spPr>
          <a:xfrm>
            <a:off x="960120"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정적 컨텐츠</a:t>
            </a:r>
            <a:endParaRPr lang="ko-KR" sz="1700" dirty="0"/>
          </a:p>
        </p:txBody>
      </p:sp>
      <p:sp>
        <p:nvSpPr>
          <p:cNvPr id="9" name="Text 7"/>
          <p:cNvSpPr txBox="1"/>
          <p:nvPr/>
        </p:nvSpPr>
        <p:spPr>
          <a:xfrm>
            <a:off x="960120" y="5468112"/>
            <a:ext cx="2875178" cy="548640"/>
          </a:xfrm>
          <a:prstGeom prst="rect">
            <a:avLst/>
          </a:prstGeom>
          <a:noFill/>
          <a:ln/>
        </p:spPr>
        <p:txBody>
          <a:bodyPr wrap="square" lIns="0" tIns="0" rIns="0" bIns="0" rtlCol="0" anchor="t"/>
          <a:lstStyle/>
          <a:p>
            <a:pPr indent="0" marL="0">
              <a:lnSpc>
                <a:spcPct val="110000"/>
              </a:lnSpc>
              <a:buNone/>
            </a:pPr>
            <a:r>
              <a:rPr lang="ko-KR" altLang="en-US" sz="1600" dirty="0">
                <a:solidFill>
                  <a:srgbClr val="6B7280"/>
                </a:solidFill>
                <a:latin typeface="Pretendard" pitchFamily="34" charset="0"/>
                <a:ea typeface="Pretendard" pitchFamily="34" charset="-122"/>
                <a:cs typeface="Pretendard" pitchFamily="34" charset="-120"/>
              </a:rPr>
              <a:t>static 폴더의 HTML 파일을 </a:t>
            </a:r>
            <a:r>
              <a:rPr lang="ko-KR" altLang="en-US" sz="1600" b="1" dirty="0">
                <a:solidFill>
                  <a:srgbClr val="0057FF"/>
                </a:solidFill>
                <a:latin typeface="Pretendard" pitchFamily="34" charset="0"/>
                <a:ea typeface="Pretendard" pitchFamily="34" charset="-122"/>
                <a:cs typeface="Pretendard" pitchFamily="34" charset="-120"/>
              </a:rPr>
              <a:t>그대로</a:t>
            </a:r>
            <a:r>
              <a:rPr lang="ko-KR" altLang="en-US" sz="1600" dirty="0">
                <a:solidFill>
                  <a:srgbClr val="6B7280"/>
                </a:solidFill>
                <a:latin typeface="Pretendard" pitchFamily="34" charset="0"/>
                <a:ea typeface="Pretendard" pitchFamily="34" charset="-122"/>
                <a:cs typeface="Pretendard" pitchFamily="34" charset="-120"/>
              </a:rPr>
              <a:t> 내려준다</a:t>
            </a:r>
            <a:endParaRPr lang="ko-KR" sz="1600" dirty="0"/>
          </a:p>
        </p:txBody>
      </p:sp>
      <p:sp>
        <p:nvSpPr>
          <p:cNvPr id="10" name="Shape 8"/>
          <p:cNvSpPr/>
          <p:nvPr/>
        </p:nvSpPr>
        <p:spPr>
          <a:xfrm>
            <a:off x="4383938" y="4754880"/>
            <a:ext cx="3423818" cy="1417320"/>
          </a:xfrm>
          <a:prstGeom prst="roundRect">
            <a:avLst>
              <a:gd name="adj" fmla="val 7742"/>
            </a:avLst>
          </a:prstGeom>
          <a:solidFill>
            <a:srgbClr val="F8F7F4"/>
          </a:solidFill>
          <a:ln w="12700">
            <a:solidFill>
              <a:srgbClr val="F8F7F4"/>
            </a:solidFill>
            <a:prstDash val="solid"/>
          </a:ln>
        </p:spPr>
      </p:sp>
      <p:sp>
        <p:nvSpPr>
          <p:cNvPr id="11" name="Text 9"/>
          <p:cNvSpPr txBox="1"/>
          <p:nvPr/>
        </p:nvSpPr>
        <p:spPr>
          <a:xfrm>
            <a:off x="4658258"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MVC + 템플릿</a:t>
            </a:r>
            <a:endParaRPr lang="ko-KR" sz="1700" dirty="0"/>
          </a:p>
        </p:txBody>
      </p:sp>
      <p:sp>
        <p:nvSpPr>
          <p:cNvPr id="12" name="Text 10"/>
          <p:cNvSpPr txBox="1"/>
          <p:nvPr/>
        </p:nvSpPr>
        <p:spPr>
          <a:xfrm>
            <a:off x="4658258" y="5468112"/>
            <a:ext cx="2875178" cy="548640"/>
          </a:xfrm>
          <a:prstGeom prst="rect">
            <a:avLst/>
          </a:prstGeom>
          <a:noFill/>
          <a:ln/>
        </p:spPr>
        <p:txBody>
          <a:bodyPr wrap="square" lIns="0" tIns="0" rIns="0" bIns="0" rtlCol="0" anchor="t"/>
          <a:lstStyle/>
          <a:p>
            <a:pPr indent="0" marL="0">
              <a:lnSpc>
                <a:spcPct val="110000"/>
              </a:lnSpc>
              <a:buNone/>
            </a:pPr>
            <a:r>
              <a:rPr lang="ko-KR" altLang="en-US" sz="1600" b="1" dirty="0">
                <a:solidFill>
                  <a:srgbClr val="0057FF"/>
                </a:solidFill>
                <a:latin typeface="Pretendard" pitchFamily="34" charset="0"/>
                <a:ea typeface="Pretendard" pitchFamily="34" charset="-122"/>
                <a:cs typeface="Pretendard" pitchFamily="34" charset="-120"/>
              </a:rPr>
              <a:t>viewResolver</a:t>
            </a:r>
            <a:r>
              <a:rPr lang="ko-KR" altLang="en-US" sz="1600" dirty="0">
                <a:solidFill>
                  <a:srgbClr val="6B7280"/>
                </a:solidFill>
                <a:latin typeface="Pretendard" pitchFamily="34" charset="0"/>
                <a:ea typeface="Pretendard" pitchFamily="34" charset="-122"/>
                <a:cs typeface="Pretendard" pitchFamily="34" charset="-120"/>
              </a:rPr>
              <a:t> 가 템플릿을 HTML 로 바꿔 내려준다</a:t>
            </a:r>
            <a:endParaRPr lang="ko-KR" sz="1600" dirty="0"/>
          </a:p>
        </p:txBody>
      </p:sp>
      <p:sp>
        <p:nvSpPr>
          <p:cNvPr id="13" name="Shape 11"/>
          <p:cNvSpPr/>
          <p:nvPr/>
        </p:nvSpPr>
        <p:spPr>
          <a:xfrm>
            <a:off x="8082077" y="4754880"/>
            <a:ext cx="3423818" cy="1417320"/>
          </a:xfrm>
          <a:prstGeom prst="roundRect">
            <a:avLst>
              <a:gd name="adj" fmla="val 7742"/>
            </a:avLst>
          </a:prstGeom>
          <a:solidFill>
            <a:srgbClr val="F8F7F4"/>
          </a:solidFill>
          <a:ln w="12700">
            <a:solidFill>
              <a:srgbClr val="F8F7F4"/>
            </a:solidFill>
            <a:prstDash val="solid"/>
          </a:ln>
        </p:spPr>
      </p:sp>
      <p:sp>
        <p:nvSpPr>
          <p:cNvPr id="14" name="Text 12"/>
          <p:cNvSpPr txBox="1"/>
          <p:nvPr/>
        </p:nvSpPr>
        <p:spPr>
          <a:xfrm>
            <a:off x="8356397"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API</a:t>
            </a:r>
            <a:endParaRPr lang="ko-KR" sz="1700" dirty="0"/>
          </a:p>
        </p:txBody>
      </p:sp>
      <p:sp>
        <p:nvSpPr>
          <p:cNvPr id="15" name="Text 13"/>
          <p:cNvSpPr txBox="1"/>
          <p:nvPr/>
        </p:nvSpPr>
        <p:spPr>
          <a:xfrm>
            <a:off x="8356397" y="5468112"/>
            <a:ext cx="2875178" cy="548640"/>
          </a:xfrm>
          <a:prstGeom prst="rect">
            <a:avLst/>
          </a:prstGeom>
          <a:noFill/>
          <a:ln/>
        </p:spPr>
        <p:txBody>
          <a:bodyPr wrap="square" lIns="0" tIns="0" rIns="0" bIns="0" rtlCol="0" anchor="t"/>
          <a:lstStyle/>
          <a:p>
            <a:pPr indent="0" marL="0">
              <a:lnSpc>
                <a:spcPct val="110000"/>
              </a:lnSpc>
              <a:buNone/>
            </a:pPr>
            <a:r>
              <a:rPr lang="ko-KR" altLang="en-US" sz="1600" b="1" dirty="0">
                <a:solidFill>
                  <a:srgbClr val="0057FF"/>
                </a:solidFill>
                <a:latin typeface="Pretendard" pitchFamily="34" charset="0"/>
                <a:ea typeface="Pretendard" pitchFamily="34" charset="-122"/>
                <a:cs typeface="Pretendard" pitchFamily="34" charset="-120"/>
              </a:rPr>
              <a:t>HttpMessageConverter</a:t>
            </a:r>
            <a:r>
              <a:rPr lang="ko-KR" altLang="en-US" sz="1600" dirty="0">
                <a:solidFill>
                  <a:srgbClr val="6B7280"/>
                </a:solidFill>
                <a:latin typeface="Pretendard" pitchFamily="34" charset="0"/>
                <a:ea typeface="Pretendard" pitchFamily="34" charset="-122"/>
                <a:cs typeface="Pretendard" pitchFamily="34" charset="-120"/>
              </a:rPr>
              <a:t> 가 객체를 JSON 으로 바꾼다</a:t>
            </a:r>
            <a:endParaRPr lang="ko-KR"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01  요청과 응답</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@Controller 와 @RestController</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@Controller — 화면(뷰)을 반환</a:t>
            </a:r>
            <a:endParaRPr lang="ko-KR" sz="1200" dirty="0"/>
          </a:p>
        </p:txBody>
      </p:sp>
      <p:sp>
        <p:nvSpPr>
          <p:cNvPr id="5" name="Shape 3"/>
          <p:cNvSpPr/>
          <p:nvPr/>
        </p:nvSpPr>
        <p:spPr>
          <a:xfrm>
            <a:off x="685800" y="2093976"/>
            <a:ext cx="5227168" cy="2606040"/>
          </a:xfrm>
          <a:prstGeom prst="roundRect">
            <a:avLst>
              <a:gd name="adj" fmla="val 4211"/>
            </a:avLst>
          </a:prstGeom>
          <a:solidFill>
            <a:srgbClr val="23262F"/>
          </a:solidFill>
          <a:ln w="12700">
            <a:solidFill>
              <a:srgbClr val="23262F"/>
            </a:solidFill>
            <a:prstDash val="solid"/>
          </a:ln>
        </p:spPr>
      </p:sp>
      <p:sp>
        <p:nvSpPr>
          <p:cNvPr id="6" name="Text 4"/>
          <p:cNvSpPr txBox="1"/>
          <p:nvPr/>
        </p:nvSpPr>
        <p:spPr>
          <a:xfrm>
            <a:off x="868680" y="2276856"/>
            <a:ext cx="4861408" cy="224028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pitchFamily="34" charset="0"/>
                <a:ea typeface="Pretendard" pitchFamily="34" charset="-122"/>
                <a:cs typeface="Consolas" pitchFamily="34" charset="-120"/>
              </a:rPr>
              <a:t>@Controller</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class</a:t>
            </a:r>
            <a:r>
              <a:rPr lang="en-US" sz="1400" dirty="0">
                <a:solidFill>
                  <a:srgbClr val="A9B7C6"/>
                </a:solidFill>
                <a:latin typeface="Consolas" pitchFamily="34" charset="0"/>
                <a:ea typeface="Pretendard" pitchFamily="34" charset="-122"/>
                <a:cs typeface="Consolas" pitchFamily="34" charset="-120"/>
              </a:rPr>
              <a:t> HelloController {</a:t>
            </a:r>
            <a:endParaRPr lang="en-US" sz="1400" dirty="0"/>
          </a:p>
          <a:p>
            <a:pPr indent="0" marL="0">
              <a:lnSpc>
                <a:spcPct val="120000"/>
              </a:lnSpc>
              <a:buNone/>
            </a:pP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BBB529"/>
                </a:solidFill>
                <a:latin typeface="Consolas" pitchFamily="34" charset="0"/>
                <a:ea typeface="Pretendard" pitchFamily="34" charset="-122"/>
                <a:cs typeface="Consolas" pitchFamily="34" charset="-120"/>
              </a:rPr>
              <a:t>@GetMapping</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"hello-mvc"</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String </a:t>
            </a:r>
            <a:r>
              <a:rPr lang="en-US" sz="1400" dirty="0">
                <a:solidFill>
                  <a:srgbClr val="FFC66D"/>
                </a:solidFill>
                <a:latin typeface="Consolas" pitchFamily="34" charset="0"/>
                <a:ea typeface="Pretendard" pitchFamily="34" charset="-122"/>
                <a:cs typeface="Consolas" pitchFamily="34" charset="-120"/>
              </a:rPr>
              <a:t>helloMvc</a:t>
            </a:r>
            <a:r>
              <a:rPr lang="en-US" sz="1400" dirty="0">
                <a:solidFill>
                  <a:srgbClr val="A9B7C6"/>
                </a:solidFill>
                <a:latin typeface="Consolas" pitchFamily="34" charset="0"/>
                <a:ea typeface="Pretendard" pitchFamily="34" charset="-122"/>
                <a:cs typeface="Consolas" pitchFamily="34" charset="-120"/>
              </a:rPr>
              <a:t>(Model model)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model.</a:t>
            </a:r>
            <a:r>
              <a:rPr lang="en-US" sz="1400" dirty="0">
                <a:solidFill>
                  <a:srgbClr val="FFC66D"/>
                </a:solidFill>
                <a:latin typeface="Consolas" pitchFamily="34" charset="0"/>
                <a:ea typeface="Pretendard" pitchFamily="34" charset="-122"/>
                <a:cs typeface="Consolas" pitchFamily="34" charset="-120"/>
              </a:rPr>
              <a:t>addAttribute</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"name"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6A8759"/>
                </a:solidFill>
                <a:latin typeface="Consolas" pitchFamily="34" charset="0"/>
                <a:ea typeface="Pretendard" pitchFamily="34" charset="-122"/>
                <a:cs typeface="Consolas" pitchFamily="34" charset="-120"/>
              </a:rPr>
              <a:t>"spring"</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return</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6A8759"/>
                </a:solidFill>
                <a:latin typeface="Consolas" pitchFamily="34" charset="0"/>
                <a:ea typeface="Pretendard" pitchFamily="34" charset="-122"/>
                <a:cs typeface="Consolas" pitchFamily="34" charset="-120"/>
              </a:rPr>
              <a:t>"hello-template"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808080"/>
                </a:solidFill>
                <a:latin typeface="Consolas" pitchFamily="34" charset="0"/>
                <a:ea typeface="Pretendard" pitchFamily="34" charset="-122"/>
                <a:cs typeface="Consolas" pitchFamily="34" charset="-120"/>
              </a:rPr>
              <a:t>// 뷰 이름</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@RestController — 데이터(JSON)를 반환</a:t>
            </a:r>
            <a:endParaRPr lang="ko-KR" sz="1200" dirty="0"/>
          </a:p>
        </p:txBody>
      </p:sp>
      <p:sp>
        <p:nvSpPr>
          <p:cNvPr id="8" name="Shape 6"/>
          <p:cNvSpPr/>
          <p:nvPr/>
        </p:nvSpPr>
        <p:spPr>
          <a:xfrm>
            <a:off x="6278728" y="2093976"/>
            <a:ext cx="5227168" cy="2854960"/>
          </a:xfrm>
          <a:prstGeom prst="roundRect">
            <a:avLst>
              <a:gd name="adj" fmla="val 3843"/>
            </a:avLst>
          </a:prstGeom>
          <a:solidFill>
            <a:srgbClr val="23262F"/>
          </a:solidFill>
          <a:ln w="12700">
            <a:solidFill>
              <a:srgbClr val="23262F"/>
            </a:solidFill>
            <a:prstDash val="solid"/>
          </a:ln>
        </p:spPr>
      </p:sp>
      <p:sp>
        <p:nvSpPr>
          <p:cNvPr id="9" name="Text 7"/>
          <p:cNvSpPr txBox="1"/>
          <p:nvPr/>
        </p:nvSpPr>
        <p:spPr>
          <a:xfrm>
            <a:off x="6461608" y="2276856"/>
            <a:ext cx="4861408" cy="248920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pitchFamily="34" charset="0"/>
                <a:ea typeface="Pretendard" pitchFamily="34" charset="-122"/>
                <a:cs typeface="Consolas" pitchFamily="34" charset="-120"/>
              </a:rPr>
              <a:t>@RestController</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808080"/>
                </a:solidFill>
                <a:latin typeface="Consolas" pitchFamily="34" charset="0"/>
                <a:ea typeface="Pretendard" pitchFamily="34" charset="-122"/>
                <a:cs typeface="Consolas" pitchFamily="34" charset="-120"/>
              </a:rPr>
              <a:t>// @Controller + @ResponseBody</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class</a:t>
            </a:r>
            <a:r>
              <a:rPr lang="en-US" sz="1400" dirty="0">
                <a:solidFill>
                  <a:srgbClr val="A9B7C6"/>
                </a:solidFill>
                <a:latin typeface="Consolas" pitchFamily="34" charset="0"/>
                <a:ea typeface="Pretendard" pitchFamily="34" charset="-122"/>
                <a:cs typeface="Consolas" pitchFamily="34" charset="-120"/>
              </a:rPr>
              <a:t> HelloApiController {</a:t>
            </a:r>
            <a:endParaRPr lang="en-US" sz="1400" dirty="0"/>
          </a:p>
          <a:p>
            <a:pPr indent="0" marL="0">
              <a:lnSpc>
                <a:spcPct val="120000"/>
              </a:lnSpc>
              <a:buNone/>
            </a:pP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BBB529"/>
                </a:solidFill>
                <a:latin typeface="Consolas" pitchFamily="34" charset="0"/>
                <a:ea typeface="Pretendard" pitchFamily="34" charset="-122"/>
                <a:cs typeface="Consolas" pitchFamily="34" charset="-120"/>
              </a:rPr>
              <a:t>@GetMapping</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"hello-api"</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Hello </a:t>
            </a:r>
            <a:r>
              <a:rPr lang="en-US" sz="1400" dirty="0">
                <a:solidFill>
                  <a:srgbClr val="FFC66D"/>
                </a:solidFill>
                <a:latin typeface="Consolas" pitchFamily="34" charset="0"/>
                <a:ea typeface="Pretendard" pitchFamily="34" charset="-122"/>
                <a:cs typeface="Consolas" pitchFamily="34" charset="-120"/>
              </a:rPr>
              <a:t>helloApi</a:t>
            </a:r>
            <a:r>
              <a:rPr lang="en-US" sz="1400" dirty="0">
                <a:solidFill>
                  <a:srgbClr val="A9B7C6"/>
                </a:solidFill>
                <a:latin typeface="Consolas" pitchFamily="34" charset="0"/>
                <a:ea typeface="Pretendard" pitchFamily="34" charset="-122"/>
                <a:cs typeface="Consolas" pitchFamily="34" charset="-120"/>
              </a:rPr>
              <a:t>()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Hello hello =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Hello();</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hello.</a:t>
            </a:r>
            <a:r>
              <a:rPr lang="en-US" sz="1400" dirty="0">
                <a:solidFill>
                  <a:srgbClr val="FFC66D"/>
                </a:solidFill>
                <a:latin typeface="Consolas" pitchFamily="34" charset="0"/>
                <a:ea typeface="Pretendard" pitchFamily="34" charset="-122"/>
                <a:cs typeface="Consolas" pitchFamily="34" charset="-120"/>
              </a:rPr>
              <a:t>setName</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"spring"</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return</a:t>
            </a:r>
            <a:r>
              <a:rPr lang="en-US" sz="1400" dirty="0">
                <a:solidFill>
                  <a:srgbClr val="A9B7C6"/>
                </a:solidFill>
                <a:latin typeface="Consolas" pitchFamily="34" charset="0"/>
                <a:ea typeface="Pretendard" pitchFamily="34" charset="-122"/>
                <a:cs typeface="Consolas" pitchFamily="34" charset="-120"/>
              </a:rPr>
              <a:t> hello;  </a:t>
            </a:r>
            <a:r>
              <a:rPr lang="en-US" sz="1400" dirty="0">
                <a:solidFill>
                  <a:srgbClr val="808080"/>
                </a:solidFill>
                <a:latin typeface="Consolas" pitchFamily="34" charset="0"/>
                <a:ea typeface="Pretendard" pitchFamily="34" charset="-122"/>
                <a:cs typeface="Consolas" pitchFamily="34" charset="-120"/>
              </a:rPr>
              <a:t>// → JSON</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10" name="Text 8"/>
          <p:cNvSpPr txBox="1"/>
          <p:nvPr/>
        </p:nvSpPr>
        <p:spPr>
          <a:xfrm>
            <a:off x="685800" y="5223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@Controller</a:t>
            </a:r>
            <a:endParaRPr lang="ko-KR" sz="1700" dirty="0"/>
          </a:p>
        </p:txBody>
      </p:sp>
      <p:sp>
        <p:nvSpPr>
          <p:cNvPr id="11" name="Text 9"/>
          <p:cNvSpPr txBox="1"/>
          <p:nvPr/>
        </p:nvSpPr>
        <p:spPr>
          <a:xfrm>
            <a:off x="685800" y="558901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페이지 이동(화면 전환) 요청 — 뷰 이름을 반환</a:t>
            </a:r>
            <a:endParaRPr lang="ko-KR" sz="1400" dirty="0"/>
          </a:p>
        </p:txBody>
      </p:sp>
      <p:sp>
        <p:nvSpPr>
          <p:cNvPr id="12" name="Text 10"/>
          <p:cNvSpPr txBox="1"/>
          <p:nvPr/>
        </p:nvSpPr>
        <p:spPr>
          <a:xfrm>
            <a:off x="6278728" y="5223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@RestController</a:t>
            </a:r>
            <a:endParaRPr lang="ko-KR" sz="1700" dirty="0"/>
          </a:p>
        </p:txBody>
      </p:sp>
      <p:sp>
        <p:nvSpPr>
          <p:cNvPr id="13" name="Text 11"/>
          <p:cNvSpPr txBox="1"/>
          <p:nvPr/>
        </p:nvSpPr>
        <p:spPr>
          <a:xfrm>
            <a:off x="6278728" y="558901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데이터 요청(AJAX·API) — 모든 메서드에 </a:t>
            </a:r>
            <a:r>
              <a:rPr lang="ko-KR" altLang="en-US" sz="1400" dirty="0">
                <a:solidFill>
                  <a:srgbClr val="6B7280"/>
                </a:solidFill>
                <a:latin typeface="Consolas" pitchFamily="34" charset="0"/>
                <a:ea typeface="Pretendard" pitchFamily="34" charset="-122"/>
                <a:cs typeface="Consolas" pitchFamily="34" charset="-120"/>
              </a:rPr>
              <a:t>@ResponseBody</a:t>
            </a:r>
            <a:r>
              <a:rPr lang="ko-KR" altLang="en-US" sz="1400" dirty="0">
                <a:solidFill>
                  <a:srgbClr val="6B7280"/>
                </a:solidFill>
                <a:latin typeface="Pretendard" pitchFamily="34" charset="0"/>
                <a:ea typeface="Pretendard" pitchFamily="34" charset="-122"/>
                <a:cs typeface="Pretendard" pitchFamily="34" charset="-120"/>
              </a:rPr>
              <a:t> 적용</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인터페이스와 구현체</a:t>
            </a:r>
            <a:endParaRPr lang="en-US" sz="3200" dirty="0"/>
          </a:p>
        </p:txBody>
      </p:sp>
      <p:sp>
        <p:nvSpPr>
          <p:cNvPr id="4" name="Shape 2"/>
          <p:cNvSpPr/>
          <p:nvPr/>
        </p:nvSpPr>
        <p:spPr>
          <a:xfrm>
            <a:off x="685800" y="1783080"/>
            <a:ext cx="10820095" cy="742950"/>
          </a:xfrm>
          <a:prstGeom prst="roundRect">
            <a:avLst>
              <a:gd name="adj" fmla="val 14769"/>
            </a:avLst>
          </a:prstGeom>
          <a:solidFill>
            <a:srgbClr val="F8F7F4"/>
          </a:solidFill>
          <a:ln w="12700">
            <a:solidFill>
              <a:srgbClr val="F8F7F4"/>
            </a:solidFill>
            <a:prstDash val="solid"/>
          </a:ln>
        </p:spPr>
      </p:sp>
      <p:sp>
        <p:nvSpPr>
          <p:cNvPr id="5" name="Text 3"/>
          <p:cNvSpPr txBox="1"/>
          <p:nvPr/>
        </p:nvSpPr>
        <p:spPr>
          <a:xfrm>
            <a:off x="1051560" y="1783080"/>
            <a:ext cx="10088575" cy="742950"/>
          </a:xfrm>
          <a:prstGeom prst="rect">
            <a:avLst/>
          </a:prstGeom>
          <a:noFill/>
          <a:ln/>
        </p:spPr>
        <p:txBody>
          <a:bodyPr wrap="square" lIns="0" tIns="0" rIns="0" bIns="0" rtlCol="0" anchor="ctr"/>
          <a:lstStyle/>
          <a:p>
            <a:pPr indent="0" marL="0">
              <a:lnSpc>
                <a:spcPct val="110000"/>
              </a:lnSpc>
              <a:buNone/>
            </a:pPr>
            <a:r>
              <a:rPr lang="ko-KR" altLang="en-US" sz="2200" b="1" dirty="0">
                <a:solidFill>
                  <a:srgbClr val="23262F"/>
                </a:solidFill>
                <a:latin typeface="Consolas" pitchFamily="34" charset="0"/>
                <a:ea typeface="Pretendard" pitchFamily="34" charset="-122"/>
                <a:cs typeface="Consolas" pitchFamily="34" charset="-120"/>
              </a:rPr>
              <a:t>interface</a:t>
            </a:r>
            <a:r>
              <a:rPr lang="ko-KR" altLang="en-US" sz="2200" b="1" dirty="0">
                <a:solidFill>
                  <a:srgbClr val="23262F"/>
                </a:solidFill>
                <a:latin typeface="Pretendard" pitchFamily="34" charset="0"/>
                <a:ea typeface="Pretendard" pitchFamily="34" charset="-122"/>
                <a:cs typeface="Pretendard" pitchFamily="34" charset="-120"/>
              </a:rPr>
              <a:t> = 기능의 </a:t>
            </a:r>
            <a:r>
              <a:rPr lang="ko-KR" altLang="en-US" sz="2200" b="1" dirty="0">
                <a:solidFill>
                  <a:srgbClr val="0057FF"/>
                </a:solidFill>
                <a:latin typeface="Pretendard" pitchFamily="34" charset="0"/>
                <a:ea typeface="Pretendard" pitchFamily="34" charset="-122"/>
                <a:cs typeface="Pretendard" pitchFamily="34" charset="-120"/>
              </a:rPr>
              <a:t>역할만 정의</a:t>
            </a:r>
            <a:r>
              <a:rPr lang="ko-KR" altLang="en-US" sz="2200" b="1" dirty="0">
                <a:solidFill>
                  <a:srgbClr val="23262F"/>
                </a:solidFill>
                <a:latin typeface="Pretendard" pitchFamily="34" charset="0"/>
                <a:ea typeface="Pretendard" pitchFamily="34" charset="-122"/>
                <a:cs typeface="Pretendard" pitchFamily="34" charset="-120"/>
              </a:rPr>
              <a:t>,  </a:t>
            </a:r>
            <a:r>
              <a:rPr lang="ko-KR" altLang="en-US" sz="2200" b="1" dirty="0">
                <a:solidFill>
                  <a:srgbClr val="23262F"/>
                </a:solidFill>
                <a:latin typeface="Consolas" pitchFamily="34" charset="0"/>
                <a:ea typeface="Pretendard" pitchFamily="34" charset="-122"/>
                <a:cs typeface="Consolas" pitchFamily="34" charset="-120"/>
              </a:rPr>
              <a:t>implements</a:t>
            </a:r>
            <a:r>
              <a:rPr lang="ko-KR" altLang="en-US" sz="2200" b="1" dirty="0">
                <a:solidFill>
                  <a:srgbClr val="23262F"/>
                </a:solidFill>
                <a:latin typeface="Pretendard" pitchFamily="34" charset="0"/>
                <a:ea typeface="Pretendard" pitchFamily="34" charset="-122"/>
                <a:cs typeface="Pretendard" pitchFamily="34" charset="-120"/>
              </a:rPr>
              <a:t> = 그 역할을 </a:t>
            </a:r>
            <a:r>
              <a:rPr lang="ko-KR" altLang="en-US" sz="2200" b="1" dirty="0">
                <a:solidFill>
                  <a:srgbClr val="0057FF"/>
                </a:solidFill>
                <a:latin typeface="Pretendard" pitchFamily="34" charset="0"/>
                <a:ea typeface="Pretendard" pitchFamily="34" charset="-122"/>
                <a:cs typeface="Pretendard" pitchFamily="34" charset="-120"/>
              </a:rPr>
              <a:t>전부 구현</a:t>
            </a:r>
            <a:endParaRPr lang="ko-KR" sz="2200" dirty="0"/>
          </a:p>
        </p:txBody>
      </p:sp>
      <p:sp>
        <p:nvSpPr>
          <p:cNvPr id="6" name="Text 4"/>
          <p:cNvSpPr txBox="1"/>
          <p:nvPr/>
        </p:nvSpPr>
        <p:spPr>
          <a:xfrm>
            <a:off x="685800"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인터페이스(역할 정의)와 사용하는 쪽</a:t>
            </a:r>
            <a:endParaRPr lang="ko-KR" sz="1200" dirty="0"/>
          </a:p>
        </p:txBody>
      </p:sp>
      <p:sp>
        <p:nvSpPr>
          <p:cNvPr id="7" name="Shape 5"/>
          <p:cNvSpPr/>
          <p:nvPr/>
        </p:nvSpPr>
        <p:spPr>
          <a:xfrm>
            <a:off x="685800" y="3111246"/>
            <a:ext cx="5227168" cy="2232660"/>
          </a:xfrm>
          <a:prstGeom prst="roundRect">
            <a:avLst>
              <a:gd name="adj" fmla="val 4915"/>
            </a:avLst>
          </a:prstGeom>
          <a:solidFill>
            <a:srgbClr val="23262F"/>
          </a:solidFill>
          <a:ln w="12700">
            <a:solidFill>
              <a:srgbClr val="23262F"/>
            </a:solidFill>
            <a:prstDash val="solid"/>
          </a:ln>
        </p:spPr>
      </p:sp>
      <p:sp>
        <p:nvSpPr>
          <p:cNvPr id="8" name="Text 6"/>
          <p:cNvSpPr txBox="1"/>
          <p:nvPr/>
        </p:nvSpPr>
        <p:spPr>
          <a:xfrm>
            <a:off x="868680" y="3294126"/>
            <a:ext cx="4861408" cy="1866900"/>
          </a:xfrm>
          <a:prstGeom prst="rect">
            <a:avLst/>
          </a:prstGeom>
          <a:noFill/>
          <a:ln/>
        </p:spPr>
        <p:txBody>
          <a:bodyPr wrap="square" lIns="0" tIns="0" rIns="0" bIns="0" rtlCol="0" anchor="t"/>
          <a:lstStyle/>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interface</a:t>
            </a:r>
            <a:r>
              <a:rPr lang="en-US" sz="1500" dirty="0">
                <a:solidFill>
                  <a:srgbClr val="A9B7C6"/>
                </a:solidFill>
                <a:latin typeface="Consolas" pitchFamily="34" charset="0"/>
                <a:ea typeface="Pretendard" pitchFamily="34" charset="-122"/>
                <a:cs typeface="Consolas" pitchFamily="34" charset="-120"/>
              </a:rPr>
              <a:t> SocialJoin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void</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FFC66D"/>
                </a:solidFill>
                <a:latin typeface="Consolas" pitchFamily="34" charset="0"/>
                <a:ea typeface="Pretendard" pitchFamily="34" charset="-122"/>
                <a:cs typeface="Consolas" pitchFamily="34" charset="-120"/>
              </a:rPr>
              <a:t>join</a:t>
            </a:r>
            <a:r>
              <a:rPr lang="en-US" sz="1500" dirty="0">
                <a:solidFill>
                  <a:srgbClr val="A9B7C6"/>
                </a:solidFill>
                <a:latin typeface="Consolas" pitchFamily="34" charset="0"/>
                <a:ea typeface="Pretendard" pitchFamily="34" charset="-122"/>
                <a:cs typeface="Consolas" pitchFamily="34" charset="-120"/>
              </a:rPr>
              <a:t>(String token);</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a:t>
            </a:r>
            <a:endParaRPr lang="en-US" sz="1500" dirty="0"/>
          </a:p>
          <a:p>
            <a:pPr indent="0" marL="0">
              <a:lnSpc>
                <a:spcPct val="120000"/>
              </a:lnSpc>
              <a:buNone/>
            </a:pPr>
            <a:endParaRPr lang="en-US" sz="1500" dirty="0"/>
          </a:p>
          <a:p>
            <a:pPr indent="0" marL="0">
              <a:lnSpc>
                <a:spcPct val="120000"/>
              </a:lnSpc>
              <a:buNone/>
            </a:pPr>
            <a:r>
              <a:rPr lang="en-US" sz="1500" dirty="0">
                <a:solidFill>
                  <a:srgbClr val="808080"/>
                </a:solidFill>
                <a:latin typeface="Consolas" pitchFamily="34" charset="0"/>
                <a:ea typeface="Pretendard" pitchFamily="34" charset="-122"/>
                <a:cs typeface="Consolas" pitchFamily="34" charset="-120"/>
              </a:rPr>
              <a:t>// 사용하는 쪽은 인터페이스만 안다</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SocialJoin socialJoin = </a:t>
            </a:r>
            <a:r>
              <a:rPr lang="en-US" sz="1500" dirty="0">
                <a:solidFill>
                  <a:srgbClr val="CC7832"/>
                </a:solidFill>
                <a:latin typeface="Consolas" pitchFamily="34" charset="0"/>
                <a:ea typeface="Pretendard" pitchFamily="34" charset="-122"/>
                <a:cs typeface="Consolas" pitchFamily="34" charset="-120"/>
              </a:rPr>
              <a:t>new</a:t>
            </a:r>
            <a:r>
              <a:rPr lang="en-US" sz="1500" dirty="0">
                <a:solidFill>
                  <a:srgbClr val="A9B7C6"/>
                </a:solidFill>
                <a:latin typeface="Consolas" pitchFamily="34" charset="0"/>
                <a:ea typeface="Pretendard" pitchFamily="34" charset="-122"/>
                <a:cs typeface="Consolas" pitchFamily="34" charset="-120"/>
              </a:rPr>
              <a:t> KakaoJoin();</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socialJoin.</a:t>
            </a:r>
            <a:r>
              <a:rPr lang="en-US" sz="1500" dirty="0">
                <a:solidFill>
                  <a:srgbClr val="FFC66D"/>
                </a:solidFill>
                <a:latin typeface="Consolas" pitchFamily="34" charset="0"/>
                <a:ea typeface="Pretendard" pitchFamily="34" charset="-122"/>
                <a:cs typeface="Consolas" pitchFamily="34" charset="-120"/>
              </a:rPr>
              <a:t>join</a:t>
            </a:r>
            <a:r>
              <a:rPr lang="en-US" sz="1500" dirty="0">
                <a:solidFill>
                  <a:srgbClr val="A9B7C6"/>
                </a:solidFill>
                <a:latin typeface="Consolas" pitchFamily="34" charset="0"/>
                <a:ea typeface="Pretendard" pitchFamily="34" charset="-122"/>
                <a:cs typeface="Consolas" pitchFamily="34" charset="-120"/>
              </a:rPr>
              <a:t>(token);</a:t>
            </a:r>
            <a:endParaRPr lang="en-US" sz="1500" dirty="0"/>
          </a:p>
        </p:txBody>
      </p:sp>
      <p:sp>
        <p:nvSpPr>
          <p:cNvPr id="9" name="Text 7"/>
          <p:cNvSpPr txBox="1"/>
          <p:nvPr/>
        </p:nvSpPr>
        <p:spPr>
          <a:xfrm>
            <a:off x="6278728"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구현체 — 선언된 메서드를 반드시 구현</a:t>
            </a:r>
            <a:endParaRPr lang="ko-KR" sz="1200" dirty="0"/>
          </a:p>
        </p:txBody>
      </p:sp>
      <p:sp>
        <p:nvSpPr>
          <p:cNvPr id="10" name="Shape 8"/>
          <p:cNvSpPr/>
          <p:nvPr/>
        </p:nvSpPr>
        <p:spPr>
          <a:xfrm>
            <a:off x="6278728" y="3111246"/>
            <a:ext cx="5227168" cy="3032760"/>
          </a:xfrm>
          <a:prstGeom prst="roundRect">
            <a:avLst>
              <a:gd name="adj" fmla="val 3618"/>
            </a:avLst>
          </a:prstGeom>
          <a:solidFill>
            <a:srgbClr val="23262F"/>
          </a:solidFill>
          <a:ln w="12700">
            <a:solidFill>
              <a:srgbClr val="23262F"/>
            </a:solidFill>
            <a:prstDash val="solid"/>
          </a:ln>
        </p:spPr>
      </p:sp>
      <p:sp>
        <p:nvSpPr>
          <p:cNvPr id="11" name="Text 9"/>
          <p:cNvSpPr txBox="1"/>
          <p:nvPr/>
        </p:nvSpPr>
        <p:spPr>
          <a:xfrm>
            <a:off x="6461608" y="3294126"/>
            <a:ext cx="4861408" cy="2667000"/>
          </a:xfrm>
          <a:prstGeom prst="rect">
            <a:avLst/>
          </a:prstGeom>
          <a:noFill/>
          <a:ln/>
        </p:spPr>
        <p:txBody>
          <a:bodyPr wrap="square" lIns="0" tIns="0" rIns="0" bIns="0" rtlCol="0" anchor="t"/>
          <a:lstStyle/>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class</a:t>
            </a:r>
            <a:r>
              <a:rPr lang="en-US" sz="1500" dirty="0">
                <a:solidFill>
                  <a:srgbClr val="A9B7C6"/>
                </a:solidFill>
                <a:latin typeface="Consolas" pitchFamily="34" charset="0"/>
                <a:ea typeface="Pretendard" pitchFamily="34" charset="-122"/>
                <a:cs typeface="Consolas" pitchFamily="34" charset="-120"/>
              </a:rPr>
              <a:t> KakaoJoin </a:t>
            </a:r>
            <a:r>
              <a:rPr lang="en-US" sz="1500" dirty="0">
                <a:solidFill>
                  <a:srgbClr val="CC7832"/>
                </a:solidFill>
                <a:latin typeface="Consolas" pitchFamily="34" charset="0"/>
                <a:ea typeface="Pretendard" pitchFamily="34" charset="-122"/>
                <a:cs typeface="Consolas" pitchFamily="34" charset="-120"/>
              </a:rPr>
              <a:t>implements</a:t>
            </a:r>
            <a:r>
              <a:rPr lang="en-US" sz="1500" dirty="0">
                <a:solidFill>
                  <a:srgbClr val="A9B7C6"/>
                </a:solidFill>
                <a:latin typeface="Consolas" pitchFamily="34" charset="0"/>
                <a:ea typeface="Pretendard" pitchFamily="34" charset="-122"/>
                <a:cs typeface="Consolas" pitchFamily="34" charset="-120"/>
              </a:rPr>
              <a:t> SocialJoin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void</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FFC66D"/>
                </a:solidFill>
                <a:latin typeface="Consolas" pitchFamily="34" charset="0"/>
                <a:ea typeface="Pretendard" pitchFamily="34" charset="-122"/>
                <a:cs typeface="Consolas" pitchFamily="34" charset="-120"/>
              </a:rPr>
              <a:t>join</a:t>
            </a:r>
            <a:r>
              <a:rPr lang="en-US" sz="1500" dirty="0">
                <a:solidFill>
                  <a:srgbClr val="A9B7C6"/>
                </a:solidFill>
                <a:latin typeface="Consolas" pitchFamily="34" charset="0"/>
                <a:ea typeface="Pretendard" pitchFamily="34" charset="-122"/>
                <a:cs typeface="Consolas" pitchFamily="34" charset="-120"/>
              </a:rPr>
              <a:t>(String token)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808080"/>
                </a:solidFill>
                <a:latin typeface="Consolas" pitchFamily="34" charset="0"/>
                <a:ea typeface="Pretendard" pitchFamily="34" charset="-122"/>
                <a:cs typeface="Consolas" pitchFamily="34" charset="-120"/>
              </a:rPr>
              <a:t>// 카카오에서 회원 정보 조회 후 저장</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a:t>
            </a:r>
            <a:endParaRPr lang="en-US" sz="1500" dirty="0"/>
          </a:p>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class</a:t>
            </a:r>
            <a:r>
              <a:rPr lang="en-US" sz="1500" dirty="0">
                <a:solidFill>
                  <a:srgbClr val="A9B7C6"/>
                </a:solidFill>
                <a:latin typeface="Consolas" pitchFamily="34" charset="0"/>
                <a:ea typeface="Pretendard" pitchFamily="34" charset="-122"/>
                <a:cs typeface="Consolas" pitchFamily="34" charset="-120"/>
              </a:rPr>
              <a:t> NaverJoin </a:t>
            </a:r>
            <a:r>
              <a:rPr lang="en-US" sz="1500" dirty="0">
                <a:solidFill>
                  <a:srgbClr val="CC7832"/>
                </a:solidFill>
                <a:latin typeface="Consolas" pitchFamily="34" charset="0"/>
                <a:ea typeface="Pretendard" pitchFamily="34" charset="-122"/>
                <a:cs typeface="Consolas" pitchFamily="34" charset="-120"/>
              </a:rPr>
              <a:t>implements</a:t>
            </a:r>
            <a:r>
              <a:rPr lang="en-US" sz="1500" dirty="0">
                <a:solidFill>
                  <a:srgbClr val="A9B7C6"/>
                </a:solidFill>
                <a:latin typeface="Consolas" pitchFamily="34" charset="0"/>
                <a:ea typeface="Pretendard" pitchFamily="34" charset="-122"/>
                <a:cs typeface="Consolas" pitchFamily="34" charset="-120"/>
              </a:rPr>
              <a:t> SocialJoin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void</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FFC66D"/>
                </a:solidFill>
                <a:latin typeface="Consolas" pitchFamily="34" charset="0"/>
                <a:ea typeface="Pretendard" pitchFamily="34" charset="-122"/>
                <a:cs typeface="Consolas" pitchFamily="34" charset="-120"/>
              </a:rPr>
              <a:t>join</a:t>
            </a:r>
            <a:r>
              <a:rPr lang="en-US" sz="1500" dirty="0">
                <a:solidFill>
                  <a:srgbClr val="A9B7C6"/>
                </a:solidFill>
                <a:latin typeface="Consolas" pitchFamily="34" charset="0"/>
                <a:ea typeface="Pretendard" pitchFamily="34" charset="-122"/>
                <a:cs typeface="Consolas" pitchFamily="34" charset="-120"/>
              </a:rPr>
              <a:t>(String token)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808080"/>
                </a:solidFill>
                <a:latin typeface="Consolas" pitchFamily="34" charset="0"/>
                <a:ea typeface="Pretendard" pitchFamily="34" charset="-122"/>
                <a:cs typeface="Consolas" pitchFamily="34" charset="-120"/>
              </a:rPr>
              <a:t>// 네이버에서 회원 정보 조회 후 저장</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a:t>
            </a:r>
            <a:endParaRPr lang="en-US" sz="15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회원 리포지토리 인터페이스</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회원 리포지토리 인터페이스</a:t>
            </a:r>
            <a:endParaRPr lang="ko-KR" sz="1200" dirty="0"/>
          </a:p>
        </p:txBody>
      </p:sp>
      <p:sp>
        <p:nvSpPr>
          <p:cNvPr id="5" name="Shape 3"/>
          <p:cNvSpPr/>
          <p:nvPr/>
        </p:nvSpPr>
        <p:spPr>
          <a:xfrm>
            <a:off x="685800" y="2093976"/>
            <a:ext cx="6309360" cy="1859280"/>
          </a:xfrm>
          <a:prstGeom prst="roundRect">
            <a:avLst>
              <a:gd name="adj" fmla="val 5902"/>
            </a:avLst>
          </a:prstGeom>
          <a:solidFill>
            <a:srgbClr val="23262F"/>
          </a:solidFill>
          <a:ln w="12700">
            <a:solidFill>
              <a:srgbClr val="23262F"/>
            </a:solidFill>
            <a:prstDash val="solid"/>
          </a:ln>
        </p:spPr>
      </p:sp>
      <p:sp>
        <p:nvSpPr>
          <p:cNvPr id="6" name="Text 4"/>
          <p:cNvSpPr txBox="1"/>
          <p:nvPr/>
        </p:nvSpPr>
        <p:spPr>
          <a:xfrm>
            <a:off x="868680" y="2276856"/>
            <a:ext cx="5943600" cy="1493520"/>
          </a:xfrm>
          <a:prstGeom prst="rect">
            <a:avLst/>
          </a:prstGeom>
          <a:noFill/>
          <a:ln/>
        </p:spPr>
        <p:txBody>
          <a:bodyPr wrap="square" lIns="0" tIns="0" rIns="0" bIns="0" rtlCol="0" anchor="t"/>
          <a:lstStyle/>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interface</a:t>
            </a:r>
            <a:r>
              <a:rPr lang="en-US" sz="1400" dirty="0">
                <a:solidFill>
                  <a:srgbClr val="A9B7C6"/>
                </a:solidFill>
                <a:latin typeface="Consolas" pitchFamily="34" charset="0"/>
                <a:ea typeface="Pretendard" pitchFamily="34" charset="-122"/>
                <a:cs typeface="Consolas" pitchFamily="34" charset="-120"/>
              </a:rPr>
              <a:t>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 </a:t>
            </a:r>
            <a:r>
              <a:rPr lang="en-US" sz="1400" dirty="0">
                <a:solidFill>
                  <a:srgbClr val="FFC66D"/>
                </a:solidFill>
                <a:latin typeface="Consolas" pitchFamily="34" charset="0"/>
                <a:ea typeface="Pretendard" pitchFamily="34" charset="-122"/>
                <a:cs typeface="Consolas" pitchFamily="34" charset="-120"/>
              </a:rPr>
              <a:t>save</a:t>
            </a:r>
            <a:r>
              <a:rPr lang="en-US" sz="1400" dirty="0">
                <a:solidFill>
                  <a:srgbClr val="A9B7C6"/>
                </a:solidFill>
                <a:latin typeface="Consolas" pitchFamily="34" charset="0"/>
                <a:ea typeface="Pretendard" pitchFamily="34" charset="-122"/>
                <a:cs typeface="Consolas" pitchFamily="34" charset="-120"/>
              </a:rPr>
              <a:t>(Member member);</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Optional&lt;Member&gt; </a:t>
            </a:r>
            <a:r>
              <a:rPr lang="en-US" sz="1400" dirty="0">
                <a:solidFill>
                  <a:srgbClr val="FFC66D"/>
                </a:solidFill>
                <a:latin typeface="Consolas" pitchFamily="34" charset="0"/>
                <a:ea typeface="Pretendard" pitchFamily="34" charset="-122"/>
                <a:cs typeface="Consolas" pitchFamily="34" charset="-120"/>
              </a:rPr>
              <a:t>findById</a:t>
            </a:r>
            <a:r>
              <a:rPr lang="en-US" sz="1400" dirty="0">
                <a:solidFill>
                  <a:srgbClr val="A9B7C6"/>
                </a:solidFill>
                <a:latin typeface="Consolas" pitchFamily="34" charset="0"/>
                <a:ea typeface="Pretendard" pitchFamily="34" charset="-122"/>
                <a:cs typeface="Consolas" pitchFamily="34" charset="-120"/>
              </a:rPr>
              <a:t>(Long id);</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Optional&lt;Member&gt; </a:t>
            </a:r>
            <a:r>
              <a:rPr lang="en-US" sz="1400" dirty="0">
                <a:solidFill>
                  <a:srgbClr val="FFC66D"/>
                </a:solidFill>
                <a:latin typeface="Consolas" pitchFamily="34" charset="0"/>
                <a:ea typeface="Pretendard" pitchFamily="34" charset="-122"/>
                <a:cs typeface="Consolas" pitchFamily="34" charset="-120"/>
              </a:rPr>
              <a:t>findByName</a:t>
            </a:r>
            <a:r>
              <a:rPr lang="en-US" sz="1400" dirty="0">
                <a:solidFill>
                  <a:srgbClr val="A9B7C6"/>
                </a:solidFill>
                <a:latin typeface="Consolas" pitchFamily="34" charset="0"/>
                <a:ea typeface="Pretendard" pitchFamily="34" charset="-122"/>
                <a:cs typeface="Consolas" pitchFamily="34" charset="-120"/>
              </a:rPr>
              <a:t>(String name);</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List&lt;Member&gt; </a:t>
            </a:r>
            <a:r>
              <a:rPr lang="en-US" sz="1400" dirty="0">
                <a:solidFill>
                  <a:srgbClr val="FFC66D"/>
                </a:solidFill>
                <a:latin typeface="Consolas" pitchFamily="34" charset="0"/>
                <a:ea typeface="Pretendard" pitchFamily="34" charset="-122"/>
                <a:cs typeface="Consolas" pitchFamily="34" charset="-120"/>
              </a:rPr>
              <a:t>findAll</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7" name="Text 5"/>
          <p:cNvSpPr txBox="1"/>
          <p:nvPr/>
        </p:nvSpPr>
        <p:spPr>
          <a:xfrm>
            <a:off x="685800" y="4227576"/>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우선은 메모리 구현체로 개발</a:t>
            </a:r>
            <a:endParaRPr lang="ko-KR" sz="1200" dirty="0"/>
          </a:p>
        </p:txBody>
      </p:sp>
      <p:sp>
        <p:nvSpPr>
          <p:cNvPr id="8" name="Shape 6"/>
          <p:cNvSpPr/>
          <p:nvPr/>
        </p:nvSpPr>
        <p:spPr>
          <a:xfrm>
            <a:off x="685800" y="4538472"/>
            <a:ext cx="6309360" cy="1610360"/>
          </a:xfrm>
          <a:prstGeom prst="roundRect">
            <a:avLst>
              <a:gd name="adj" fmla="val 6814"/>
            </a:avLst>
          </a:prstGeom>
          <a:solidFill>
            <a:srgbClr val="23262F"/>
          </a:solidFill>
          <a:ln w="12700">
            <a:solidFill>
              <a:srgbClr val="23262F"/>
            </a:solidFill>
            <a:prstDash val="solid"/>
          </a:ln>
        </p:spPr>
      </p:sp>
      <p:sp>
        <p:nvSpPr>
          <p:cNvPr id="9" name="Text 7"/>
          <p:cNvSpPr txBox="1"/>
          <p:nvPr/>
        </p:nvSpPr>
        <p:spPr>
          <a:xfrm>
            <a:off x="868680" y="4721352"/>
            <a:ext cx="5943600" cy="1244600"/>
          </a:xfrm>
          <a:prstGeom prst="rect">
            <a:avLst/>
          </a:prstGeom>
          <a:noFill/>
          <a:ln/>
        </p:spPr>
        <p:txBody>
          <a:bodyPr wrap="square" lIns="0" tIns="0" rIns="0" bIns="0" rtlCol="0" anchor="t"/>
          <a:lstStyle/>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class</a:t>
            </a:r>
            <a:r>
              <a:rPr lang="en-US" sz="1400" dirty="0">
                <a:solidFill>
                  <a:srgbClr val="A9B7C6"/>
                </a:solidFill>
                <a:latin typeface="Consolas" pitchFamily="34" charset="0"/>
                <a:ea typeface="Pretendard" pitchFamily="34" charset="-122"/>
                <a:cs typeface="Consolas" pitchFamily="34" charset="-120"/>
              </a:rPr>
              <a:t> MemoryMemberRepository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implements</a:t>
            </a:r>
            <a:r>
              <a:rPr lang="en-US" sz="1400" dirty="0">
                <a:solidFill>
                  <a:srgbClr val="A9B7C6"/>
                </a:solidFill>
                <a:latin typeface="Consolas" pitchFamily="34" charset="0"/>
                <a:ea typeface="Pretendard" pitchFamily="34" charset="-122"/>
                <a:cs typeface="Consolas" pitchFamily="34" charset="-120"/>
              </a:rPr>
              <a:t>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static</a:t>
            </a:r>
            <a:r>
              <a:rPr lang="en-US" sz="1400" dirty="0">
                <a:solidFill>
                  <a:srgbClr val="A9B7C6"/>
                </a:solidFill>
                <a:latin typeface="Consolas" pitchFamily="34" charset="0"/>
                <a:ea typeface="Pretendard" pitchFamily="34" charset="-122"/>
                <a:cs typeface="Consolas" pitchFamily="34" charset="-120"/>
              </a:rPr>
              <a:t> Map&lt;Long, Member&gt; store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HashMap&lt;&gt;();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10" name="Text 8"/>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저장소가 RDB 일지 NoSQL 일지 </a:t>
            </a:r>
            <a:r>
              <a:rPr lang="ko-KR" altLang="en-US" sz="1800" b="1" dirty="0">
                <a:solidFill>
                  <a:srgbClr val="0057FF"/>
                </a:solidFill>
                <a:latin typeface="Pretendard" pitchFamily="34" charset="0"/>
                <a:ea typeface="Pretendard" pitchFamily="34" charset="-122"/>
                <a:cs typeface="Pretendard" pitchFamily="34" charset="-120"/>
              </a:rPr>
              <a:t>아직 모른다</a:t>
            </a:r>
            <a:endParaRPr lang="ko-KR" sz="1800" dirty="0"/>
          </a:p>
        </p:txBody>
      </p:sp>
      <p:sp>
        <p:nvSpPr>
          <p:cNvPr id="11" name="Text 9"/>
          <p:cNvSpPr txBox="1"/>
          <p:nvPr/>
        </p:nvSpPr>
        <p:spPr>
          <a:xfrm>
            <a:off x="7406640" y="3187700"/>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그래서 </a:t>
            </a:r>
            <a:r>
              <a:rPr lang="ko-KR" altLang="en-US" sz="1800" b="1" dirty="0">
                <a:solidFill>
                  <a:srgbClr val="0057FF"/>
                </a:solidFill>
                <a:latin typeface="Pretendard" pitchFamily="34" charset="0"/>
                <a:ea typeface="Pretendard" pitchFamily="34" charset="-122"/>
                <a:cs typeface="Pretendard" pitchFamily="34" charset="-120"/>
              </a:rPr>
              <a:t>인터페이스</a:t>
            </a:r>
            <a:r>
              <a:rPr lang="ko-KR" altLang="en-US" sz="1800" dirty="0">
                <a:solidFill>
                  <a:srgbClr val="23262F"/>
                </a:solidFill>
                <a:latin typeface="Pretendard" pitchFamily="34" charset="0"/>
                <a:ea typeface="Pretendard" pitchFamily="34" charset="-122"/>
                <a:cs typeface="Pretendard" pitchFamily="34" charset="-120"/>
              </a:rPr>
              <a:t>로 먼저 설계</a:t>
            </a:r>
            <a:endParaRPr lang="ko-KR" sz="1800" dirty="0"/>
          </a:p>
        </p:txBody>
      </p:sp>
      <p:sp>
        <p:nvSpPr>
          <p:cNvPr id="12" name="Text 10"/>
          <p:cNvSpPr txBox="1"/>
          <p:nvPr/>
        </p:nvSpPr>
        <p:spPr>
          <a:xfrm>
            <a:off x="7406640" y="4237990"/>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개발은 가벼운 </a:t>
            </a:r>
            <a:r>
              <a:rPr lang="ko-KR" altLang="en-US" sz="1800" b="1" dirty="0">
                <a:solidFill>
                  <a:srgbClr val="0057FF"/>
                </a:solidFill>
                <a:latin typeface="Pretendard" pitchFamily="34" charset="0"/>
                <a:ea typeface="Pretendard" pitchFamily="34" charset="-122"/>
                <a:cs typeface="Pretendard" pitchFamily="34" charset="-120"/>
              </a:rPr>
              <a:t>메모리 구현체</a:t>
            </a:r>
            <a:r>
              <a:rPr lang="ko-KR" altLang="en-US" sz="1800" dirty="0">
                <a:solidFill>
                  <a:srgbClr val="23262F"/>
                </a:solidFill>
                <a:latin typeface="Pretendard" pitchFamily="34" charset="0"/>
                <a:ea typeface="Pretendard" pitchFamily="34" charset="-122"/>
                <a:cs typeface="Pretendard" pitchFamily="34" charset="-120"/>
              </a:rPr>
              <a:t>로 시작</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의존성 주입 (DI)</a:t>
            </a:r>
            <a:endParaRPr lang="en-US" sz="3200" dirty="0"/>
          </a:p>
        </p:txBody>
      </p:sp>
      <p:sp>
        <p:nvSpPr>
          <p:cNvPr id="4" name="Shape 2"/>
          <p:cNvSpPr/>
          <p:nvPr/>
        </p:nvSpPr>
        <p:spPr>
          <a:xfrm>
            <a:off x="685800" y="4997196"/>
            <a:ext cx="10820095" cy="1175004"/>
          </a:xfrm>
          <a:prstGeom prst="roundRect">
            <a:avLst>
              <a:gd name="adj" fmla="val 9339"/>
            </a:avLst>
          </a:prstGeom>
          <a:solidFill>
            <a:srgbClr val="F8F7F4"/>
          </a:solidFill>
          <a:ln w="12700">
            <a:solidFill>
              <a:srgbClr val="F8F7F4"/>
            </a:solidFill>
            <a:prstDash val="solid"/>
          </a:ln>
        </p:spPr>
      </p:sp>
      <p:sp>
        <p:nvSpPr>
          <p:cNvPr id="5" name="Text 3"/>
          <p:cNvSpPr txBox="1"/>
          <p:nvPr/>
        </p:nvSpPr>
        <p:spPr>
          <a:xfrm>
            <a:off x="1051560" y="5253228"/>
            <a:ext cx="10088575" cy="662940"/>
          </a:xfrm>
          <a:prstGeom prst="rect">
            <a:avLst/>
          </a:prstGeom>
          <a:noFill/>
          <a:ln/>
        </p:spPr>
        <p:txBody>
          <a:bodyPr wrap="square" lIns="0" tIns="0" rIns="0" bIns="0" rtlCol="0" anchor="t"/>
          <a:lstStyle/>
          <a:p>
            <a:pPr indent="0" marL="0">
              <a:lnSpc>
                <a:spcPct val="110000"/>
              </a:lnSpc>
              <a:buNone/>
            </a:pPr>
            <a:r>
              <a:rPr lang="ko-KR" altLang="en-US" sz="1800" b="1" dirty="0">
                <a:solidFill>
                  <a:srgbClr val="23262F"/>
                </a:solidFill>
                <a:latin typeface="Pretendard" pitchFamily="34" charset="0"/>
                <a:ea typeface="Pretendard" pitchFamily="34" charset="-122"/>
                <a:cs typeface="Pretendard" pitchFamily="34" charset="-120"/>
              </a:rPr>
              <a:t>필요한 객체를 밖에서 넣어주는 것 = </a:t>
            </a:r>
            <a:r>
              <a:rPr lang="ko-KR" altLang="en-US" sz="1800" b="1" dirty="0">
                <a:solidFill>
                  <a:srgbClr val="0057FF"/>
                </a:solidFill>
                <a:latin typeface="Pretendard" pitchFamily="34" charset="0"/>
                <a:ea typeface="Pretendard" pitchFamily="34" charset="-122"/>
                <a:cs typeface="Pretendard" pitchFamily="34" charset="-120"/>
              </a:rPr>
              <a:t>DI(의존성 주입)</a:t>
            </a:r>
            <a:r>
              <a:rPr lang="ko-KR" altLang="en-US" sz="1800" b="1" dirty="0">
                <a:solidFill>
                  <a:srgbClr val="23262F"/>
                </a:solidFill>
                <a:latin typeface="Pretendard" pitchFamily="34" charset="0"/>
                <a:ea typeface="Pretendard" pitchFamily="34" charset="-122"/>
                <a:cs typeface="Pretendard" pitchFamily="34" charset="-120"/>
              </a:rPr>
              <a:t>. 구현체를 고르는 코드가 서비스 </a:t>
            </a:r>
            <a:r>
              <a:rPr lang="ko-KR" altLang="en-US" sz="1800" b="1" dirty="0">
                <a:solidFill>
                  <a:srgbClr val="0057FF"/>
                </a:solidFill>
                <a:latin typeface="Pretendard" pitchFamily="34" charset="0"/>
                <a:ea typeface="Pretendard" pitchFamily="34" charset="-122"/>
                <a:cs typeface="Pretendard" pitchFamily="34" charset="-120"/>
              </a:rPr>
              <a:t>밖</a:t>
            </a:r>
            <a:r>
              <a:rPr lang="ko-KR" altLang="en-US" sz="1800" b="1" dirty="0">
                <a:solidFill>
                  <a:srgbClr val="23262F"/>
                </a:solidFill>
                <a:latin typeface="Pretendard" pitchFamily="34" charset="0"/>
                <a:ea typeface="Pretendard" pitchFamily="34" charset="-122"/>
                <a:cs typeface="Pretendard" pitchFamily="34" charset="-120"/>
              </a:rPr>
              <a:t>으로 나간다.</a:t>
            </a:r>
            <a:endParaRPr lang="ko-KR" sz="1800" dirty="0"/>
          </a:p>
        </p:txBody>
      </p:sp>
      <p:sp>
        <p:nvSpPr>
          <p:cNvPr id="6" name="Text 4"/>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before — 서비스가 직접 생성한다</a:t>
            </a:r>
            <a:endParaRPr lang="ko-KR" sz="1200" dirty="0"/>
          </a:p>
        </p:txBody>
      </p:sp>
      <p:sp>
        <p:nvSpPr>
          <p:cNvPr id="7" name="Shape 5"/>
          <p:cNvSpPr/>
          <p:nvPr/>
        </p:nvSpPr>
        <p:spPr>
          <a:xfrm>
            <a:off x="685800" y="2093976"/>
            <a:ext cx="5227168" cy="1112520"/>
          </a:xfrm>
          <a:prstGeom prst="roundRect">
            <a:avLst>
              <a:gd name="adj" fmla="val 9863"/>
            </a:avLst>
          </a:prstGeom>
          <a:solidFill>
            <a:srgbClr val="23262F"/>
          </a:solidFill>
          <a:ln w="12700">
            <a:solidFill>
              <a:srgbClr val="23262F"/>
            </a:solidFill>
            <a:prstDash val="solid"/>
          </a:ln>
        </p:spPr>
      </p:sp>
      <p:sp>
        <p:nvSpPr>
          <p:cNvPr id="8" name="Text 6"/>
          <p:cNvSpPr txBox="1"/>
          <p:nvPr/>
        </p:nvSpPr>
        <p:spPr>
          <a:xfrm>
            <a:off x="868680" y="2276856"/>
            <a:ext cx="4861408" cy="746760"/>
          </a:xfrm>
          <a:prstGeom prst="rect">
            <a:avLst/>
          </a:prstGeom>
          <a:noFill/>
          <a:ln/>
        </p:spPr>
        <p:txBody>
          <a:bodyPr wrap="square" lIns="0" tIns="0" rIns="0" bIns="0" rtlCol="0" anchor="t"/>
          <a:lstStyle/>
          <a:p>
            <a:pPr indent="0" marL="0">
              <a:lnSpc>
                <a:spcPct val="120000"/>
              </a:lnSpc>
              <a:buNone/>
            </a:pPr>
            <a:r>
              <a:rPr lang="en-US" sz="1400" dirty="0">
                <a:solidFill>
                  <a:srgbClr val="808080"/>
                </a:solidFill>
                <a:latin typeface="Consolas" pitchFamily="34" charset="0"/>
                <a:ea typeface="Pretendard" pitchFamily="34" charset="-122"/>
                <a:cs typeface="Consolas" pitchFamily="34" charset="-120"/>
              </a:rPr>
              <a:t>// MemberService</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final</a:t>
            </a:r>
            <a:r>
              <a:rPr lang="en-US" sz="1400" dirty="0">
                <a:solidFill>
                  <a:srgbClr val="A9B7C6"/>
                </a:solidFill>
                <a:latin typeface="Consolas" pitchFamily="34" charset="0"/>
                <a:ea typeface="Pretendard" pitchFamily="34" charset="-122"/>
                <a:cs typeface="Consolas" pitchFamily="34" charset="-120"/>
              </a:rPr>
              <a:t> MemberRepository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MemoryMemberRepository();</a:t>
            </a:r>
            <a:endParaRPr lang="en-US" sz="1400" dirty="0"/>
          </a:p>
        </p:txBody>
      </p:sp>
      <p:sp>
        <p:nvSpPr>
          <p:cNvPr id="9" name="Text 7"/>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after — 생성자로 받는다</a:t>
            </a:r>
            <a:endParaRPr lang="ko-KR" sz="1200" dirty="0"/>
          </a:p>
        </p:txBody>
      </p:sp>
      <p:sp>
        <p:nvSpPr>
          <p:cNvPr id="10" name="Shape 8"/>
          <p:cNvSpPr/>
          <p:nvPr/>
        </p:nvSpPr>
        <p:spPr>
          <a:xfrm>
            <a:off x="6278728" y="2093976"/>
            <a:ext cx="5227168" cy="2108200"/>
          </a:xfrm>
          <a:prstGeom prst="roundRect">
            <a:avLst>
              <a:gd name="adj" fmla="val 5205"/>
            </a:avLst>
          </a:prstGeom>
          <a:solidFill>
            <a:srgbClr val="23262F"/>
          </a:solidFill>
          <a:ln w="12700">
            <a:solidFill>
              <a:srgbClr val="23262F"/>
            </a:solidFill>
            <a:prstDash val="solid"/>
          </a:ln>
        </p:spPr>
      </p:sp>
      <p:sp>
        <p:nvSpPr>
          <p:cNvPr id="11" name="Text 9"/>
          <p:cNvSpPr txBox="1"/>
          <p:nvPr/>
        </p:nvSpPr>
        <p:spPr>
          <a:xfrm>
            <a:off x="6461608" y="2276856"/>
            <a:ext cx="4861408" cy="1742440"/>
          </a:xfrm>
          <a:prstGeom prst="rect">
            <a:avLst/>
          </a:prstGeom>
          <a:noFill/>
          <a:ln/>
        </p:spPr>
        <p:txBody>
          <a:bodyPr wrap="square" lIns="0" tIns="0" rIns="0" bIns="0" rtlCol="0" anchor="t"/>
          <a:lstStyle/>
          <a:p>
            <a:pPr indent="0" marL="0">
              <a:lnSpc>
                <a:spcPct val="120000"/>
              </a:lnSpc>
              <a:buNone/>
            </a:pPr>
            <a:r>
              <a:rPr lang="en-US" sz="1400" dirty="0">
                <a:solidFill>
                  <a:srgbClr val="808080"/>
                </a:solidFill>
                <a:latin typeface="Consolas" pitchFamily="34" charset="0"/>
                <a:ea typeface="Pretendard" pitchFamily="34" charset="-122"/>
                <a:cs typeface="Consolas" pitchFamily="34" charset="-120"/>
              </a:rPr>
              <a:t>// MemberService</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final</a:t>
            </a:r>
            <a:r>
              <a:rPr lang="en-US" sz="1400" dirty="0">
                <a:solidFill>
                  <a:srgbClr val="A9B7C6"/>
                </a:solidFill>
                <a:latin typeface="Consolas" pitchFamily="34" charset="0"/>
                <a:ea typeface="Pretendard" pitchFamily="34" charset="-122"/>
                <a:cs typeface="Consolas" pitchFamily="34" charset="-120"/>
              </a:rPr>
              <a:t> MemberRepository memberRepository;</a:t>
            </a:r>
            <a:endParaRPr lang="en-US" sz="1400" dirty="0"/>
          </a:p>
          <a:p>
            <a:pPr indent="0" marL="0">
              <a:lnSpc>
                <a:spcPct val="120000"/>
              </a:lnSpc>
              <a:buNone/>
            </a:pP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FFC66D"/>
                </a:solidFill>
                <a:latin typeface="Consolas" pitchFamily="34" charset="0"/>
                <a:ea typeface="Pretendard" pitchFamily="34" charset="-122"/>
                <a:cs typeface="Consolas" pitchFamily="34" charset="-120"/>
              </a:rPr>
              <a:t>MemberService</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MemberRepository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this</a:t>
            </a:r>
            <a:r>
              <a:rPr lang="en-US" sz="1400" dirty="0">
                <a:solidFill>
                  <a:srgbClr val="A9B7C6"/>
                </a:solidFill>
                <a:latin typeface="Consolas" pitchFamily="34" charset="0"/>
                <a:ea typeface="Pretendard" pitchFamily="34" charset="-122"/>
                <a:cs typeface="Consolas" pitchFamily="34" charset="-120"/>
              </a:rPr>
              <a:t>.memberRepository = 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private final 과 @RequiredArgsConstructor</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생성자를 직접 작성 (강의)</a:t>
            </a:r>
            <a:endParaRPr lang="ko-KR" sz="1200" dirty="0"/>
          </a:p>
        </p:txBody>
      </p:sp>
      <p:sp>
        <p:nvSpPr>
          <p:cNvPr id="5" name="Shape 3"/>
          <p:cNvSpPr/>
          <p:nvPr/>
        </p:nvSpPr>
        <p:spPr>
          <a:xfrm>
            <a:off x="685800" y="2093976"/>
            <a:ext cx="6309360" cy="1610360"/>
          </a:xfrm>
          <a:prstGeom prst="roundRect">
            <a:avLst>
              <a:gd name="adj" fmla="val 6814"/>
            </a:avLst>
          </a:prstGeom>
          <a:solidFill>
            <a:srgbClr val="23262F"/>
          </a:solidFill>
          <a:ln w="12700">
            <a:solidFill>
              <a:srgbClr val="23262F"/>
            </a:solidFill>
            <a:prstDash val="solid"/>
          </a:ln>
        </p:spPr>
      </p:sp>
      <p:sp>
        <p:nvSpPr>
          <p:cNvPr id="6" name="Text 4"/>
          <p:cNvSpPr txBox="1"/>
          <p:nvPr/>
        </p:nvSpPr>
        <p:spPr>
          <a:xfrm>
            <a:off x="868680" y="2276856"/>
            <a:ext cx="5943600" cy="1244600"/>
          </a:xfrm>
          <a:prstGeom prst="rect">
            <a:avLst/>
          </a:prstGeom>
          <a:noFill/>
          <a:ln/>
        </p:spPr>
        <p:txBody>
          <a:bodyPr wrap="square" lIns="0" tIns="0" rIns="0" bIns="0" rtlCol="0" anchor="t"/>
          <a:lstStyle/>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final</a:t>
            </a:r>
            <a:r>
              <a:rPr lang="en-US" sz="1400" dirty="0">
                <a:solidFill>
                  <a:srgbClr val="A9B7C6"/>
                </a:solidFill>
                <a:latin typeface="Consolas" pitchFamily="34" charset="0"/>
                <a:ea typeface="Pretendard" pitchFamily="34" charset="-122"/>
                <a:cs typeface="Consolas" pitchFamily="34" charset="-120"/>
              </a:rPr>
              <a:t> MemberRepository memberRepository;</a:t>
            </a:r>
            <a:endParaRPr lang="en-US" sz="1400" dirty="0"/>
          </a:p>
          <a:p>
            <a:pPr indent="0" marL="0">
              <a:lnSpc>
                <a:spcPct val="120000"/>
              </a:lnSpc>
              <a:buNone/>
            </a:pP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FFC66D"/>
                </a:solidFill>
                <a:latin typeface="Consolas" pitchFamily="34" charset="0"/>
                <a:ea typeface="Pretendard" pitchFamily="34" charset="-122"/>
                <a:cs typeface="Consolas" pitchFamily="34" charset="-120"/>
              </a:rPr>
              <a:t>MemberService</a:t>
            </a:r>
            <a:r>
              <a:rPr lang="en-US" sz="1400" dirty="0">
                <a:solidFill>
                  <a:srgbClr val="A9B7C6"/>
                </a:solidFill>
                <a:latin typeface="Consolas" pitchFamily="34" charset="0"/>
                <a:ea typeface="Pretendard" pitchFamily="34" charset="-122"/>
                <a:cs typeface="Consolas" pitchFamily="34" charset="-120"/>
              </a:rPr>
              <a:t>(MemberRepository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this</a:t>
            </a:r>
            <a:r>
              <a:rPr lang="en-US" sz="1400" dirty="0">
                <a:solidFill>
                  <a:srgbClr val="A9B7C6"/>
                </a:solidFill>
                <a:latin typeface="Consolas" pitchFamily="34" charset="0"/>
                <a:ea typeface="Pretendard" pitchFamily="34" charset="-122"/>
                <a:cs typeface="Consolas" pitchFamily="34" charset="-120"/>
              </a:rPr>
              <a:t>.memberRepository = 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7" name="Text 5"/>
          <p:cNvSpPr txBox="1"/>
          <p:nvPr/>
        </p:nvSpPr>
        <p:spPr>
          <a:xfrm>
            <a:off x="685800" y="3978656"/>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Lombok — 같은 생성자를 자동 생성 (실무)</a:t>
            </a:r>
            <a:endParaRPr lang="ko-KR" sz="1200" dirty="0"/>
          </a:p>
        </p:txBody>
      </p:sp>
      <p:sp>
        <p:nvSpPr>
          <p:cNvPr id="8" name="Shape 6"/>
          <p:cNvSpPr/>
          <p:nvPr/>
        </p:nvSpPr>
        <p:spPr>
          <a:xfrm>
            <a:off x="685800" y="4289552"/>
            <a:ext cx="6309360" cy="1610360"/>
          </a:xfrm>
          <a:prstGeom prst="roundRect">
            <a:avLst>
              <a:gd name="adj" fmla="val 6814"/>
            </a:avLst>
          </a:prstGeom>
          <a:solidFill>
            <a:srgbClr val="23262F"/>
          </a:solidFill>
          <a:ln w="12700">
            <a:solidFill>
              <a:srgbClr val="23262F"/>
            </a:solidFill>
            <a:prstDash val="solid"/>
          </a:ln>
        </p:spPr>
      </p:sp>
      <p:sp>
        <p:nvSpPr>
          <p:cNvPr id="9" name="Text 7"/>
          <p:cNvSpPr txBox="1"/>
          <p:nvPr/>
        </p:nvSpPr>
        <p:spPr>
          <a:xfrm>
            <a:off x="868680" y="4472432"/>
            <a:ext cx="5943600" cy="124460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pitchFamily="34" charset="0"/>
                <a:ea typeface="Pretendard" pitchFamily="34" charset="-122"/>
                <a:cs typeface="Consolas" pitchFamily="34" charset="-120"/>
              </a:rPr>
              <a:t>@Service</a:t>
            </a:r>
            <a:endParaRPr lang="en-US" sz="1400" dirty="0"/>
          </a:p>
          <a:p>
            <a:pPr indent="0" marL="0">
              <a:lnSpc>
                <a:spcPct val="120000"/>
              </a:lnSpc>
              <a:buNone/>
            </a:pPr>
            <a:r>
              <a:rPr lang="en-US" sz="1400" dirty="0">
                <a:solidFill>
                  <a:srgbClr val="BBB529"/>
                </a:solidFill>
                <a:latin typeface="Consolas" pitchFamily="34" charset="0"/>
                <a:ea typeface="Pretendard" pitchFamily="34" charset="-122"/>
                <a:cs typeface="Consolas" pitchFamily="34" charset="-120"/>
              </a:rPr>
              <a:t>@RequiredArgsConstructor</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class</a:t>
            </a:r>
            <a:r>
              <a:rPr lang="en-US" sz="1400" dirty="0">
                <a:solidFill>
                  <a:srgbClr val="A9B7C6"/>
                </a:solidFill>
                <a:latin typeface="Consolas" pitchFamily="34" charset="0"/>
                <a:ea typeface="Pretendard" pitchFamily="34" charset="-122"/>
                <a:cs typeface="Consolas" pitchFamily="34" charset="-120"/>
              </a:rPr>
              <a:t> MemberService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final</a:t>
            </a:r>
            <a:r>
              <a:rPr lang="en-US" sz="1400" dirty="0">
                <a:solidFill>
                  <a:srgbClr val="A9B7C6"/>
                </a:solidFill>
                <a:latin typeface="Consolas" pitchFamily="34" charset="0"/>
                <a:ea typeface="Pretendard" pitchFamily="34" charset="-122"/>
                <a:cs typeface="Consolas" pitchFamily="34" charset="-120"/>
              </a:rPr>
              <a:t> MemberRepository 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10" name="Text 8"/>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final</a:t>
            </a:r>
            <a:r>
              <a:rPr lang="ko-KR" altLang="en-US" sz="1800" dirty="0">
                <a:solidFill>
                  <a:srgbClr val="23262F"/>
                </a:solidFill>
                <a:latin typeface="Pretendard" pitchFamily="34" charset="0"/>
                <a:ea typeface="Pretendard" pitchFamily="34" charset="-122"/>
                <a:cs typeface="Pretendard" pitchFamily="34" charset="-120"/>
              </a:rPr>
              <a:t> — 생성자에서 </a:t>
            </a:r>
            <a:r>
              <a:rPr lang="ko-KR" altLang="en-US" sz="1800" b="1" dirty="0">
                <a:solidFill>
                  <a:srgbClr val="0057FF"/>
                </a:solidFill>
                <a:latin typeface="Pretendard" pitchFamily="34" charset="0"/>
                <a:ea typeface="Pretendard" pitchFamily="34" charset="-122"/>
                <a:cs typeface="Pretendard" pitchFamily="34" charset="-120"/>
              </a:rPr>
              <a:t>한 번만</a:t>
            </a:r>
            <a:r>
              <a:rPr lang="ko-KR" altLang="en-US" sz="1800" dirty="0">
                <a:solidFill>
                  <a:srgbClr val="23262F"/>
                </a:solidFill>
                <a:latin typeface="Pretendard" pitchFamily="34" charset="0"/>
                <a:ea typeface="Pretendard" pitchFamily="34" charset="-122"/>
                <a:cs typeface="Pretendard" pitchFamily="34" charset="-120"/>
              </a:rPr>
              <a:t> 넣고 바꿀 수 없다</a:t>
            </a:r>
            <a:endParaRPr lang="ko-KR" sz="1800" dirty="0"/>
          </a:p>
        </p:txBody>
      </p:sp>
      <p:sp>
        <p:nvSpPr>
          <p:cNvPr id="11" name="Text 9"/>
          <p:cNvSpPr txBox="1"/>
          <p:nvPr/>
        </p:nvSpPr>
        <p:spPr>
          <a:xfrm>
            <a:off x="7406640" y="2782401"/>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넣는 걸 빠뜨리면 </a:t>
            </a:r>
            <a:r>
              <a:rPr lang="ko-KR" altLang="en-US" sz="1800" b="1" dirty="0">
                <a:solidFill>
                  <a:srgbClr val="0057FF"/>
                </a:solidFill>
                <a:latin typeface="Pretendard" pitchFamily="34" charset="0"/>
                <a:ea typeface="Pretendard" pitchFamily="34" charset="-122"/>
                <a:cs typeface="Pretendard" pitchFamily="34" charset="-120"/>
              </a:rPr>
              <a:t>컴파일 오류</a:t>
            </a:r>
            <a:r>
              <a:rPr lang="ko-KR" altLang="en-US" sz="1800" dirty="0">
                <a:solidFill>
                  <a:srgbClr val="23262F"/>
                </a:solidFill>
                <a:latin typeface="Pretendard" pitchFamily="34" charset="0"/>
                <a:ea typeface="Pretendard" pitchFamily="34" charset="-122"/>
                <a:cs typeface="Pretendard" pitchFamily="34" charset="-120"/>
              </a:rPr>
              <a:t> → 누락 방지</a:t>
            </a:r>
            <a:endParaRPr lang="ko-KR" sz="1800" dirty="0"/>
          </a:p>
        </p:txBody>
      </p:sp>
      <p:sp>
        <p:nvSpPr>
          <p:cNvPr id="12" name="Text 10"/>
          <p:cNvSpPr txBox="1"/>
          <p:nvPr/>
        </p:nvSpPr>
        <p:spPr>
          <a:xfrm>
            <a:off x="7406640" y="3736001"/>
            <a:ext cx="40992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@RequiredArgsConstructor</a:t>
            </a:r>
            <a:r>
              <a:rPr lang="ko-KR" altLang="en-US" sz="1800" dirty="0">
                <a:solidFill>
                  <a:srgbClr val="23262F"/>
                </a:solidFill>
                <a:latin typeface="Pretendard" pitchFamily="34" charset="0"/>
                <a:ea typeface="Pretendard" pitchFamily="34" charset="-122"/>
                <a:cs typeface="Pretendard" pitchFamily="34" charset="-120"/>
              </a:rPr>
              <a:t> — </a:t>
            </a:r>
            <a:r>
              <a:rPr lang="ko-KR" altLang="en-US" sz="1800" dirty="0">
                <a:solidFill>
                  <a:srgbClr val="23262F"/>
                </a:solidFill>
                <a:latin typeface="Consolas" pitchFamily="34" charset="0"/>
                <a:ea typeface="Pretendard" pitchFamily="34" charset="-122"/>
                <a:cs typeface="Consolas" pitchFamily="34" charset="-120"/>
              </a:rPr>
              <a:t>final</a:t>
            </a:r>
            <a:r>
              <a:rPr lang="ko-KR" altLang="en-US" sz="1800" dirty="0">
                <a:solidFill>
                  <a:srgbClr val="23262F"/>
                </a:solidFill>
                <a:latin typeface="Pretendard" pitchFamily="34" charset="0"/>
                <a:ea typeface="Pretendard" pitchFamily="34" charset="-122"/>
                <a:cs typeface="Pretendard" pitchFamily="34" charset="-120"/>
              </a:rPr>
              <a:t> 필드를 받는 생성자를 자동 생성</a:t>
            </a:r>
            <a:endParaRPr lang="ko-KR" sz="1800" dirty="0"/>
          </a:p>
        </p:txBody>
      </p:sp>
      <p:sp>
        <p:nvSpPr>
          <p:cNvPr id="13" name="Text 11"/>
          <p:cNvSpPr txBox="1"/>
          <p:nvPr/>
        </p:nvSpPr>
        <p:spPr>
          <a:xfrm>
            <a:off x="7406640" y="4998212"/>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생성자가 하나면 </a:t>
            </a:r>
            <a:r>
              <a:rPr lang="ko-KR" altLang="en-US" sz="1800" dirty="0">
                <a:solidFill>
                  <a:srgbClr val="23262F"/>
                </a:solidFill>
                <a:latin typeface="Consolas" pitchFamily="34" charset="0"/>
                <a:ea typeface="Pretendard" pitchFamily="34" charset="-122"/>
                <a:cs typeface="Consolas" pitchFamily="34" charset="-120"/>
              </a:rPr>
              <a:t>@Autowired</a:t>
            </a:r>
            <a:r>
              <a:rPr lang="ko-KR" altLang="en-US" sz="1800" dirty="0">
                <a:solidFill>
                  <a:srgbClr val="23262F"/>
                </a:solidFill>
                <a:latin typeface="Pretendard" pitchFamily="34" charset="0"/>
                <a:ea typeface="Pretendard" pitchFamily="34" charset="-122"/>
                <a:cs typeface="Pretendard" pitchFamily="34" charset="-120"/>
              </a:rPr>
              <a:t> 생략 가능</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의존성 주입 방법 세 가지</a:t>
            </a:r>
            <a:endParaRPr lang="en-US" sz="3200" dirty="0"/>
          </a:p>
        </p:txBody>
      </p:sp>
      <p:sp>
        <p:nvSpPr>
          <p:cNvPr id="4" name="Shape 2"/>
          <p:cNvSpPr/>
          <p:nvPr/>
        </p:nvSpPr>
        <p:spPr>
          <a:xfrm>
            <a:off x="685800" y="1783080"/>
            <a:ext cx="10820095" cy="2641600"/>
          </a:xfrm>
          <a:prstGeom prst="roundRect">
            <a:avLst>
              <a:gd name="adj" fmla="val 4154"/>
            </a:avLst>
          </a:prstGeom>
          <a:solidFill>
            <a:srgbClr val="23262F"/>
          </a:solidFill>
          <a:ln w="12700">
            <a:solidFill>
              <a:srgbClr val="23262F"/>
            </a:solidFill>
            <a:prstDash val="solid"/>
          </a:ln>
        </p:spPr>
      </p:sp>
      <p:sp>
        <p:nvSpPr>
          <p:cNvPr id="5" name="Text 3"/>
          <p:cNvSpPr txBox="1"/>
          <p:nvPr/>
        </p:nvSpPr>
        <p:spPr>
          <a:xfrm>
            <a:off x="868680" y="1965960"/>
            <a:ext cx="10454335" cy="2275840"/>
          </a:xfrm>
          <a:prstGeom prst="rect">
            <a:avLst/>
          </a:prstGeom>
          <a:noFill/>
          <a:ln/>
        </p:spPr>
        <p:txBody>
          <a:bodyPr wrap="square" lIns="0" tIns="0" rIns="0" bIns="0" rtlCol="0" anchor="t"/>
          <a:lstStyle/>
          <a:p>
            <a:pPr indent="0" marL="0">
              <a:lnSpc>
                <a:spcPct val="120000"/>
              </a:lnSpc>
              <a:buNone/>
            </a:pPr>
            <a:r>
              <a:rPr lang="en-US" sz="1600" dirty="0">
                <a:solidFill>
                  <a:srgbClr val="808080"/>
                </a:solidFill>
                <a:latin typeface="Consolas" pitchFamily="34" charset="0"/>
                <a:ea typeface="Pretendard" pitchFamily="34" charset="-122"/>
                <a:cs typeface="Consolas" pitchFamily="34" charset="-120"/>
              </a:rPr>
              <a:t>// ① 필드 주입</a:t>
            </a:r>
            <a:endParaRPr lang="en-US" sz="1600" dirty="0"/>
          </a:p>
          <a:p>
            <a:pPr indent="0" marL="0">
              <a:lnSpc>
                <a:spcPct val="120000"/>
              </a:lnSpc>
              <a:buNone/>
            </a:pPr>
            <a:r>
              <a:rPr lang="en-US" sz="1600" dirty="0">
                <a:solidFill>
                  <a:srgbClr val="BBB529"/>
                </a:solidFill>
                <a:latin typeface="Consolas" pitchFamily="34" charset="0"/>
                <a:ea typeface="Pretendard" pitchFamily="34" charset="-122"/>
                <a:cs typeface="Consolas" pitchFamily="34" charset="-120"/>
              </a:rPr>
              <a:t>@Autowired</a:t>
            </a:r>
            <a:endParaRPr lang="en-US" sz="1600" dirty="0"/>
          </a:p>
          <a:p>
            <a:pPr indent="0" marL="0">
              <a:lnSpc>
                <a:spcPct val="120000"/>
              </a:lnSpc>
              <a:buNone/>
            </a:pPr>
            <a:r>
              <a:rPr lang="en-US" sz="1600" dirty="0">
                <a:solidFill>
                  <a:srgbClr val="CC7832"/>
                </a:solidFill>
                <a:latin typeface="Consolas" pitchFamily="34" charset="0"/>
                <a:ea typeface="Pretendard" pitchFamily="34" charset="-122"/>
                <a:cs typeface="Consolas" pitchFamily="34" charset="-120"/>
              </a:rPr>
              <a:t>private</a:t>
            </a:r>
            <a:r>
              <a:rPr lang="en-US" sz="1600" dirty="0">
                <a:solidFill>
                  <a:srgbClr val="A9B7C6"/>
                </a:solidFill>
                <a:latin typeface="Consolas" pitchFamily="34" charset="0"/>
                <a:ea typeface="Pretendard" pitchFamily="34" charset="-122"/>
                <a:cs typeface="Consolas" pitchFamily="34" charset="-120"/>
              </a:rPr>
              <a:t> MemberService memberService;</a:t>
            </a:r>
            <a:endParaRPr lang="en-US" sz="1600" dirty="0"/>
          </a:p>
          <a:p>
            <a:pPr indent="0" marL="0">
              <a:lnSpc>
                <a:spcPct val="120000"/>
              </a:lnSpc>
              <a:buNone/>
            </a:pPr>
            <a:r>
              <a:rPr lang="en-US" sz="1600" dirty="0">
                <a:solidFill>
                  <a:srgbClr val="808080"/>
                </a:solidFill>
                <a:latin typeface="Consolas" pitchFamily="34" charset="0"/>
                <a:ea typeface="Pretendard" pitchFamily="34" charset="-122"/>
                <a:cs typeface="Consolas" pitchFamily="34" charset="-120"/>
              </a:rPr>
              <a:t>// ② setter 주입</a:t>
            </a:r>
            <a:endParaRPr lang="en-US" sz="1600" dirty="0"/>
          </a:p>
          <a:p>
            <a:pPr indent="0" marL="0">
              <a:lnSpc>
                <a:spcPct val="120000"/>
              </a:lnSpc>
              <a:buNone/>
            </a:pPr>
            <a:r>
              <a:rPr lang="en-US" sz="1600" dirty="0">
                <a:solidFill>
                  <a:srgbClr val="BBB529"/>
                </a:solidFill>
                <a:latin typeface="Consolas" pitchFamily="34" charset="0"/>
                <a:ea typeface="Pretendard" pitchFamily="34" charset="-122"/>
                <a:cs typeface="Consolas" pitchFamily="34" charset="-120"/>
              </a:rPr>
              <a:t>@Autowired</a:t>
            </a:r>
            <a:endParaRPr lang="en-US" sz="1600" dirty="0"/>
          </a:p>
          <a:p>
            <a:pPr indent="0" marL="0">
              <a:lnSpc>
                <a:spcPct val="120000"/>
              </a:lnSpc>
              <a:buNone/>
            </a:pP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void</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FFC66D"/>
                </a:solidFill>
                <a:latin typeface="Consolas" pitchFamily="34" charset="0"/>
                <a:ea typeface="Pretendard" pitchFamily="34" charset="-122"/>
                <a:cs typeface="Consolas" pitchFamily="34" charset="-120"/>
              </a:rPr>
              <a:t>setMemberService</a:t>
            </a:r>
            <a:r>
              <a:rPr lang="en-US" sz="1600" dirty="0">
                <a:solidFill>
                  <a:srgbClr val="A9B7C6"/>
                </a:solidFill>
                <a:latin typeface="Consolas" pitchFamily="34" charset="0"/>
                <a:ea typeface="Pretendard" pitchFamily="34" charset="-122"/>
                <a:cs typeface="Consolas" pitchFamily="34" charset="-120"/>
              </a:rPr>
              <a:t>(MemberService memberService) { ... }</a:t>
            </a:r>
            <a:endParaRPr lang="en-US" sz="1600" dirty="0"/>
          </a:p>
          <a:p>
            <a:pPr indent="0" marL="0">
              <a:lnSpc>
                <a:spcPct val="120000"/>
              </a:lnSpc>
              <a:buNone/>
            </a:pPr>
            <a:r>
              <a:rPr lang="en-US" sz="1600" dirty="0">
                <a:solidFill>
                  <a:srgbClr val="808080"/>
                </a:solidFill>
                <a:latin typeface="Consolas" pitchFamily="34" charset="0"/>
                <a:ea typeface="Pretendard" pitchFamily="34" charset="-122"/>
                <a:cs typeface="Consolas" pitchFamily="34" charset="-120"/>
              </a:rPr>
              <a:t>// ③ 생성자 주입 (권장)</a:t>
            </a:r>
            <a:endParaRPr lang="en-US" sz="1600" dirty="0"/>
          </a:p>
          <a:p>
            <a:pPr indent="0" marL="0">
              <a:lnSpc>
                <a:spcPct val="120000"/>
              </a:lnSpc>
              <a:buNone/>
            </a:pP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FFC66D"/>
                </a:solidFill>
                <a:latin typeface="Consolas" pitchFamily="34" charset="0"/>
                <a:ea typeface="Pretendard" pitchFamily="34" charset="-122"/>
                <a:cs typeface="Consolas" pitchFamily="34" charset="-120"/>
              </a:rPr>
              <a:t>MemberController</a:t>
            </a:r>
            <a:r>
              <a:rPr lang="en-US" sz="1600" dirty="0">
                <a:solidFill>
                  <a:srgbClr val="A9B7C6"/>
                </a:solidFill>
                <a:latin typeface="Consolas" pitchFamily="34" charset="0"/>
                <a:ea typeface="Pretendard" pitchFamily="34" charset="-122"/>
                <a:cs typeface="Consolas" pitchFamily="34" charset="-120"/>
              </a:rPr>
              <a:t>(MemberService memberService) { ... }</a:t>
            </a:r>
            <a:endParaRPr lang="en-US" sz="1600" dirty="0"/>
          </a:p>
        </p:txBody>
      </p:sp>
      <p:sp>
        <p:nvSpPr>
          <p:cNvPr id="6" name="Shape 4"/>
          <p:cNvSpPr/>
          <p:nvPr/>
        </p:nvSpPr>
        <p:spPr>
          <a:xfrm>
            <a:off x="685800" y="4754880"/>
            <a:ext cx="3423818" cy="1417320"/>
          </a:xfrm>
          <a:prstGeom prst="roundRect">
            <a:avLst>
              <a:gd name="adj" fmla="val 7742"/>
            </a:avLst>
          </a:prstGeom>
          <a:solidFill>
            <a:srgbClr val="F8F7F4"/>
          </a:solidFill>
          <a:ln w="12700">
            <a:solidFill>
              <a:srgbClr val="F8F7F4"/>
            </a:solidFill>
            <a:prstDash val="solid"/>
          </a:ln>
        </p:spPr>
      </p:sp>
      <p:sp>
        <p:nvSpPr>
          <p:cNvPr id="7" name="Text 5"/>
          <p:cNvSpPr txBox="1"/>
          <p:nvPr/>
        </p:nvSpPr>
        <p:spPr>
          <a:xfrm>
            <a:off x="960120"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필드 주입</a:t>
            </a:r>
            <a:endParaRPr lang="ko-KR" sz="1700" dirty="0"/>
          </a:p>
        </p:txBody>
      </p:sp>
      <p:sp>
        <p:nvSpPr>
          <p:cNvPr id="8" name="Text 6"/>
          <p:cNvSpPr txBox="1"/>
          <p:nvPr/>
        </p:nvSpPr>
        <p:spPr>
          <a:xfrm>
            <a:off x="960120" y="5468112"/>
            <a:ext cx="2875178" cy="548640"/>
          </a:xfrm>
          <a:prstGeom prst="rect">
            <a:avLst/>
          </a:prstGeom>
          <a:noFill/>
          <a:ln/>
        </p:spPr>
        <p:txBody>
          <a:bodyPr wrap="square" lIns="0" tIns="0" rIns="0" bIns="0" rtlCol="0" anchor="t"/>
          <a:lstStyle/>
          <a:p>
            <a:pPr indent="0" marL="0">
              <a:lnSpc>
                <a:spcPct val="110000"/>
              </a:lnSpc>
              <a:buNone/>
            </a:pPr>
            <a:r>
              <a:rPr lang="ko-KR" altLang="en-US" sz="1600" b="1" dirty="0">
                <a:solidFill>
                  <a:srgbClr val="0057FF"/>
                </a:solidFill>
                <a:latin typeface="Pretendard" pitchFamily="34" charset="0"/>
                <a:ea typeface="Pretendard" pitchFamily="34" charset="-122"/>
                <a:cs typeface="Pretendard" pitchFamily="34" charset="-120"/>
              </a:rPr>
              <a:t>넣어줄 통로가 없어</a:t>
            </a:r>
            <a:endParaRPr lang="ko-KR" sz="1600" dirty="0"/>
          </a:p>
          <a:p>
            <a:pPr indent="0" marL="0">
              <a:lnSpc>
                <a:spcPct val="110000"/>
              </a:lnSpc>
              <a:buNone/>
            </a:pPr>
            <a:r>
              <a:rPr lang="ko-KR" altLang="en-US" sz="1600" dirty="0">
                <a:solidFill>
                  <a:srgbClr val="6B7280"/>
                </a:solidFill>
                <a:latin typeface="Pretendard" pitchFamily="34" charset="0"/>
                <a:ea typeface="Pretendard" pitchFamily="34" charset="-122"/>
                <a:cs typeface="Pretendard" pitchFamily="34" charset="-120"/>
              </a:rPr>
              <a:t>스프링 없이는 테스트가 어렵다</a:t>
            </a:r>
            <a:endParaRPr lang="ko-KR" sz="1600" dirty="0"/>
          </a:p>
        </p:txBody>
      </p:sp>
      <p:sp>
        <p:nvSpPr>
          <p:cNvPr id="9" name="Shape 7"/>
          <p:cNvSpPr/>
          <p:nvPr/>
        </p:nvSpPr>
        <p:spPr>
          <a:xfrm>
            <a:off x="4383938" y="4754880"/>
            <a:ext cx="3423818" cy="1417320"/>
          </a:xfrm>
          <a:prstGeom prst="roundRect">
            <a:avLst>
              <a:gd name="adj" fmla="val 7742"/>
            </a:avLst>
          </a:prstGeom>
          <a:solidFill>
            <a:srgbClr val="F8F7F4"/>
          </a:solidFill>
          <a:ln w="12700">
            <a:solidFill>
              <a:srgbClr val="F8F7F4"/>
            </a:solidFill>
            <a:prstDash val="solid"/>
          </a:ln>
        </p:spPr>
      </p:sp>
      <p:sp>
        <p:nvSpPr>
          <p:cNvPr id="10" name="Text 8"/>
          <p:cNvSpPr txBox="1"/>
          <p:nvPr/>
        </p:nvSpPr>
        <p:spPr>
          <a:xfrm>
            <a:off x="4658258"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setter 주입</a:t>
            </a:r>
            <a:endParaRPr lang="ko-KR" sz="1700" dirty="0"/>
          </a:p>
        </p:txBody>
      </p:sp>
      <p:sp>
        <p:nvSpPr>
          <p:cNvPr id="11" name="Text 9"/>
          <p:cNvSpPr txBox="1"/>
          <p:nvPr/>
        </p:nvSpPr>
        <p:spPr>
          <a:xfrm>
            <a:off x="4658258" y="5468112"/>
            <a:ext cx="2875178" cy="548640"/>
          </a:xfrm>
          <a:prstGeom prst="rect">
            <a:avLst/>
          </a:prstGeom>
          <a:noFill/>
          <a:ln/>
        </p:spPr>
        <p:txBody>
          <a:bodyPr wrap="square" lIns="0" tIns="0" rIns="0" bIns="0" rtlCol="0" anchor="t"/>
          <a:lstStyle/>
          <a:p>
            <a:pPr indent="0" marL="0">
              <a:lnSpc>
                <a:spcPct val="110000"/>
              </a:lnSpc>
              <a:buNone/>
            </a:pPr>
            <a:r>
              <a:rPr lang="ko-KR" altLang="en-US" sz="1600" dirty="0">
                <a:solidFill>
                  <a:srgbClr val="6B7280"/>
                </a:solidFill>
                <a:latin typeface="Consolas" pitchFamily="34" charset="0"/>
                <a:ea typeface="Pretendard" pitchFamily="34" charset="-122"/>
                <a:cs typeface="Consolas" pitchFamily="34" charset="-120"/>
              </a:rPr>
              <a:t>public</a:t>
            </a:r>
            <a:r>
              <a:rPr lang="ko-KR" altLang="en-US" sz="1600" dirty="0">
                <a:solidFill>
                  <a:srgbClr val="6B7280"/>
                </a:solidFill>
                <a:latin typeface="Pretendard" pitchFamily="34" charset="0"/>
                <a:ea typeface="Pretendard" pitchFamily="34" charset="-122"/>
                <a:cs typeface="Pretendard" pitchFamily="34" charset="-120"/>
              </a:rPr>
              <a:t> 이라 </a:t>
            </a:r>
            <a:r>
              <a:rPr lang="ko-KR" altLang="en-US" sz="1600" b="1" dirty="0">
                <a:solidFill>
                  <a:srgbClr val="0057FF"/>
                </a:solidFill>
                <a:latin typeface="Pretendard" pitchFamily="34" charset="0"/>
                <a:ea typeface="Pretendard" pitchFamily="34" charset="-122"/>
                <a:cs typeface="Pretendard" pitchFamily="34" charset="-120"/>
              </a:rPr>
              <a:t>누구나 나중에 바꿀 수</a:t>
            </a:r>
            <a:r>
              <a:rPr lang="ko-KR" altLang="en-US" sz="1600" dirty="0">
                <a:solidFill>
                  <a:srgbClr val="6B7280"/>
                </a:solidFill>
                <a:latin typeface="Pretendard" pitchFamily="34" charset="0"/>
                <a:ea typeface="Pretendard" pitchFamily="34" charset="-122"/>
                <a:cs typeface="Pretendard" pitchFamily="34" charset="-120"/>
              </a:rPr>
              <a:t> 있다</a:t>
            </a:r>
            <a:endParaRPr lang="ko-KR" sz="1600" dirty="0"/>
          </a:p>
        </p:txBody>
      </p:sp>
      <p:sp>
        <p:nvSpPr>
          <p:cNvPr id="12" name="Shape 10"/>
          <p:cNvSpPr/>
          <p:nvPr/>
        </p:nvSpPr>
        <p:spPr>
          <a:xfrm>
            <a:off x="8082077" y="4754880"/>
            <a:ext cx="3423818" cy="1417320"/>
          </a:xfrm>
          <a:prstGeom prst="roundRect">
            <a:avLst>
              <a:gd name="adj" fmla="val 7742"/>
            </a:avLst>
          </a:prstGeom>
          <a:solidFill>
            <a:srgbClr val="0057FF"/>
          </a:solidFill>
          <a:ln w="12700">
            <a:solidFill>
              <a:srgbClr val="0057FF"/>
            </a:solidFill>
            <a:prstDash val="solid"/>
          </a:ln>
        </p:spPr>
      </p:sp>
      <p:sp>
        <p:nvSpPr>
          <p:cNvPr id="13" name="Text 11"/>
          <p:cNvSpPr txBox="1"/>
          <p:nvPr/>
        </p:nvSpPr>
        <p:spPr>
          <a:xfrm>
            <a:off x="8356397" y="5010912"/>
            <a:ext cx="2875178" cy="365760"/>
          </a:xfrm>
          <a:prstGeom prst="rect">
            <a:avLst/>
          </a:prstGeom>
          <a:noFill/>
          <a:ln/>
        </p:spPr>
        <p:txBody>
          <a:bodyPr wrap="square" lIns="0" tIns="0" rIns="0" bIns="0" rtlCol="0" anchor="t"/>
          <a:lstStyle/>
          <a:p>
            <a:pPr indent="0" marL="0">
              <a:lnSpc>
                <a:spcPct val="110000"/>
              </a:lnSpc>
              <a:buNone/>
            </a:pPr>
            <a:r>
              <a:rPr lang="ko-KR" altLang="en-US" sz="1700" b="1" dirty="0">
                <a:solidFill>
                  <a:srgbClr val="FFFFFF"/>
                </a:solidFill>
                <a:latin typeface="Pretendard" pitchFamily="34" charset="0"/>
                <a:ea typeface="Pretendard" pitchFamily="34" charset="-122"/>
                <a:cs typeface="Pretendard" pitchFamily="34" charset="-120"/>
              </a:rPr>
              <a:t>생성자 주입 (권장)</a:t>
            </a:r>
            <a:endParaRPr lang="ko-KR" sz="1700" dirty="0"/>
          </a:p>
        </p:txBody>
      </p:sp>
      <p:sp>
        <p:nvSpPr>
          <p:cNvPr id="14" name="Text 12"/>
          <p:cNvSpPr txBox="1"/>
          <p:nvPr/>
        </p:nvSpPr>
        <p:spPr>
          <a:xfrm>
            <a:off x="8356397" y="5468112"/>
            <a:ext cx="2875178" cy="548640"/>
          </a:xfrm>
          <a:prstGeom prst="rect">
            <a:avLst/>
          </a:prstGeom>
          <a:noFill/>
          <a:ln/>
        </p:spPr>
        <p:txBody>
          <a:bodyPr wrap="square" lIns="0" tIns="0" rIns="0" bIns="0" rtlCol="0" anchor="t"/>
          <a:lstStyle/>
          <a:p>
            <a:pPr indent="0" marL="0">
              <a:lnSpc>
                <a:spcPct val="110000"/>
              </a:lnSpc>
              <a:buNone/>
            </a:pPr>
            <a:r>
              <a:rPr lang="ko-KR" altLang="en-US" sz="1600" dirty="0">
                <a:solidFill>
                  <a:srgbClr val="FFFFFF"/>
                </a:solidFill>
                <a:latin typeface="Pretendard" pitchFamily="34" charset="0"/>
                <a:ea typeface="Pretendard" pitchFamily="34" charset="-122"/>
                <a:cs typeface="Pretendard" pitchFamily="34" charset="-120"/>
              </a:rPr>
              <a:t>생성 시점에 </a:t>
            </a:r>
            <a:r>
              <a:rPr lang="ko-KR" altLang="en-US" sz="1600" b="1" u="sng" dirty="0">
                <a:solidFill>
                  <a:srgbClr val="FFFFFF"/>
                </a:solidFill>
                <a:latin typeface="Pretendard" pitchFamily="34" charset="0"/>
                <a:ea typeface="Pretendard" pitchFamily="34" charset="-122"/>
                <a:cs typeface="Pretendard" pitchFamily="34" charset="-120"/>
              </a:rPr>
              <a:t>한 번만</a:t>
            </a:r>
            <a:r>
              <a:rPr lang="ko-KR" altLang="en-US" sz="1600" dirty="0">
                <a:solidFill>
                  <a:srgbClr val="FFFFFF"/>
                </a:solidFill>
                <a:latin typeface="Pretendard" pitchFamily="34" charset="0"/>
                <a:ea typeface="Pretendard" pitchFamily="34" charset="-122"/>
                <a:cs typeface="Pretendard" pitchFamily="34" charset="-120"/>
              </a:rPr>
              <a:t>. </a:t>
            </a:r>
            <a:r>
              <a:rPr lang="ko-KR" altLang="en-US" sz="1600" dirty="0">
                <a:solidFill>
                  <a:srgbClr val="FFFFFF"/>
                </a:solidFill>
                <a:latin typeface="Consolas" pitchFamily="34" charset="0"/>
                <a:ea typeface="Pretendard" pitchFamily="34" charset="-122"/>
                <a:cs typeface="Consolas" pitchFamily="34" charset="-120"/>
              </a:rPr>
              <a:t>final</a:t>
            </a:r>
            <a:r>
              <a:rPr lang="ko-KR" altLang="en-US" sz="1600" dirty="0">
                <a:solidFill>
                  <a:srgbClr val="FFFFFF"/>
                </a:solidFill>
                <a:latin typeface="Pretendard" pitchFamily="34" charset="0"/>
                <a:ea typeface="Pretendard" pitchFamily="34" charset="-122"/>
                <a:cs typeface="Pretendard" pitchFamily="34" charset="-120"/>
              </a:rPr>
              <a:t> 로 누락·변경 방지</a:t>
            </a:r>
            <a:endParaRPr lang="ko-KR"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빈 등록 ① 컴포넌트 스캔</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MemberService — 애노테이션만 붙인다</a:t>
            </a:r>
            <a:endParaRPr lang="ko-KR" sz="1200" dirty="0"/>
          </a:p>
        </p:txBody>
      </p:sp>
      <p:sp>
        <p:nvSpPr>
          <p:cNvPr id="5" name="Shape 3"/>
          <p:cNvSpPr/>
          <p:nvPr/>
        </p:nvSpPr>
        <p:spPr>
          <a:xfrm>
            <a:off x="685800" y="2093976"/>
            <a:ext cx="6309360" cy="2606040"/>
          </a:xfrm>
          <a:prstGeom prst="roundRect">
            <a:avLst>
              <a:gd name="adj" fmla="val 4211"/>
            </a:avLst>
          </a:prstGeom>
          <a:solidFill>
            <a:srgbClr val="23262F"/>
          </a:solidFill>
          <a:ln w="12700">
            <a:solidFill>
              <a:srgbClr val="23262F"/>
            </a:solidFill>
            <a:prstDash val="solid"/>
          </a:ln>
        </p:spPr>
      </p:sp>
      <p:sp>
        <p:nvSpPr>
          <p:cNvPr id="6" name="Text 4"/>
          <p:cNvSpPr txBox="1"/>
          <p:nvPr/>
        </p:nvSpPr>
        <p:spPr>
          <a:xfrm>
            <a:off x="868680" y="2276856"/>
            <a:ext cx="5943600" cy="224028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pitchFamily="34" charset="0"/>
                <a:ea typeface="Pretendard" pitchFamily="34" charset="-122"/>
                <a:cs typeface="Consolas" pitchFamily="34" charset="-120"/>
              </a:rPr>
              <a:t>@Service</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class</a:t>
            </a:r>
            <a:r>
              <a:rPr lang="en-US" sz="1400" dirty="0">
                <a:solidFill>
                  <a:srgbClr val="A9B7C6"/>
                </a:solidFill>
                <a:latin typeface="Consolas" pitchFamily="34" charset="0"/>
                <a:ea typeface="Pretendard" pitchFamily="34" charset="-122"/>
                <a:cs typeface="Consolas" pitchFamily="34" charset="-120"/>
              </a:rPr>
              <a:t> MemberService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private</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final</a:t>
            </a:r>
            <a:r>
              <a:rPr lang="en-US" sz="1400" dirty="0">
                <a:solidFill>
                  <a:srgbClr val="A9B7C6"/>
                </a:solidFill>
                <a:latin typeface="Consolas" pitchFamily="34" charset="0"/>
                <a:ea typeface="Pretendard" pitchFamily="34" charset="-122"/>
                <a:cs typeface="Consolas" pitchFamily="34" charset="-120"/>
              </a:rPr>
              <a:t> MemberRepository 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BBB529"/>
                </a:solidFill>
                <a:latin typeface="Consolas" pitchFamily="34" charset="0"/>
                <a:ea typeface="Pretendard" pitchFamily="34" charset="-122"/>
                <a:cs typeface="Consolas" pitchFamily="34" charset="-120"/>
              </a:rPr>
              <a:t>@Autowired</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public</a:t>
            </a: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FFC66D"/>
                </a:solidFill>
                <a:latin typeface="Consolas" pitchFamily="34" charset="0"/>
                <a:ea typeface="Pretendard" pitchFamily="34" charset="-122"/>
                <a:cs typeface="Consolas" pitchFamily="34" charset="-120"/>
              </a:rPr>
              <a:t>MemberService</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MemberRepository memberRepository)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this</a:t>
            </a:r>
            <a:r>
              <a:rPr lang="en-US" sz="1400" dirty="0">
                <a:solidFill>
                  <a:srgbClr val="A9B7C6"/>
                </a:solidFill>
                <a:latin typeface="Consolas" pitchFamily="34" charset="0"/>
                <a:ea typeface="Pretendard" pitchFamily="34" charset="-122"/>
                <a:cs typeface="Consolas" pitchFamily="34" charset="-120"/>
              </a:rPr>
              <a:t>.memberRepository = 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7" name="Text 5"/>
          <p:cNvSpPr txBox="1"/>
          <p:nvPr/>
        </p:nvSpPr>
        <p:spPr>
          <a:xfrm>
            <a:off x="685800" y="4974336"/>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스프링이 시작할 때 대신 하는 일 (개념 코드)</a:t>
            </a:r>
            <a:endParaRPr lang="ko-KR" sz="1200" dirty="0"/>
          </a:p>
        </p:txBody>
      </p:sp>
      <p:sp>
        <p:nvSpPr>
          <p:cNvPr id="8" name="Shape 6"/>
          <p:cNvSpPr/>
          <p:nvPr/>
        </p:nvSpPr>
        <p:spPr>
          <a:xfrm>
            <a:off x="685800" y="5285232"/>
            <a:ext cx="6309360" cy="863600"/>
          </a:xfrm>
          <a:prstGeom prst="roundRect">
            <a:avLst>
              <a:gd name="adj" fmla="val 12706"/>
            </a:avLst>
          </a:prstGeom>
          <a:solidFill>
            <a:srgbClr val="23262F"/>
          </a:solidFill>
          <a:ln w="12700">
            <a:solidFill>
              <a:srgbClr val="23262F"/>
            </a:solidFill>
            <a:prstDash val="solid"/>
          </a:ln>
        </p:spPr>
      </p:sp>
      <p:sp>
        <p:nvSpPr>
          <p:cNvPr id="9" name="Text 7"/>
          <p:cNvSpPr txBox="1"/>
          <p:nvPr/>
        </p:nvSpPr>
        <p:spPr>
          <a:xfrm>
            <a:off x="868680" y="5468112"/>
            <a:ext cx="5943600" cy="497840"/>
          </a:xfrm>
          <a:prstGeom prst="rect">
            <a:avLst/>
          </a:prstGeom>
          <a:noFill/>
          <a:ln/>
        </p:spPr>
        <p:txBody>
          <a:bodyPr wrap="square" lIns="0" tIns="0" rIns="0" bIns="0" rtlCol="0" anchor="t"/>
          <a:lstStyle/>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MemberRepository repo =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MemoryMemberRepository();</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MemberService service =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MemberService(repo);</a:t>
            </a:r>
            <a:endParaRPr lang="en-US" sz="1400" dirty="0"/>
          </a:p>
        </p:txBody>
      </p:sp>
      <p:sp>
        <p:nvSpPr>
          <p:cNvPr id="10" name="Text 8"/>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@Component</a:t>
            </a:r>
            <a:r>
              <a:rPr lang="ko-KR" altLang="en-US" sz="1800" dirty="0">
                <a:solidFill>
                  <a:srgbClr val="23262F"/>
                </a:solidFill>
                <a:latin typeface="Pretendard" pitchFamily="34" charset="0"/>
                <a:ea typeface="Pretendard" pitchFamily="34" charset="-122"/>
                <a:cs typeface="Pretendard" pitchFamily="34" charset="-120"/>
              </a:rPr>
              <a:t> 가 붙은 클래스를 스프링이 찾아 </a:t>
            </a:r>
            <a:r>
              <a:rPr lang="ko-KR" altLang="en-US" sz="1800" b="1" dirty="0">
                <a:solidFill>
                  <a:srgbClr val="0057FF"/>
                </a:solidFill>
                <a:latin typeface="Pretendard" pitchFamily="34" charset="0"/>
                <a:ea typeface="Pretendard" pitchFamily="34" charset="-122"/>
                <a:cs typeface="Pretendard" pitchFamily="34" charset="-120"/>
              </a:rPr>
              <a:t>빈으로 등록</a:t>
            </a:r>
            <a:endParaRPr lang="ko-KR" sz="1800" dirty="0"/>
          </a:p>
        </p:txBody>
      </p:sp>
      <p:sp>
        <p:nvSpPr>
          <p:cNvPr id="11" name="Text 9"/>
          <p:cNvSpPr txBox="1"/>
          <p:nvPr/>
        </p:nvSpPr>
        <p:spPr>
          <a:xfrm>
            <a:off x="7406640" y="2968244"/>
            <a:ext cx="40992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@Controller</a:t>
            </a:r>
            <a:r>
              <a:rPr lang="ko-KR" altLang="en-US" sz="1800" dirty="0">
                <a:solidFill>
                  <a:srgbClr val="23262F"/>
                </a:solidFill>
                <a:latin typeface="Pretendard" pitchFamily="34" charset="0"/>
                <a:ea typeface="Pretendard" pitchFamily="34" charset="-122"/>
                <a:cs typeface="Pretendard" pitchFamily="34" charset="-120"/>
              </a:rPr>
              <a:t> </a:t>
            </a:r>
            <a:r>
              <a:rPr lang="ko-KR" altLang="en-US" sz="1800" dirty="0">
                <a:solidFill>
                  <a:srgbClr val="23262F"/>
                </a:solidFill>
                <a:latin typeface="Consolas" pitchFamily="34" charset="0"/>
                <a:ea typeface="Pretendard" pitchFamily="34" charset="-122"/>
                <a:cs typeface="Consolas" pitchFamily="34" charset="-120"/>
              </a:rPr>
              <a:t>@Service</a:t>
            </a:r>
            <a:r>
              <a:rPr lang="ko-KR" altLang="en-US" sz="1800" dirty="0">
                <a:solidFill>
                  <a:srgbClr val="23262F"/>
                </a:solidFill>
                <a:latin typeface="Pretendard" pitchFamily="34" charset="0"/>
                <a:ea typeface="Pretendard" pitchFamily="34" charset="-122"/>
                <a:cs typeface="Pretendard" pitchFamily="34" charset="-120"/>
              </a:rPr>
              <a:t> </a:t>
            </a:r>
            <a:r>
              <a:rPr lang="ko-KR" altLang="en-US" sz="1800" dirty="0">
                <a:solidFill>
                  <a:srgbClr val="23262F"/>
                </a:solidFill>
                <a:latin typeface="Consolas" pitchFamily="34" charset="0"/>
                <a:ea typeface="Pretendard" pitchFamily="34" charset="-122"/>
                <a:cs typeface="Consolas" pitchFamily="34" charset="-120"/>
              </a:rPr>
              <a:t>@Repository</a:t>
            </a:r>
            <a:r>
              <a:rPr lang="ko-KR" altLang="en-US" sz="1800" dirty="0">
                <a:solidFill>
                  <a:srgbClr val="23262F"/>
                </a:solidFill>
                <a:latin typeface="Pretendard" pitchFamily="34" charset="0"/>
                <a:ea typeface="Pretendard" pitchFamily="34" charset="-122"/>
                <a:cs typeface="Pretendard" pitchFamily="34" charset="-120"/>
              </a:rPr>
              <a:t> 도 안에 </a:t>
            </a:r>
            <a:r>
              <a:rPr lang="ko-KR" altLang="en-US" sz="1800" dirty="0">
                <a:solidFill>
                  <a:srgbClr val="23262F"/>
                </a:solidFill>
                <a:latin typeface="Consolas" pitchFamily="34" charset="0"/>
                <a:ea typeface="Pretendard" pitchFamily="34" charset="-122"/>
                <a:cs typeface="Consolas" pitchFamily="34" charset="-120"/>
              </a:rPr>
              <a:t>@Component</a:t>
            </a:r>
            <a:r>
              <a:rPr lang="ko-KR" altLang="en-US" sz="1800" dirty="0">
                <a:solidFill>
                  <a:srgbClr val="23262F"/>
                </a:solidFill>
                <a:latin typeface="Pretendard" pitchFamily="34" charset="0"/>
                <a:ea typeface="Pretendard" pitchFamily="34" charset="-122"/>
                <a:cs typeface="Pretendard" pitchFamily="34" charset="-120"/>
              </a:rPr>
              <a:t> 를 품고 있다</a:t>
            </a:r>
            <a:endParaRPr lang="ko-KR" sz="1800" dirty="0"/>
          </a:p>
        </p:txBody>
      </p:sp>
      <p:sp>
        <p:nvSpPr>
          <p:cNvPr id="12" name="Text 10"/>
          <p:cNvSpPr txBox="1"/>
          <p:nvPr/>
        </p:nvSpPr>
        <p:spPr>
          <a:xfrm>
            <a:off x="7406640" y="4416298"/>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@Autowired</a:t>
            </a:r>
            <a:r>
              <a:rPr lang="ko-KR" altLang="en-US" sz="1800" dirty="0">
                <a:solidFill>
                  <a:srgbClr val="23262F"/>
                </a:solidFill>
                <a:latin typeface="Pretendard" pitchFamily="34" charset="0"/>
                <a:ea typeface="Pretendard" pitchFamily="34" charset="-122"/>
                <a:cs typeface="Pretendard" pitchFamily="34" charset="-120"/>
              </a:rPr>
              <a:t> 생성자 → 파라미터 </a:t>
            </a:r>
            <a:r>
              <a:rPr lang="ko-KR" altLang="en-US" sz="1800" b="1" dirty="0">
                <a:solidFill>
                  <a:srgbClr val="0057FF"/>
                </a:solidFill>
                <a:latin typeface="Pretendard" pitchFamily="34" charset="0"/>
                <a:ea typeface="Pretendard" pitchFamily="34" charset="-122"/>
                <a:cs typeface="Pretendard" pitchFamily="34" charset="-120"/>
              </a:rPr>
              <a:t>타입</a:t>
            </a:r>
            <a:r>
              <a:rPr lang="ko-KR" altLang="en-US" sz="1800" dirty="0">
                <a:solidFill>
                  <a:srgbClr val="23262F"/>
                </a:solidFill>
                <a:latin typeface="Pretendard" pitchFamily="34" charset="0"/>
                <a:ea typeface="Pretendard" pitchFamily="34" charset="-122"/>
                <a:cs typeface="Pretendard" pitchFamily="34" charset="-120"/>
              </a:rPr>
              <a:t>에 맞는 빈을 찾아 넣는다</a:t>
            </a:r>
            <a:endParaRPr lang="ko-KR" sz="1800" dirty="0"/>
          </a:p>
        </p:txBody>
      </p:sp>
      <p:sp>
        <p:nvSpPr>
          <p:cNvPr id="13" name="Text 11"/>
          <p:cNvSpPr txBox="1"/>
          <p:nvPr/>
        </p:nvSpPr>
        <p:spPr>
          <a:xfrm>
            <a:off x="7406640" y="5555742"/>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등록된 빈은 기본 </a:t>
            </a:r>
            <a:r>
              <a:rPr lang="ko-KR" altLang="en-US" sz="1800" b="1" dirty="0">
                <a:solidFill>
                  <a:srgbClr val="0057FF"/>
                </a:solidFill>
                <a:latin typeface="Pretendard" pitchFamily="34" charset="0"/>
                <a:ea typeface="Pretendard" pitchFamily="34" charset="-122"/>
                <a:cs typeface="Pretendard" pitchFamily="34" charset="-120"/>
              </a:rPr>
              <a:t>싱글톤</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02  객체와 의존관계</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빈 등록 ② 자바 코드로 직접 등록</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SpringConfig — 설정 클래스에서 직접 등록</a:t>
            </a:r>
            <a:endParaRPr lang="ko-KR" sz="1200" dirty="0"/>
          </a:p>
        </p:txBody>
      </p:sp>
      <p:sp>
        <p:nvSpPr>
          <p:cNvPr id="5" name="Shape 3"/>
          <p:cNvSpPr/>
          <p:nvPr/>
        </p:nvSpPr>
        <p:spPr>
          <a:xfrm>
            <a:off x="685800" y="2093976"/>
            <a:ext cx="6309360" cy="3779520"/>
          </a:xfrm>
          <a:prstGeom prst="roundRect">
            <a:avLst>
              <a:gd name="adj" fmla="val 2903"/>
            </a:avLst>
          </a:prstGeom>
          <a:solidFill>
            <a:srgbClr val="23262F"/>
          </a:solidFill>
          <a:ln w="12700">
            <a:solidFill>
              <a:srgbClr val="23262F"/>
            </a:solidFill>
            <a:prstDash val="solid"/>
          </a:ln>
        </p:spPr>
      </p:sp>
      <p:sp>
        <p:nvSpPr>
          <p:cNvPr id="6" name="Text 4"/>
          <p:cNvSpPr txBox="1"/>
          <p:nvPr/>
        </p:nvSpPr>
        <p:spPr>
          <a:xfrm>
            <a:off x="868680" y="2276856"/>
            <a:ext cx="5943600" cy="3413760"/>
          </a:xfrm>
          <a:prstGeom prst="rect">
            <a:avLst/>
          </a:prstGeom>
          <a:noFill/>
          <a:ln/>
        </p:spPr>
        <p:txBody>
          <a:bodyPr wrap="square" lIns="0" tIns="0" rIns="0" bIns="0" rtlCol="0" anchor="t"/>
          <a:lstStyle/>
          <a:p>
            <a:pPr indent="0" marL="0">
              <a:lnSpc>
                <a:spcPct val="120000"/>
              </a:lnSpc>
              <a:buNone/>
            </a:pPr>
            <a:r>
              <a:rPr lang="en-US" sz="1600" dirty="0">
                <a:solidFill>
                  <a:srgbClr val="BBB529"/>
                </a:solidFill>
                <a:latin typeface="Consolas" pitchFamily="34" charset="0"/>
                <a:ea typeface="Pretendard" pitchFamily="34" charset="-122"/>
                <a:cs typeface="Consolas" pitchFamily="34" charset="-120"/>
              </a:rPr>
              <a:t>@Configuration</a:t>
            </a:r>
            <a:endParaRPr lang="en-US" sz="1600" dirty="0"/>
          </a:p>
          <a:p>
            <a:pPr indent="0" marL="0">
              <a:lnSpc>
                <a:spcPct val="120000"/>
              </a:lnSpc>
              <a:buNone/>
            </a:pP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class</a:t>
            </a:r>
            <a:r>
              <a:rPr lang="en-US" sz="1600" dirty="0">
                <a:solidFill>
                  <a:srgbClr val="A9B7C6"/>
                </a:solidFill>
                <a:latin typeface="Consolas" pitchFamily="34" charset="0"/>
                <a:ea typeface="Pretendard" pitchFamily="34" charset="-122"/>
                <a:cs typeface="Consolas" pitchFamily="34" charset="-120"/>
              </a:rPr>
              <a:t> SpringConfig {</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BBB529"/>
                </a:solidFill>
                <a:latin typeface="Consolas" pitchFamily="34" charset="0"/>
                <a:ea typeface="Pretendard" pitchFamily="34" charset="-122"/>
                <a:cs typeface="Consolas" pitchFamily="34" charset="-120"/>
              </a:rPr>
              <a:t>@Bean</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MemberService </a:t>
            </a:r>
            <a:r>
              <a:rPr lang="en-US" sz="1600" dirty="0">
                <a:solidFill>
                  <a:srgbClr val="FFC66D"/>
                </a:solidFill>
                <a:latin typeface="Consolas" pitchFamily="34" charset="0"/>
                <a:ea typeface="Pretendard" pitchFamily="34" charset="-122"/>
                <a:cs typeface="Consolas" pitchFamily="34" charset="-120"/>
              </a:rPr>
              <a:t>memberService</a:t>
            </a:r>
            <a:r>
              <a:rPr lang="en-US" sz="1600" dirty="0">
                <a:solidFill>
                  <a:srgbClr val="A9B7C6"/>
                </a:solidFill>
                <a:latin typeface="Consolas" pitchFamily="34" charset="0"/>
                <a:ea typeface="Pretendard" pitchFamily="34" charset="-122"/>
                <a:cs typeface="Consolas" pitchFamily="34" charset="-120"/>
              </a:rPr>
              <a:t>() {</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return</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new</a:t>
            </a:r>
            <a:r>
              <a:rPr lang="en-US" sz="1600" dirty="0">
                <a:solidFill>
                  <a:srgbClr val="A9B7C6"/>
                </a:solidFill>
                <a:latin typeface="Consolas" pitchFamily="34" charset="0"/>
                <a:ea typeface="Pretendard" pitchFamily="34" charset="-122"/>
                <a:cs typeface="Consolas" pitchFamily="34" charset="-120"/>
              </a:rPr>
              <a:t> MemberService(</a:t>
            </a:r>
            <a:r>
              <a:rPr lang="en-US" sz="1600" dirty="0">
                <a:solidFill>
                  <a:srgbClr val="FFC66D"/>
                </a:solidFill>
                <a:latin typeface="Consolas" pitchFamily="34" charset="0"/>
                <a:ea typeface="Pretendard" pitchFamily="34" charset="-122"/>
                <a:cs typeface="Consolas" pitchFamily="34" charset="-120"/>
              </a:rPr>
              <a:t>memberRepository</a:t>
            </a:r>
            <a:r>
              <a:rPr lang="en-US" sz="1600" dirty="0">
                <a:solidFill>
                  <a:srgbClr val="A9B7C6"/>
                </a:solidFill>
                <a:latin typeface="Consolas" pitchFamily="34" charset="0"/>
                <a:ea typeface="Pretendard" pitchFamily="34" charset="-122"/>
                <a:cs typeface="Consolas" pitchFamily="34" charset="-120"/>
              </a:rPr>
              <a:t>());</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endParaRPr lang="en-US" sz="1600" dirty="0"/>
          </a:p>
          <a:p>
            <a:pPr indent="0" marL="0">
              <a:lnSpc>
                <a:spcPct val="120000"/>
              </a:lnSpc>
              <a:buNone/>
            </a:pP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BBB529"/>
                </a:solidFill>
                <a:latin typeface="Consolas" pitchFamily="34" charset="0"/>
                <a:ea typeface="Pretendard" pitchFamily="34" charset="-122"/>
                <a:cs typeface="Consolas" pitchFamily="34" charset="-120"/>
              </a:rPr>
              <a:t>@Bean</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public</a:t>
            </a:r>
            <a:r>
              <a:rPr lang="en-US" sz="1600" dirty="0">
                <a:solidFill>
                  <a:srgbClr val="A9B7C6"/>
                </a:solidFill>
                <a:latin typeface="Consolas" pitchFamily="34" charset="0"/>
                <a:ea typeface="Pretendard" pitchFamily="34" charset="-122"/>
                <a:cs typeface="Consolas" pitchFamily="34" charset="-120"/>
              </a:rPr>
              <a:t> MemberRepository </a:t>
            </a:r>
            <a:r>
              <a:rPr lang="en-US" sz="1600" dirty="0">
                <a:solidFill>
                  <a:srgbClr val="FFC66D"/>
                </a:solidFill>
                <a:latin typeface="Consolas" pitchFamily="34" charset="0"/>
                <a:ea typeface="Pretendard" pitchFamily="34" charset="-122"/>
                <a:cs typeface="Consolas" pitchFamily="34" charset="-120"/>
              </a:rPr>
              <a:t>memberRepository</a:t>
            </a:r>
            <a:r>
              <a:rPr lang="en-US" sz="1600" dirty="0">
                <a:solidFill>
                  <a:srgbClr val="A9B7C6"/>
                </a:solidFill>
                <a:latin typeface="Consolas" pitchFamily="34" charset="0"/>
                <a:ea typeface="Pretendard" pitchFamily="34" charset="-122"/>
                <a:cs typeface="Consolas" pitchFamily="34" charset="-120"/>
              </a:rPr>
              <a:t>() {</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return</a:t>
            </a:r>
            <a:r>
              <a:rPr lang="en-US" sz="1600" dirty="0">
                <a:solidFill>
                  <a:srgbClr val="A9B7C6"/>
                </a:solidFill>
                <a:latin typeface="Consolas" pitchFamily="34" charset="0"/>
                <a:ea typeface="Pretendard" pitchFamily="34" charset="-122"/>
                <a:cs typeface="Consolas" pitchFamily="34" charset="-120"/>
              </a:rPr>
              <a:t> </a:t>
            </a:r>
            <a:r>
              <a:rPr lang="en-US" sz="1600" dirty="0">
                <a:solidFill>
                  <a:srgbClr val="CC7832"/>
                </a:solidFill>
                <a:latin typeface="Consolas" pitchFamily="34" charset="0"/>
                <a:ea typeface="Pretendard" pitchFamily="34" charset="-122"/>
                <a:cs typeface="Consolas" pitchFamily="34" charset="-120"/>
              </a:rPr>
              <a:t>new</a:t>
            </a:r>
            <a:r>
              <a:rPr lang="en-US" sz="1600" dirty="0">
                <a:solidFill>
                  <a:srgbClr val="A9B7C6"/>
                </a:solidFill>
                <a:latin typeface="Consolas" pitchFamily="34" charset="0"/>
                <a:ea typeface="Pretendard" pitchFamily="34" charset="-122"/>
                <a:cs typeface="Consolas" pitchFamily="34" charset="-120"/>
              </a:rPr>
              <a:t> MemoryMemberRepository();</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    }</a:t>
            </a:r>
            <a:endParaRPr lang="en-US" sz="1600" dirty="0"/>
          </a:p>
          <a:p>
            <a:pPr indent="0" marL="0">
              <a:lnSpc>
                <a:spcPct val="120000"/>
              </a:lnSpc>
              <a:buNone/>
            </a:pPr>
            <a:r>
              <a:rPr lang="en-US" sz="1600" dirty="0">
                <a:solidFill>
                  <a:srgbClr val="A9B7C6"/>
                </a:solidFill>
                <a:latin typeface="Consolas" pitchFamily="34" charset="0"/>
                <a:ea typeface="Pretendard" pitchFamily="34" charset="-122"/>
                <a:cs typeface="Consolas" pitchFamily="34" charset="-120"/>
              </a:rPr>
              <a:t>}</a:t>
            </a:r>
            <a:endParaRPr lang="en-US" sz="1600" dirty="0"/>
          </a:p>
        </p:txBody>
      </p:sp>
      <p:sp>
        <p:nvSpPr>
          <p:cNvPr id="7" name="Text 5"/>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@Bean</a:t>
            </a:r>
            <a:r>
              <a:rPr lang="ko-KR" altLang="en-US" sz="1800" dirty="0">
                <a:solidFill>
                  <a:srgbClr val="23262F"/>
                </a:solidFill>
                <a:latin typeface="Pretendard" pitchFamily="34" charset="0"/>
                <a:ea typeface="Pretendard" pitchFamily="34" charset="-122"/>
                <a:cs typeface="Pretendard" pitchFamily="34" charset="-120"/>
              </a:rPr>
              <a:t> 메서드가 반환한 객체를 빈으로 등록</a:t>
            </a:r>
            <a:endParaRPr lang="ko-KR" sz="1800" dirty="0"/>
          </a:p>
        </p:txBody>
      </p:sp>
      <p:sp>
        <p:nvSpPr>
          <p:cNvPr id="8" name="Text 6"/>
          <p:cNvSpPr txBox="1"/>
          <p:nvPr/>
        </p:nvSpPr>
        <p:spPr>
          <a:xfrm>
            <a:off x="7406640" y="2791079"/>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어떤 구현체를 쓸지 </a:t>
            </a:r>
            <a:r>
              <a:rPr lang="ko-KR" altLang="en-US" sz="1800" b="1" dirty="0">
                <a:solidFill>
                  <a:srgbClr val="0057FF"/>
                </a:solidFill>
                <a:latin typeface="Pretendard" pitchFamily="34" charset="0"/>
                <a:ea typeface="Pretendard" pitchFamily="34" charset="-122"/>
                <a:cs typeface="Pretendard" pitchFamily="34" charset="-120"/>
              </a:rPr>
              <a:t>한 곳에서 결정</a:t>
            </a:r>
            <a:endParaRPr lang="ko-KR" sz="1800" dirty="0"/>
          </a:p>
        </p:txBody>
      </p:sp>
      <p:sp>
        <p:nvSpPr>
          <p:cNvPr id="9" name="Text 7"/>
          <p:cNvSpPr txBox="1"/>
          <p:nvPr/>
        </p:nvSpPr>
        <p:spPr>
          <a:xfrm>
            <a:off x="7406640" y="3444748"/>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구현을 </a:t>
            </a:r>
            <a:r>
              <a:rPr lang="ko-KR" altLang="en-US" sz="1800" b="1" dirty="0">
                <a:solidFill>
                  <a:srgbClr val="0057FF"/>
                </a:solidFill>
                <a:latin typeface="Pretendard" pitchFamily="34" charset="0"/>
                <a:ea typeface="Pretendard" pitchFamily="34" charset="-122"/>
                <a:cs typeface="Pretendard" pitchFamily="34" charset="-120"/>
              </a:rPr>
              <a:t>바꿔야 할 때</a:t>
            </a:r>
            <a:r>
              <a:rPr lang="ko-KR" altLang="en-US" sz="1800" dirty="0">
                <a:solidFill>
                  <a:srgbClr val="23262F"/>
                </a:solidFill>
                <a:latin typeface="Pretendard" pitchFamily="34" charset="0"/>
                <a:ea typeface="Pretendard" pitchFamily="34" charset="-122"/>
                <a:cs typeface="Pretendard" pitchFamily="34" charset="-120"/>
              </a:rPr>
              <a:t> 유리</a:t>
            </a:r>
            <a:endParaRPr lang="ko-KR" sz="1800" dirty="0"/>
          </a:p>
        </p:txBody>
      </p:sp>
      <p:sp>
        <p:nvSpPr>
          <p:cNvPr id="10" name="Text 8"/>
          <p:cNvSpPr txBox="1"/>
          <p:nvPr/>
        </p:nvSpPr>
        <p:spPr>
          <a:xfrm>
            <a:off x="7406640" y="4281297"/>
            <a:ext cx="4099255" cy="3429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pitchFamily="34" charset="0"/>
                <a:ea typeface="Pretendard" pitchFamily="34" charset="-122"/>
                <a:cs typeface="Pretendard" pitchFamily="34" charset="-120"/>
              </a:rPr>
              <a:t>실무는 </a:t>
            </a:r>
            <a:r>
              <a:rPr lang="ko-KR" altLang="en-US" sz="2000" b="1" dirty="0">
                <a:solidFill>
                  <a:srgbClr val="0057FF"/>
                </a:solidFill>
                <a:latin typeface="Pretendard" pitchFamily="34" charset="0"/>
                <a:ea typeface="Pretendard" pitchFamily="34" charset="-122"/>
                <a:cs typeface="Pretendard" pitchFamily="34" charset="-120"/>
              </a:rPr>
              <a:t>둘을 함께</a:t>
            </a:r>
            <a:r>
              <a:rPr lang="ko-KR" altLang="en-US" sz="2000" b="1" dirty="0">
                <a:solidFill>
                  <a:srgbClr val="23262F"/>
                </a:solidFill>
                <a:latin typeface="Pretendard" pitchFamily="34" charset="0"/>
                <a:ea typeface="Pretendard" pitchFamily="34" charset="-122"/>
                <a:cs typeface="Pretendard" pitchFamily="34" charset="-120"/>
              </a:rPr>
              <a:t> 쓴다</a:t>
            </a:r>
            <a:endParaRPr lang="ko-KR" sz="2000" dirty="0"/>
          </a:p>
        </p:txBody>
      </p:sp>
      <p:sp>
        <p:nvSpPr>
          <p:cNvPr id="11" name="Text 9"/>
          <p:cNvSpPr txBox="1"/>
          <p:nvPr/>
        </p:nvSpPr>
        <p:spPr>
          <a:xfrm>
            <a:off x="7406640" y="5050536"/>
            <a:ext cx="4099255" cy="822960"/>
          </a:xfrm>
          <a:prstGeom prst="rect">
            <a:avLst/>
          </a:prstGeom>
          <a:noFill/>
          <a:ln/>
        </p:spPr>
        <p:txBody>
          <a:bodyPr wrap="square" lIns="0" tIns="0" rIns="0" bIns="0" rtlCol="0" anchor="t"/>
          <a:lstStyle/>
          <a:p>
            <a:pPr indent="0" marL="0">
              <a:lnSpc>
                <a:spcPct val="110000"/>
              </a:lnSpc>
              <a:buNone/>
            </a:pPr>
            <a:r>
              <a:rPr lang="ko-KR" altLang="en-US" sz="1600" dirty="0">
                <a:solidFill>
                  <a:srgbClr val="6B7280"/>
                </a:solidFill>
                <a:latin typeface="Pretendard" pitchFamily="34" charset="0"/>
                <a:ea typeface="Pretendard" pitchFamily="34" charset="-122"/>
                <a:cs typeface="Pretendard" pitchFamily="34" charset="-120"/>
              </a:rPr>
              <a:t>직접 만든 컨트롤러·서비스·리포지토리는 스캔, 설정·외부 라이브러리 객체·교체할 구현은 @Bean</a:t>
            </a:r>
            <a:endParaRPr lang="ko-KR"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03  DB 접근 기술</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순수 JDBC 와 JdbcTemplate</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순수 JDBC — findByName</a:t>
            </a:r>
            <a:endParaRPr lang="ko-KR" sz="1200" dirty="0"/>
          </a:p>
        </p:txBody>
      </p:sp>
      <p:sp>
        <p:nvSpPr>
          <p:cNvPr id="5" name="Shape 3"/>
          <p:cNvSpPr/>
          <p:nvPr/>
        </p:nvSpPr>
        <p:spPr>
          <a:xfrm>
            <a:off x="685800" y="2093976"/>
            <a:ext cx="5227168" cy="3103880"/>
          </a:xfrm>
          <a:prstGeom prst="roundRect">
            <a:avLst>
              <a:gd name="adj" fmla="val 3535"/>
            </a:avLst>
          </a:prstGeom>
          <a:solidFill>
            <a:srgbClr val="23262F"/>
          </a:solidFill>
          <a:ln w="12700">
            <a:solidFill>
              <a:srgbClr val="23262F"/>
            </a:solidFill>
            <a:prstDash val="solid"/>
          </a:ln>
        </p:spPr>
      </p:sp>
      <p:sp>
        <p:nvSpPr>
          <p:cNvPr id="6" name="Text 4"/>
          <p:cNvSpPr txBox="1"/>
          <p:nvPr/>
        </p:nvSpPr>
        <p:spPr>
          <a:xfrm>
            <a:off x="868680" y="2276856"/>
            <a:ext cx="4861408" cy="2738120"/>
          </a:xfrm>
          <a:prstGeom prst="rect">
            <a:avLst/>
          </a:prstGeom>
          <a:noFill/>
          <a:ln/>
        </p:spPr>
        <p:txBody>
          <a:bodyPr wrap="square" lIns="0" tIns="0" rIns="0" bIns="0" rtlCol="0" anchor="t"/>
          <a:lstStyle/>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conn = </a:t>
            </a:r>
            <a:r>
              <a:rPr lang="en-US" sz="1400" dirty="0">
                <a:solidFill>
                  <a:srgbClr val="FFC66D"/>
                </a:solidFill>
                <a:latin typeface="Consolas" pitchFamily="34" charset="0"/>
                <a:ea typeface="Pretendard" pitchFamily="34" charset="-122"/>
                <a:cs typeface="Consolas" pitchFamily="34" charset="-120"/>
              </a:rPr>
              <a:t>getConnection</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pstmt = conn.</a:t>
            </a:r>
            <a:r>
              <a:rPr lang="en-US" sz="1400" dirty="0">
                <a:solidFill>
                  <a:srgbClr val="FFC66D"/>
                </a:solidFill>
                <a:latin typeface="Consolas" pitchFamily="34" charset="0"/>
                <a:ea typeface="Pretendard" pitchFamily="34" charset="-122"/>
                <a:cs typeface="Consolas" pitchFamily="34" charset="-120"/>
              </a:rPr>
              <a:t>prepareStatement</a:t>
            </a:r>
            <a:r>
              <a:rPr lang="en-US" sz="1400" dirty="0">
                <a:solidFill>
                  <a:srgbClr val="A9B7C6"/>
                </a:solidFill>
                <a:latin typeface="Consolas" pitchFamily="34" charset="0"/>
                <a:ea typeface="Pretendard" pitchFamily="34" charset="-122"/>
                <a:cs typeface="Consolas" pitchFamily="34" charset="-120"/>
              </a:rPr>
              <a:t>(sql);</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pstmt.</a:t>
            </a:r>
            <a:r>
              <a:rPr lang="en-US" sz="1400" dirty="0">
                <a:solidFill>
                  <a:srgbClr val="FFC66D"/>
                </a:solidFill>
                <a:latin typeface="Consolas" pitchFamily="34" charset="0"/>
                <a:ea typeface="Pretendard" pitchFamily="34" charset="-122"/>
                <a:cs typeface="Consolas" pitchFamily="34" charset="-120"/>
              </a:rPr>
              <a:t>setString</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897BB"/>
                </a:solidFill>
                <a:latin typeface="Consolas" pitchFamily="34" charset="0"/>
                <a:ea typeface="Pretendard" pitchFamily="34" charset="-122"/>
                <a:cs typeface="Consolas" pitchFamily="34" charset="-120"/>
              </a:rPr>
              <a:t>1</a:t>
            </a:r>
            <a:r>
              <a:rPr lang="en-US" sz="1400" dirty="0">
                <a:solidFill>
                  <a:srgbClr val="A9B7C6"/>
                </a:solidFill>
                <a:latin typeface="Consolas" pitchFamily="34" charset="0"/>
                <a:ea typeface="Pretendard" pitchFamily="34" charset="-122"/>
                <a:cs typeface="Consolas" pitchFamily="34" charset="-120"/>
              </a:rPr>
              <a:t>, name);</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rs = pstmt.</a:t>
            </a:r>
            <a:r>
              <a:rPr lang="en-US" sz="1400" dirty="0">
                <a:solidFill>
                  <a:srgbClr val="FFC66D"/>
                </a:solidFill>
                <a:latin typeface="Consolas" pitchFamily="34" charset="0"/>
                <a:ea typeface="Pretendard" pitchFamily="34" charset="-122"/>
                <a:cs typeface="Consolas" pitchFamily="34" charset="-120"/>
              </a:rPr>
              <a:t>executeQuery</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if</a:t>
            </a:r>
            <a:r>
              <a:rPr lang="en-US" sz="1400" dirty="0">
                <a:solidFill>
                  <a:srgbClr val="A9B7C6"/>
                </a:solidFill>
                <a:latin typeface="Consolas" pitchFamily="34" charset="0"/>
                <a:ea typeface="Pretendard" pitchFamily="34" charset="-122"/>
                <a:cs typeface="Consolas" pitchFamily="34" charset="-120"/>
              </a:rPr>
              <a:t> (rs.</a:t>
            </a:r>
            <a:r>
              <a:rPr lang="en-US" sz="1400" dirty="0">
                <a:solidFill>
                  <a:srgbClr val="FFC66D"/>
                </a:solidFill>
                <a:latin typeface="Consolas" pitchFamily="34" charset="0"/>
                <a:ea typeface="Pretendard" pitchFamily="34" charset="-122"/>
                <a:cs typeface="Consolas" pitchFamily="34" charset="-120"/>
              </a:rPr>
              <a:t>next</a:t>
            </a:r>
            <a:r>
              <a:rPr lang="en-US" sz="1400" dirty="0">
                <a:solidFill>
                  <a:srgbClr val="A9B7C6"/>
                </a:solidFill>
                <a:latin typeface="Consolas" pitchFamily="34" charset="0"/>
                <a:ea typeface="Pretendard" pitchFamily="34" charset="-122"/>
                <a:cs typeface="Consolas" pitchFamily="34" charset="-120"/>
              </a:rPr>
              <a:t>()) {</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 member = </a:t>
            </a:r>
            <a:r>
              <a:rPr lang="en-US" sz="1400" dirty="0">
                <a:solidFill>
                  <a:srgbClr val="CC7832"/>
                </a:solidFill>
                <a:latin typeface="Consolas" pitchFamily="34" charset="0"/>
                <a:ea typeface="Pretendard" pitchFamily="34" charset="-122"/>
                <a:cs typeface="Consolas" pitchFamily="34" charset="-120"/>
              </a:rPr>
              <a:t>new</a:t>
            </a:r>
            <a:r>
              <a:rPr lang="en-US" sz="1400" dirty="0">
                <a:solidFill>
                  <a:srgbClr val="A9B7C6"/>
                </a:solidFill>
                <a:latin typeface="Consolas" pitchFamily="34" charset="0"/>
                <a:ea typeface="Pretendard" pitchFamily="34" charset="-122"/>
                <a:cs typeface="Consolas" pitchFamily="34" charset="-120"/>
              </a:rPr>
              <a:t> Member();</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a:t>
            </a:r>
            <a:r>
              <a:rPr lang="en-US" sz="1400" dirty="0">
                <a:solidFill>
                  <a:srgbClr val="FFC66D"/>
                </a:solidFill>
                <a:latin typeface="Consolas" pitchFamily="34" charset="0"/>
                <a:ea typeface="Pretendard" pitchFamily="34" charset="-122"/>
                <a:cs typeface="Consolas" pitchFamily="34" charset="-120"/>
              </a:rPr>
              <a:t>setId</a:t>
            </a:r>
            <a:r>
              <a:rPr lang="en-US" sz="1400" dirty="0">
                <a:solidFill>
                  <a:srgbClr val="A9B7C6"/>
                </a:solidFill>
                <a:latin typeface="Consolas" pitchFamily="34" charset="0"/>
                <a:ea typeface="Pretendard" pitchFamily="34" charset="-122"/>
                <a:cs typeface="Consolas" pitchFamily="34" charset="-120"/>
              </a:rPr>
              <a:t>(rs.</a:t>
            </a:r>
            <a:r>
              <a:rPr lang="en-US" sz="1400" dirty="0">
                <a:solidFill>
                  <a:srgbClr val="FFC66D"/>
                </a:solidFill>
                <a:latin typeface="Consolas" pitchFamily="34" charset="0"/>
                <a:ea typeface="Pretendard" pitchFamily="34" charset="-122"/>
                <a:cs typeface="Consolas" pitchFamily="34" charset="-120"/>
              </a:rPr>
              <a:t>getLong</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"id"</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member.</a:t>
            </a:r>
            <a:r>
              <a:rPr lang="en-US" sz="1400" dirty="0">
                <a:solidFill>
                  <a:srgbClr val="FFC66D"/>
                </a:solidFill>
                <a:latin typeface="Consolas" pitchFamily="34" charset="0"/>
                <a:ea typeface="Pretendard" pitchFamily="34" charset="-122"/>
                <a:cs typeface="Consolas" pitchFamily="34" charset="-120"/>
              </a:rPr>
              <a:t>setName</a:t>
            </a:r>
            <a:r>
              <a:rPr lang="en-US" sz="1400" dirty="0">
                <a:solidFill>
                  <a:srgbClr val="A9B7C6"/>
                </a:solidFill>
                <a:latin typeface="Consolas" pitchFamily="34" charset="0"/>
                <a:ea typeface="Pretendard" pitchFamily="34" charset="-122"/>
                <a:cs typeface="Consolas" pitchFamily="34" charset="-120"/>
              </a:rPr>
              <a:t>(rs.</a:t>
            </a:r>
            <a:r>
              <a:rPr lang="en-US" sz="1400" dirty="0">
                <a:solidFill>
                  <a:srgbClr val="FFC66D"/>
                </a:solidFill>
                <a:latin typeface="Consolas" pitchFamily="34" charset="0"/>
                <a:ea typeface="Pretendard" pitchFamily="34" charset="-122"/>
                <a:cs typeface="Consolas" pitchFamily="34" charset="-120"/>
              </a:rPr>
              <a:t>getString</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6A8759"/>
                </a:solidFill>
                <a:latin typeface="Consolas" pitchFamily="34" charset="0"/>
                <a:ea typeface="Pretendard" pitchFamily="34" charset="-122"/>
                <a:cs typeface="Consolas" pitchFamily="34" charset="-120"/>
              </a:rPr>
              <a:t>"name"</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CC7832"/>
                </a:solidFill>
                <a:latin typeface="Consolas" pitchFamily="34" charset="0"/>
                <a:ea typeface="Pretendard" pitchFamily="34" charset="-122"/>
                <a:cs typeface="Consolas" pitchFamily="34" charset="-120"/>
              </a:rPr>
              <a:t>return</a:t>
            </a:r>
            <a:r>
              <a:rPr lang="en-US" sz="1400" dirty="0">
                <a:solidFill>
                  <a:srgbClr val="A9B7C6"/>
                </a:solidFill>
                <a:latin typeface="Consolas" pitchFamily="34" charset="0"/>
                <a:ea typeface="Pretendard" pitchFamily="34" charset="-122"/>
                <a:cs typeface="Consolas" pitchFamily="34" charset="-120"/>
              </a:rPr>
              <a:t> Optional.</a:t>
            </a:r>
            <a:r>
              <a:rPr lang="en-US" sz="1400" dirty="0">
                <a:solidFill>
                  <a:srgbClr val="FFC66D"/>
                </a:solidFill>
                <a:latin typeface="Consolas" pitchFamily="34" charset="0"/>
                <a:ea typeface="Pretendard" pitchFamily="34" charset="-122"/>
                <a:cs typeface="Consolas" pitchFamily="34" charset="-120"/>
              </a:rPr>
              <a:t>of</a:t>
            </a:r>
            <a:r>
              <a:rPr lang="en-US" sz="1400" dirty="0">
                <a:solidFill>
                  <a:srgbClr val="A9B7C6"/>
                </a:solidFill>
                <a:latin typeface="Consolas" pitchFamily="34" charset="0"/>
                <a:ea typeface="Pretendard" pitchFamily="34" charset="-122"/>
                <a:cs typeface="Consolas" pitchFamily="34" charset="-120"/>
              </a:rPr>
              <a:t>(member);</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808080"/>
                </a:solidFill>
                <a:latin typeface="Consolas" pitchFamily="34" charset="0"/>
                <a:ea typeface="Pretendard" pitchFamily="34" charset="-122"/>
                <a:cs typeface="Consolas" pitchFamily="34" charset="-120"/>
              </a:rPr>
              <a:t>// + try / catch / finally 로 close</a:t>
            </a:r>
            <a:endParaRPr lang="en-US" sz="14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JdbcTemplate — findByName</a:t>
            </a:r>
            <a:endParaRPr lang="ko-KR" sz="1200" dirty="0"/>
          </a:p>
        </p:txBody>
      </p:sp>
      <p:sp>
        <p:nvSpPr>
          <p:cNvPr id="8" name="Shape 6"/>
          <p:cNvSpPr/>
          <p:nvPr/>
        </p:nvSpPr>
        <p:spPr>
          <a:xfrm>
            <a:off x="6278728" y="2093976"/>
            <a:ext cx="5227168" cy="1361440"/>
          </a:xfrm>
          <a:prstGeom prst="roundRect">
            <a:avLst>
              <a:gd name="adj" fmla="val 8060"/>
            </a:avLst>
          </a:prstGeom>
          <a:solidFill>
            <a:srgbClr val="23262F"/>
          </a:solidFill>
          <a:ln w="12700">
            <a:solidFill>
              <a:srgbClr val="23262F"/>
            </a:solidFill>
            <a:prstDash val="solid"/>
          </a:ln>
        </p:spPr>
      </p:sp>
      <p:sp>
        <p:nvSpPr>
          <p:cNvPr id="9" name="Text 7"/>
          <p:cNvSpPr txBox="1"/>
          <p:nvPr/>
        </p:nvSpPr>
        <p:spPr>
          <a:xfrm>
            <a:off x="6461608" y="2276856"/>
            <a:ext cx="4861408" cy="995680"/>
          </a:xfrm>
          <a:prstGeom prst="rect">
            <a:avLst/>
          </a:prstGeom>
          <a:noFill/>
          <a:ln/>
        </p:spPr>
        <p:txBody>
          <a:bodyPr wrap="square" lIns="0" tIns="0" rIns="0" bIns="0" rtlCol="0" anchor="t"/>
          <a:lstStyle/>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List&lt;Member&gt; result = jdbcTemplate.</a:t>
            </a:r>
            <a:r>
              <a:rPr lang="en-US" sz="1400" dirty="0">
                <a:solidFill>
                  <a:srgbClr val="FFC66D"/>
                </a:solidFill>
                <a:latin typeface="Consolas" pitchFamily="34" charset="0"/>
                <a:ea typeface="Pretendard" pitchFamily="34" charset="-122"/>
                <a:cs typeface="Consolas" pitchFamily="34" charset="-120"/>
              </a:rPr>
              <a:t>query</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6A8759"/>
                </a:solidFill>
                <a:latin typeface="Consolas" pitchFamily="34" charset="0"/>
                <a:ea typeface="Pretendard" pitchFamily="34" charset="-122"/>
                <a:cs typeface="Consolas" pitchFamily="34" charset="-120"/>
              </a:rPr>
              <a:t>"select * from member where name = ?"</a:t>
            </a:r>
            <a:r>
              <a:rPr lang="en-US" sz="1400" dirty="0">
                <a:solidFill>
                  <a:srgbClr val="A9B7C6"/>
                </a:solidFill>
                <a:latin typeface="Consolas" pitchFamily="34" charset="0"/>
                <a:ea typeface="Pretendard" pitchFamily="34" charset="-122"/>
                <a:cs typeface="Consolas" pitchFamily="34" charset="-120"/>
              </a:rPr>
              <a:t>,</a:t>
            </a:r>
            <a:endParaRPr lang="en-US" sz="1400" dirty="0"/>
          </a:p>
          <a:p>
            <a:pPr indent="0" marL="0">
              <a:lnSpc>
                <a:spcPct val="120000"/>
              </a:lnSpc>
              <a:buNone/>
            </a:pPr>
            <a:r>
              <a:rPr lang="en-US" sz="1400" dirty="0">
                <a:solidFill>
                  <a:srgbClr val="A9B7C6"/>
                </a:solidFill>
                <a:latin typeface="Consolas" pitchFamily="34" charset="0"/>
                <a:ea typeface="Pretendard" pitchFamily="34" charset="-122"/>
                <a:cs typeface="Consolas" pitchFamily="34" charset="-120"/>
              </a:rPr>
              <a:t>        </a:t>
            </a:r>
            <a:r>
              <a:rPr lang="en-US" sz="1400" dirty="0">
                <a:solidFill>
                  <a:srgbClr val="FFC66D"/>
                </a:solidFill>
                <a:latin typeface="Consolas" pitchFamily="34" charset="0"/>
                <a:ea typeface="Pretendard" pitchFamily="34" charset="-122"/>
                <a:cs typeface="Consolas" pitchFamily="34" charset="-120"/>
              </a:rPr>
              <a:t>memberRowMapper</a:t>
            </a:r>
            <a:r>
              <a:rPr lang="en-US" sz="1400" dirty="0">
                <a:solidFill>
                  <a:srgbClr val="A9B7C6"/>
                </a:solidFill>
                <a:latin typeface="Consolas" pitchFamily="34" charset="0"/>
                <a:ea typeface="Pretendard" pitchFamily="34" charset="-122"/>
                <a:cs typeface="Consolas" pitchFamily="34" charset="-120"/>
              </a:rPr>
              <a:t>(), name);</a:t>
            </a:r>
            <a:endParaRPr lang="en-US" sz="1400" dirty="0"/>
          </a:p>
          <a:p>
            <a:pPr indent="0" marL="0">
              <a:lnSpc>
                <a:spcPct val="120000"/>
              </a:lnSpc>
              <a:buNone/>
            </a:pPr>
            <a:r>
              <a:rPr lang="en-US" sz="1400" dirty="0">
                <a:solidFill>
                  <a:srgbClr val="CC7832"/>
                </a:solidFill>
                <a:latin typeface="Consolas" pitchFamily="34" charset="0"/>
                <a:ea typeface="Pretendard" pitchFamily="34" charset="-122"/>
                <a:cs typeface="Consolas" pitchFamily="34" charset="-120"/>
              </a:rPr>
              <a:t>return</a:t>
            </a:r>
            <a:r>
              <a:rPr lang="en-US" sz="1400" dirty="0">
                <a:solidFill>
                  <a:srgbClr val="A9B7C6"/>
                </a:solidFill>
                <a:latin typeface="Consolas" pitchFamily="34" charset="0"/>
                <a:ea typeface="Pretendard" pitchFamily="34" charset="-122"/>
                <a:cs typeface="Consolas" pitchFamily="34" charset="-120"/>
              </a:rPr>
              <a:t> result.</a:t>
            </a:r>
            <a:r>
              <a:rPr lang="en-US" sz="1400" dirty="0">
                <a:solidFill>
                  <a:srgbClr val="FFC66D"/>
                </a:solidFill>
                <a:latin typeface="Consolas" pitchFamily="34" charset="0"/>
                <a:ea typeface="Pretendard" pitchFamily="34" charset="-122"/>
                <a:cs typeface="Consolas" pitchFamily="34" charset="-120"/>
              </a:rPr>
              <a:t>stream</a:t>
            </a:r>
            <a:r>
              <a:rPr lang="en-US" sz="1400" dirty="0">
                <a:solidFill>
                  <a:srgbClr val="A9B7C6"/>
                </a:solidFill>
                <a:latin typeface="Consolas" pitchFamily="34" charset="0"/>
                <a:ea typeface="Pretendard" pitchFamily="34" charset="-122"/>
                <a:cs typeface="Consolas" pitchFamily="34" charset="-120"/>
              </a:rPr>
              <a:t>().</a:t>
            </a:r>
            <a:r>
              <a:rPr lang="en-US" sz="1400" dirty="0">
                <a:solidFill>
                  <a:srgbClr val="FFC66D"/>
                </a:solidFill>
                <a:latin typeface="Consolas" pitchFamily="34" charset="0"/>
                <a:ea typeface="Pretendard" pitchFamily="34" charset="-122"/>
                <a:cs typeface="Consolas" pitchFamily="34" charset="-120"/>
              </a:rPr>
              <a:t>findAny</a:t>
            </a:r>
            <a:r>
              <a:rPr lang="en-US" sz="1400" dirty="0">
                <a:solidFill>
                  <a:srgbClr val="A9B7C6"/>
                </a:solidFill>
                <a:latin typeface="Consolas" pitchFamily="34" charset="0"/>
                <a:ea typeface="Pretendard" pitchFamily="34" charset="-122"/>
                <a:cs typeface="Consolas" pitchFamily="34" charset="-120"/>
              </a:rPr>
              <a:t>();</a:t>
            </a:r>
            <a:endParaRPr lang="en-US" sz="1400" dirty="0"/>
          </a:p>
        </p:txBody>
      </p:sp>
      <p:sp>
        <p:nvSpPr>
          <p:cNvPr id="10" name="Text 8"/>
          <p:cNvSpPr txBox="1"/>
          <p:nvPr/>
        </p:nvSpPr>
        <p:spPr>
          <a:xfrm>
            <a:off x="685800" y="547217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순수 JDBC</a:t>
            </a:r>
            <a:endParaRPr lang="ko-KR" sz="1700" dirty="0"/>
          </a:p>
        </p:txBody>
      </p:sp>
      <p:sp>
        <p:nvSpPr>
          <p:cNvPr id="11" name="Text 9"/>
          <p:cNvSpPr txBox="1"/>
          <p:nvPr/>
        </p:nvSpPr>
        <p:spPr>
          <a:xfrm>
            <a:off x="685800" y="583793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연결·SQL·매핑·close 를 매번 직접 쓴다</a:t>
            </a:r>
            <a:endParaRPr lang="ko-KR" sz="1400" dirty="0"/>
          </a:p>
        </p:txBody>
      </p:sp>
      <p:sp>
        <p:nvSpPr>
          <p:cNvPr id="12" name="Text 10"/>
          <p:cNvSpPr txBox="1"/>
          <p:nvPr/>
        </p:nvSpPr>
        <p:spPr>
          <a:xfrm>
            <a:off x="6278728" y="547217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JdbcTemplate</a:t>
            </a:r>
            <a:endParaRPr lang="ko-KR" sz="1700" dirty="0"/>
          </a:p>
        </p:txBody>
      </p:sp>
      <p:sp>
        <p:nvSpPr>
          <p:cNvPr id="13" name="Text 11"/>
          <p:cNvSpPr txBox="1"/>
          <p:nvPr/>
        </p:nvSpPr>
        <p:spPr>
          <a:xfrm>
            <a:off x="6278728" y="583793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반복 코드가 사라지고 </a:t>
            </a:r>
            <a:r>
              <a:rPr lang="ko-KR" altLang="en-US" sz="1400" b="1" dirty="0">
                <a:solidFill>
                  <a:srgbClr val="0057FF"/>
                </a:solidFill>
                <a:latin typeface="Pretendard" pitchFamily="34" charset="0"/>
                <a:ea typeface="Pretendard" pitchFamily="34" charset="-122"/>
                <a:cs typeface="Pretendard" pitchFamily="34" charset="-120"/>
              </a:rPr>
              <a:t>SQL 과 매핑</a:t>
            </a:r>
            <a:r>
              <a:rPr lang="ko-KR" altLang="en-US" sz="1400" dirty="0">
                <a:solidFill>
                  <a:srgbClr val="6B7280"/>
                </a:solidFill>
                <a:latin typeface="Pretendard" pitchFamily="34" charset="0"/>
                <a:ea typeface="Pretendard" pitchFamily="34" charset="-122"/>
                <a:cs typeface="Pretendard" pitchFamily="34" charset="-120"/>
              </a:rPr>
              <a:t> 만 남는다</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03  DB 접근 기술</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MyBatis 와 JPA</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MyBatis — SQL 을 XML 에 분리 (일반 예시)</a:t>
            </a:r>
            <a:endParaRPr lang="ko-KR" sz="1200" dirty="0"/>
          </a:p>
        </p:txBody>
      </p:sp>
      <p:sp>
        <p:nvSpPr>
          <p:cNvPr id="5" name="Shape 3"/>
          <p:cNvSpPr/>
          <p:nvPr/>
        </p:nvSpPr>
        <p:spPr>
          <a:xfrm>
            <a:off x="685800" y="2093976"/>
            <a:ext cx="5227168" cy="1432560"/>
          </a:xfrm>
          <a:prstGeom prst="roundRect">
            <a:avLst>
              <a:gd name="adj" fmla="val 7660"/>
            </a:avLst>
          </a:prstGeom>
          <a:solidFill>
            <a:srgbClr val="23262F"/>
          </a:solidFill>
          <a:ln w="12700">
            <a:solidFill>
              <a:srgbClr val="23262F"/>
            </a:solidFill>
            <a:prstDash val="solid"/>
          </a:ln>
        </p:spPr>
      </p:sp>
      <p:sp>
        <p:nvSpPr>
          <p:cNvPr id="6" name="Text 4"/>
          <p:cNvSpPr txBox="1"/>
          <p:nvPr/>
        </p:nvSpPr>
        <p:spPr>
          <a:xfrm>
            <a:off x="868680" y="2276856"/>
            <a:ext cx="4861408" cy="1066800"/>
          </a:xfrm>
          <a:prstGeom prst="rect">
            <a:avLst/>
          </a:prstGeom>
          <a:noFill/>
          <a:ln/>
        </p:spPr>
        <p:txBody>
          <a:bodyPr wrap="square" lIns="0" tIns="0" rIns="0" bIns="0" rtlCol="0" anchor="t"/>
          <a:lstStyle/>
          <a:p>
            <a:pPr indent="0" marL="0">
              <a:lnSpc>
                <a:spcPct val="120000"/>
              </a:lnSpc>
              <a:buNone/>
            </a:pPr>
            <a:r>
              <a:rPr lang="en-US" sz="1500" dirty="0">
                <a:solidFill>
                  <a:srgbClr val="E8BF6A"/>
                </a:solidFill>
                <a:latin typeface="Consolas" pitchFamily="34" charset="0"/>
                <a:ea typeface="Pretendard" pitchFamily="34" charset="-122"/>
                <a:cs typeface="Consolas" pitchFamily="34" charset="-120"/>
              </a:rPr>
              <a:t>&lt;select</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BABABA"/>
                </a:solidFill>
                <a:latin typeface="Consolas" pitchFamily="34" charset="0"/>
                <a:ea typeface="Pretendard" pitchFamily="34" charset="-122"/>
                <a:cs typeface="Consolas" pitchFamily="34" charset="-120"/>
              </a:rPr>
              <a:t>id</a:t>
            </a:r>
            <a:r>
              <a:rPr lang="en-US" sz="1500" dirty="0">
                <a:solidFill>
                  <a:srgbClr val="A9B7C6"/>
                </a:solidFill>
                <a:latin typeface="Consolas" pitchFamily="34" charset="0"/>
                <a:ea typeface="Pretendard" pitchFamily="34" charset="-122"/>
                <a:cs typeface="Consolas" pitchFamily="34" charset="-120"/>
              </a:rPr>
              <a:t>=</a:t>
            </a:r>
            <a:r>
              <a:rPr lang="en-US" sz="1500" dirty="0">
                <a:solidFill>
                  <a:srgbClr val="A5C261"/>
                </a:solidFill>
                <a:latin typeface="Consolas" pitchFamily="34" charset="0"/>
                <a:ea typeface="Pretendard" pitchFamily="34" charset="-122"/>
                <a:cs typeface="Consolas" pitchFamily="34" charset="-120"/>
              </a:rPr>
              <a:t>"findByName"</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BABABA"/>
                </a:solidFill>
                <a:latin typeface="Consolas" pitchFamily="34" charset="0"/>
                <a:ea typeface="Pretendard" pitchFamily="34" charset="-122"/>
                <a:cs typeface="Consolas" pitchFamily="34" charset="-120"/>
              </a:rPr>
              <a:t>resultType</a:t>
            </a:r>
            <a:r>
              <a:rPr lang="en-US" sz="1500" dirty="0">
                <a:solidFill>
                  <a:srgbClr val="A9B7C6"/>
                </a:solidFill>
                <a:latin typeface="Consolas" pitchFamily="34" charset="0"/>
                <a:ea typeface="Pretendard" pitchFamily="34" charset="-122"/>
                <a:cs typeface="Consolas" pitchFamily="34" charset="-120"/>
              </a:rPr>
              <a:t>=</a:t>
            </a:r>
            <a:r>
              <a:rPr lang="en-US" sz="1500" dirty="0">
                <a:solidFill>
                  <a:srgbClr val="A5C261"/>
                </a:solidFill>
                <a:latin typeface="Consolas" pitchFamily="34" charset="0"/>
                <a:ea typeface="Pretendard" pitchFamily="34" charset="-122"/>
                <a:cs typeface="Consolas" pitchFamily="34" charset="-120"/>
              </a:rPr>
              <a:t>"Member"</a:t>
            </a:r>
            <a:r>
              <a:rPr lang="en-US" sz="1500" dirty="0">
                <a:solidFill>
                  <a:srgbClr val="E8BF6A"/>
                </a:solidFill>
                <a:latin typeface="Consolas" pitchFamily="34" charset="0"/>
                <a:ea typeface="Pretendard" pitchFamily="34" charset="-122"/>
                <a:cs typeface="Consolas" pitchFamily="34" charset="-120"/>
              </a:rPr>
              <a:t>&gt;</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select * from member</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where name = #{name}</a:t>
            </a:r>
            <a:endParaRPr lang="en-US" sz="1500" dirty="0"/>
          </a:p>
          <a:p>
            <a:pPr indent="0" marL="0">
              <a:lnSpc>
                <a:spcPct val="120000"/>
              </a:lnSpc>
              <a:buNone/>
            </a:pPr>
            <a:r>
              <a:rPr lang="en-US" sz="1500" dirty="0">
                <a:solidFill>
                  <a:srgbClr val="E8BF6A"/>
                </a:solidFill>
                <a:latin typeface="Consolas" pitchFamily="34" charset="0"/>
                <a:ea typeface="Pretendard" pitchFamily="34" charset="-122"/>
                <a:cs typeface="Consolas" pitchFamily="34" charset="-120"/>
              </a:rPr>
              <a:t>&lt;/select&gt;</a:t>
            </a:r>
            <a:endParaRPr lang="en-US" sz="15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JPA — 테이블이 아니라 객체를 조회</a:t>
            </a:r>
            <a:endParaRPr lang="ko-KR" sz="1200" dirty="0"/>
          </a:p>
        </p:txBody>
      </p:sp>
      <p:sp>
        <p:nvSpPr>
          <p:cNvPr id="8" name="Shape 6"/>
          <p:cNvSpPr/>
          <p:nvPr/>
        </p:nvSpPr>
        <p:spPr>
          <a:xfrm>
            <a:off x="6278728" y="2093976"/>
            <a:ext cx="5227168" cy="1965960"/>
          </a:xfrm>
          <a:prstGeom prst="roundRect">
            <a:avLst>
              <a:gd name="adj" fmla="val 5581"/>
            </a:avLst>
          </a:prstGeom>
          <a:solidFill>
            <a:srgbClr val="23262F"/>
          </a:solidFill>
          <a:ln w="12700">
            <a:solidFill>
              <a:srgbClr val="23262F"/>
            </a:solidFill>
            <a:prstDash val="solid"/>
          </a:ln>
        </p:spPr>
      </p:sp>
      <p:sp>
        <p:nvSpPr>
          <p:cNvPr id="9" name="Text 7"/>
          <p:cNvSpPr txBox="1"/>
          <p:nvPr/>
        </p:nvSpPr>
        <p:spPr>
          <a:xfrm>
            <a:off x="6461608" y="2276856"/>
            <a:ext cx="4861408" cy="1600200"/>
          </a:xfrm>
          <a:prstGeom prst="rect">
            <a:avLst/>
          </a:prstGeom>
          <a:noFill/>
          <a:ln/>
        </p:spPr>
        <p:txBody>
          <a:bodyPr wrap="square" lIns="0" tIns="0" rIns="0" bIns="0" rtlCol="0" anchor="t"/>
          <a:lstStyle/>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List&lt;Member&gt; result = em.</a:t>
            </a:r>
            <a:r>
              <a:rPr lang="en-US" sz="1500" dirty="0">
                <a:solidFill>
                  <a:srgbClr val="FFC66D"/>
                </a:solidFill>
                <a:latin typeface="Consolas" pitchFamily="34" charset="0"/>
                <a:ea typeface="Pretendard" pitchFamily="34" charset="-122"/>
                <a:cs typeface="Consolas" pitchFamily="34" charset="-120"/>
              </a:rPr>
              <a:t>createQuery</a:t>
            </a:r>
            <a:r>
              <a:rPr lang="en-US" sz="1500" dirty="0">
                <a:solidFill>
                  <a:srgbClr val="A9B7C6"/>
                </a:solidFill>
                <a:latin typeface="Consolas" pitchFamily="34" charset="0"/>
                <a:ea typeface="Pretendard" pitchFamily="34" charset="-122"/>
                <a:cs typeface="Consolas" pitchFamily="34" charset="-120"/>
              </a:rPr>
              <a:t>(</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6A8759"/>
                </a:solidFill>
                <a:latin typeface="Consolas" pitchFamily="34" charset="0"/>
                <a:ea typeface="Pretendard" pitchFamily="34" charset="-122"/>
                <a:cs typeface="Consolas" pitchFamily="34" charset="-120"/>
              </a:rPr>
              <a:t>"select m from Member m "</a:t>
            </a:r>
            <a:r>
              <a:rPr lang="en-US" sz="1500" dirty="0">
                <a:solidFill>
                  <a:srgbClr val="A9B7C6"/>
                </a:solidFill>
                <a:latin typeface="Consolas" pitchFamily="34" charset="0"/>
                <a:ea typeface="Pretendard" pitchFamily="34" charset="-122"/>
                <a:cs typeface="Consolas" pitchFamily="34" charset="-120"/>
              </a:rPr>
              <a:t>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6A8759"/>
                </a:solidFill>
                <a:latin typeface="Consolas" pitchFamily="34" charset="0"/>
                <a:ea typeface="Pretendard" pitchFamily="34" charset="-122"/>
                <a:cs typeface="Consolas" pitchFamily="34" charset="-120"/>
              </a:rPr>
              <a:t>"where m.name = :name"</a:t>
            </a:r>
            <a:r>
              <a:rPr lang="en-US" sz="1500" dirty="0">
                <a:solidFill>
                  <a:srgbClr val="A9B7C6"/>
                </a:solidFill>
                <a:latin typeface="Consolas" pitchFamily="34" charset="0"/>
                <a:ea typeface="Pretendard" pitchFamily="34" charset="-122"/>
                <a:cs typeface="Consolas" pitchFamily="34" charset="-120"/>
              </a:rPr>
              <a:t>, Member.</a:t>
            </a:r>
            <a:r>
              <a:rPr lang="en-US" sz="1500" dirty="0">
                <a:solidFill>
                  <a:srgbClr val="CC7832"/>
                </a:solidFill>
                <a:latin typeface="Consolas" pitchFamily="34" charset="0"/>
                <a:ea typeface="Pretendard" pitchFamily="34" charset="-122"/>
                <a:cs typeface="Consolas" pitchFamily="34" charset="-120"/>
              </a:rPr>
              <a:t>class</a:t>
            </a:r>
            <a:r>
              <a:rPr lang="en-US" sz="1500" dirty="0">
                <a:solidFill>
                  <a:srgbClr val="A9B7C6"/>
                </a:solidFill>
                <a:latin typeface="Consolas" pitchFamily="34" charset="0"/>
                <a:ea typeface="Pretendard" pitchFamily="34" charset="-122"/>
                <a:cs typeface="Consolas" pitchFamily="34" charset="-120"/>
              </a:rPr>
              <a:t>)</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FFC66D"/>
                </a:solidFill>
                <a:latin typeface="Consolas" pitchFamily="34" charset="0"/>
                <a:ea typeface="Pretendard" pitchFamily="34" charset="-122"/>
                <a:cs typeface="Consolas" pitchFamily="34" charset="-120"/>
              </a:rPr>
              <a:t>setParameter</a:t>
            </a:r>
            <a:r>
              <a:rPr lang="en-US" sz="1500" dirty="0">
                <a:solidFill>
                  <a:srgbClr val="A9B7C6"/>
                </a:solidFill>
                <a:latin typeface="Consolas" pitchFamily="34" charset="0"/>
                <a:ea typeface="Pretendard" pitchFamily="34" charset="-122"/>
                <a:cs typeface="Consolas" pitchFamily="34" charset="-120"/>
              </a:rPr>
              <a:t>(</a:t>
            </a:r>
            <a:r>
              <a:rPr lang="en-US" sz="1500" dirty="0">
                <a:solidFill>
                  <a:srgbClr val="6A8759"/>
                </a:solidFill>
                <a:latin typeface="Consolas" pitchFamily="34" charset="0"/>
                <a:ea typeface="Pretendard" pitchFamily="34" charset="-122"/>
                <a:cs typeface="Consolas" pitchFamily="34" charset="-120"/>
              </a:rPr>
              <a:t>"name"</a:t>
            </a:r>
            <a:r>
              <a:rPr lang="en-US" sz="1500" dirty="0">
                <a:solidFill>
                  <a:srgbClr val="A9B7C6"/>
                </a:solidFill>
                <a:latin typeface="Consolas" pitchFamily="34" charset="0"/>
                <a:ea typeface="Pretendard" pitchFamily="34" charset="-122"/>
                <a:cs typeface="Consolas" pitchFamily="34" charset="-120"/>
              </a:rPr>
              <a:t>, name)</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FFC66D"/>
                </a:solidFill>
                <a:latin typeface="Consolas" pitchFamily="34" charset="0"/>
                <a:ea typeface="Pretendard" pitchFamily="34" charset="-122"/>
                <a:cs typeface="Consolas" pitchFamily="34" charset="-120"/>
              </a:rPr>
              <a:t>getResultList</a:t>
            </a:r>
            <a:r>
              <a:rPr lang="en-US" sz="1500" dirty="0">
                <a:solidFill>
                  <a:srgbClr val="A9B7C6"/>
                </a:solidFill>
                <a:latin typeface="Consolas" pitchFamily="34" charset="0"/>
                <a:ea typeface="Pretendard" pitchFamily="34" charset="-122"/>
                <a:cs typeface="Consolas" pitchFamily="34" charset="-120"/>
              </a:rPr>
              <a:t>();</a:t>
            </a:r>
            <a:endParaRPr lang="en-US" sz="1500" dirty="0"/>
          </a:p>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return</a:t>
            </a:r>
            <a:r>
              <a:rPr lang="en-US" sz="1500" dirty="0">
                <a:solidFill>
                  <a:srgbClr val="A9B7C6"/>
                </a:solidFill>
                <a:latin typeface="Consolas" pitchFamily="34" charset="0"/>
                <a:ea typeface="Pretendard" pitchFamily="34" charset="-122"/>
                <a:cs typeface="Consolas" pitchFamily="34" charset="-120"/>
              </a:rPr>
              <a:t> result.</a:t>
            </a:r>
            <a:r>
              <a:rPr lang="en-US" sz="1500" dirty="0">
                <a:solidFill>
                  <a:srgbClr val="FFC66D"/>
                </a:solidFill>
                <a:latin typeface="Consolas" pitchFamily="34" charset="0"/>
                <a:ea typeface="Pretendard" pitchFamily="34" charset="-122"/>
                <a:cs typeface="Consolas" pitchFamily="34" charset="-120"/>
              </a:rPr>
              <a:t>stream</a:t>
            </a:r>
            <a:r>
              <a:rPr lang="en-US" sz="1500" dirty="0">
                <a:solidFill>
                  <a:srgbClr val="A9B7C6"/>
                </a:solidFill>
                <a:latin typeface="Consolas" pitchFamily="34" charset="0"/>
                <a:ea typeface="Pretendard" pitchFamily="34" charset="-122"/>
                <a:cs typeface="Consolas" pitchFamily="34" charset="-120"/>
              </a:rPr>
              <a:t>().</a:t>
            </a:r>
            <a:r>
              <a:rPr lang="en-US" sz="1500" dirty="0">
                <a:solidFill>
                  <a:srgbClr val="FFC66D"/>
                </a:solidFill>
                <a:latin typeface="Consolas" pitchFamily="34" charset="0"/>
                <a:ea typeface="Pretendard" pitchFamily="34" charset="-122"/>
                <a:cs typeface="Consolas" pitchFamily="34" charset="-120"/>
              </a:rPr>
              <a:t>findAny</a:t>
            </a:r>
            <a:r>
              <a:rPr lang="en-US" sz="1500" dirty="0">
                <a:solidFill>
                  <a:srgbClr val="A9B7C6"/>
                </a:solidFill>
                <a:latin typeface="Consolas" pitchFamily="34" charset="0"/>
                <a:ea typeface="Pretendard" pitchFamily="34" charset="-122"/>
                <a:cs typeface="Consolas" pitchFamily="34" charset="-120"/>
              </a:rPr>
              <a:t>();</a:t>
            </a:r>
            <a:endParaRPr lang="en-US" sz="1500" dirty="0"/>
          </a:p>
        </p:txBody>
      </p:sp>
      <p:sp>
        <p:nvSpPr>
          <p:cNvPr id="10" name="Text 8"/>
          <p:cNvSpPr txBox="1"/>
          <p:nvPr/>
        </p:nvSpPr>
        <p:spPr>
          <a:xfrm>
            <a:off x="685800" y="4334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MyBatis</a:t>
            </a:r>
            <a:endParaRPr lang="ko-KR" sz="1700" dirty="0"/>
          </a:p>
        </p:txBody>
      </p:sp>
      <p:sp>
        <p:nvSpPr>
          <p:cNvPr id="11" name="Text 9"/>
          <p:cNvSpPr txBox="1"/>
          <p:nvPr/>
        </p:nvSpPr>
        <p:spPr>
          <a:xfrm>
            <a:off x="685800" y="470001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pitchFamily="34" charset="0"/>
                <a:ea typeface="Pretendard" pitchFamily="34" charset="-122"/>
                <a:cs typeface="Pretendard" pitchFamily="34" charset="-120"/>
              </a:rPr>
              <a:t>SQL 은 직접 쓰고, 결과는 객체로 </a:t>
            </a:r>
            <a:r>
              <a:rPr lang="ko-KR" altLang="en-US" sz="1400" b="1" dirty="0">
                <a:solidFill>
                  <a:srgbClr val="0057FF"/>
                </a:solidFill>
                <a:latin typeface="Pretendard" pitchFamily="34" charset="0"/>
                <a:ea typeface="Pretendard" pitchFamily="34" charset="-122"/>
                <a:cs typeface="Pretendard" pitchFamily="34" charset="-120"/>
              </a:rPr>
              <a:t>자동 매핑</a:t>
            </a:r>
            <a:endParaRPr lang="ko-KR" sz="1400" dirty="0"/>
          </a:p>
        </p:txBody>
      </p:sp>
      <p:sp>
        <p:nvSpPr>
          <p:cNvPr id="12" name="Text 10"/>
          <p:cNvSpPr txBox="1"/>
          <p:nvPr/>
        </p:nvSpPr>
        <p:spPr>
          <a:xfrm>
            <a:off x="6278728" y="4334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pitchFamily="34" charset="0"/>
                <a:ea typeface="Pretendard" pitchFamily="34" charset="-122"/>
                <a:cs typeface="Pretendard" pitchFamily="34" charset="-120"/>
              </a:rPr>
              <a:t>JPA</a:t>
            </a:r>
            <a:endParaRPr lang="ko-KR" sz="1700" dirty="0"/>
          </a:p>
        </p:txBody>
      </p:sp>
      <p:sp>
        <p:nvSpPr>
          <p:cNvPr id="13" name="Text 11"/>
          <p:cNvSpPr txBox="1"/>
          <p:nvPr/>
        </p:nvSpPr>
        <p:spPr>
          <a:xfrm>
            <a:off x="6278728" y="4700016"/>
            <a:ext cx="5227168" cy="240030"/>
          </a:xfrm>
          <a:prstGeom prst="rect">
            <a:avLst/>
          </a:prstGeom>
          <a:noFill/>
          <a:ln/>
        </p:spPr>
        <p:txBody>
          <a:bodyPr wrap="square" lIns="0" tIns="0" rIns="0" bIns="0" rtlCol="0" anchor="t"/>
          <a:lstStyle/>
          <a:p>
            <a:pPr indent="0" marL="0">
              <a:lnSpc>
                <a:spcPct val="110000"/>
              </a:lnSpc>
              <a:buNone/>
            </a:pPr>
            <a:r>
              <a:rPr lang="ko-KR" altLang="en-US" sz="1400" b="1" dirty="0">
                <a:solidFill>
                  <a:srgbClr val="0057FF"/>
                </a:solidFill>
                <a:latin typeface="Pretendard" pitchFamily="34" charset="0"/>
                <a:ea typeface="Pretendard" pitchFamily="34" charset="-122"/>
                <a:cs typeface="Pretendard" pitchFamily="34" charset="-120"/>
              </a:rPr>
              <a:t>객체(Member)</a:t>
            </a:r>
            <a:r>
              <a:rPr lang="ko-KR" altLang="en-US" sz="1400" dirty="0">
                <a:solidFill>
                  <a:srgbClr val="6B7280"/>
                </a:solidFill>
                <a:latin typeface="Pretendard" pitchFamily="34" charset="0"/>
                <a:ea typeface="Pretendard" pitchFamily="34" charset="-122"/>
                <a:cs typeface="Pretendard" pitchFamily="34" charset="-120"/>
              </a:rPr>
              <a:t> 대상 조회, 기본 CRUD SQL 은 자동 생성</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pitchFamily="34" charset="0"/>
                <a:ea typeface="Pretendard" pitchFamily="34" charset="-122"/>
                <a:cs typeface="Pretendard" pitchFamily="34" charset="-120"/>
              </a:rPr>
              <a:t>03  DB 접근 기술</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JPA 와 스프링 데이터 JPA</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JPA — 구현 클래스를 직접 만든다</a:t>
            </a:r>
            <a:endParaRPr lang="ko-KR" sz="1200" dirty="0"/>
          </a:p>
        </p:txBody>
      </p:sp>
      <p:sp>
        <p:nvSpPr>
          <p:cNvPr id="5" name="Shape 3"/>
          <p:cNvSpPr/>
          <p:nvPr/>
        </p:nvSpPr>
        <p:spPr>
          <a:xfrm>
            <a:off x="685800" y="2093976"/>
            <a:ext cx="6309360" cy="1699260"/>
          </a:xfrm>
          <a:prstGeom prst="roundRect">
            <a:avLst>
              <a:gd name="adj" fmla="val 6457"/>
            </a:avLst>
          </a:prstGeom>
          <a:solidFill>
            <a:srgbClr val="23262F"/>
          </a:solidFill>
          <a:ln w="12700">
            <a:solidFill>
              <a:srgbClr val="23262F"/>
            </a:solidFill>
            <a:prstDash val="solid"/>
          </a:ln>
        </p:spPr>
      </p:sp>
      <p:sp>
        <p:nvSpPr>
          <p:cNvPr id="6" name="Text 4"/>
          <p:cNvSpPr txBox="1"/>
          <p:nvPr/>
        </p:nvSpPr>
        <p:spPr>
          <a:xfrm>
            <a:off x="868680" y="2276856"/>
            <a:ext cx="5943600" cy="1333500"/>
          </a:xfrm>
          <a:prstGeom prst="rect">
            <a:avLst/>
          </a:prstGeom>
          <a:noFill/>
          <a:ln/>
        </p:spPr>
        <p:txBody>
          <a:bodyPr wrap="square" lIns="0" tIns="0" rIns="0" bIns="0" rtlCol="0" anchor="t"/>
          <a:lstStyle/>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class</a:t>
            </a:r>
            <a:r>
              <a:rPr lang="en-US" sz="1500" dirty="0">
                <a:solidFill>
                  <a:srgbClr val="A9B7C6"/>
                </a:solidFill>
                <a:latin typeface="Consolas" pitchFamily="34" charset="0"/>
                <a:ea typeface="Pretendard" pitchFamily="34" charset="-122"/>
                <a:cs typeface="Consolas" pitchFamily="34" charset="-120"/>
              </a:rPr>
              <a:t> JpaMemberRepository</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implements</a:t>
            </a:r>
            <a:r>
              <a:rPr lang="en-US" sz="1500" dirty="0">
                <a:solidFill>
                  <a:srgbClr val="A9B7C6"/>
                </a:solidFill>
                <a:latin typeface="Consolas" pitchFamily="34" charset="0"/>
                <a:ea typeface="Pretendard" pitchFamily="34" charset="-122"/>
                <a:cs typeface="Consolas" pitchFamily="34" charset="-120"/>
              </a:rPr>
              <a:t> MemberRepository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private</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final</a:t>
            </a:r>
            <a:r>
              <a:rPr lang="en-US" sz="1500" dirty="0">
                <a:solidFill>
                  <a:srgbClr val="A9B7C6"/>
                </a:solidFill>
                <a:latin typeface="Consolas" pitchFamily="34" charset="0"/>
                <a:ea typeface="Pretendard" pitchFamily="34" charset="-122"/>
                <a:cs typeface="Consolas" pitchFamily="34" charset="-120"/>
              </a:rPr>
              <a:t> EntityManager em;</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808080"/>
                </a:solidFill>
                <a:latin typeface="Consolas" pitchFamily="34" charset="0"/>
                <a:ea typeface="Pretendard" pitchFamily="34" charset="-122"/>
                <a:cs typeface="Consolas" pitchFamily="34" charset="-120"/>
              </a:rPr>
              <a:t>// save·findById·findByName·findAll 직접 구현</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a:t>
            </a:r>
            <a:endParaRPr lang="en-US" sz="1500" dirty="0"/>
          </a:p>
        </p:txBody>
      </p:sp>
      <p:sp>
        <p:nvSpPr>
          <p:cNvPr id="7" name="Text 5"/>
          <p:cNvSpPr txBox="1"/>
          <p:nvPr/>
        </p:nvSpPr>
        <p:spPr>
          <a:xfrm>
            <a:off x="685800" y="4067556"/>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pitchFamily="34" charset="0"/>
                <a:ea typeface="Pretendard" pitchFamily="34" charset="-122"/>
                <a:cs typeface="Pretendard" pitchFamily="34" charset="-120"/>
              </a:rPr>
              <a:t>스프링 데이터 JPA — 인터페이스만 만든다</a:t>
            </a:r>
            <a:endParaRPr lang="ko-KR" sz="1200" dirty="0"/>
          </a:p>
        </p:txBody>
      </p:sp>
      <p:sp>
        <p:nvSpPr>
          <p:cNvPr id="8" name="Shape 6"/>
          <p:cNvSpPr/>
          <p:nvPr/>
        </p:nvSpPr>
        <p:spPr>
          <a:xfrm>
            <a:off x="685800" y="4378452"/>
            <a:ext cx="6309360" cy="1699260"/>
          </a:xfrm>
          <a:prstGeom prst="roundRect">
            <a:avLst>
              <a:gd name="adj" fmla="val 6457"/>
            </a:avLst>
          </a:prstGeom>
          <a:solidFill>
            <a:srgbClr val="23262F"/>
          </a:solidFill>
          <a:ln w="12700">
            <a:solidFill>
              <a:srgbClr val="23262F"/>
            </a:solidFill>
            <a:prstDash val="solid"/>
          </a:ln>
        </p:spPr>
      </p:sp>
      <p:sp>
        <p:nvSpPr>
          <p:cNvPr id="9" name="Text 7"/>
          <p:cNvSpPr txBox="1"/>
          <p:nvPr/>
        </p:nvSpPr>
        <p:spPr>
          <a:xfrm>
            <a:off x="868680" y="4561332"/>
            <a:ext cx="5943600" cy="1333500"/>
          </a:xfrm>
          <a:prstGeom prst="rect">
            <a:avLst/>
          </a:prstGeom>
          <a:noFill/>
          <a:ln/>
        </p:spPr>
        <p:txBody>
          <a:bodyPr wrap="square" lIns="0" tIns="0" rIns="0" bIns="0" rtlCol="0" anchor="t"/>
          <a:lstStyle/>
          <a:p>
            <a:pPr indent="0" marL="0">
              <a:lnSpc>
                <a:spcPct val="120000"/>
              </a:lnSpc>
              <a:buNone/>
            </a:pPr>
            <a:r>
              <a:rPr lang="en-US" sz="1500" dirty="0">
                <a:solidFill>
                  <a:srgbClr val="CC7832"/>
                </a:solidFill>
                <a:latin typeface="Consolas" pitchFamily="34" charset="0"/>
                <a:ea typeface="Pretendard" pitchFamily="34" charset="-122"/>
                <a:cs typeface="Consolas" pitchFamily="34" charset="-120"/>
              </a:rPr>
              <a:t>public</a:t>
            </a: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interface</a:t>
            </a:r>
            <a:r>
              <a:rPr lang="en-US" sz="1500" dirty="0">
                <a:solidFill>
                  <a:srgbClr val="A9B7C6"/>
                </a:solidFill>
                <a:latin typeface="Consolas" pitchFamily="34" charset="0"/>
                <a:ea typeface="Pretendard" pitchFamily="34" charset="-122"/>
                <a:cs typeface="Consolas" pitchFamily="34" charset="-120"/>
              </a:rPr>
              <a:t> SpringDataJpaMemberRepository</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a:t>
            </a:r>
            <a:r>
              <a:rPr lang="en-US" sz="1500" dirty="0">
                <a:solidFill>
                  <a:srgbClr val="CC7832"/>
                </a:solidFill>
                <a:latin typeface="Consolas" pitchFamily="34" charset="0"/>
                <a:ea typeface="Pretendard" pitchFamily="34" charset="-122"/>
                <a:cs typeface="Consolas" pitchFamily="34" charset="-120"/>
              </a:rPr>
              <a:t>extends</a:t>
            </a:r>
            <a:r>
              <a:rPr lang="en-US" sz="1500" dirty="0">
                <a:solidFill>
                  <a:srgbClr val="A9B7C6"/>
                </a:solidFill>
                <a:latin typeface="Consolas" pitchFamily="34" charset="0"/>
                <a:ea typeface="Pretendard" pitchFamily="34" charset="-122"/>
                <a:cs typeface="Consolas" pitchFamily="34" charset="-120"/>
              </a:rPr>
              <a:t> JpaRepository&lt;Member, Long&gt;,</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MemberRepository {</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    Optional&lt;Member&gt; </a:t>
            </a:r>
            <a:r>
              <a:rPr lang="en-US" sz="1500" dirty="0">
                <a:solidFill>
                  <a:srgbClr val="FFC66D"/>
                </a:solidFill>
                <a:latin typeface="Consolas" pitchFamily="34" charset="0"/>
                <a:ea typeface="Pretendard" pitchFamily="34" charset="-122"/>
                <a:cs typeface="Consolas" pitchFamily="34" charset="-120"/>
              </a:rPr>
              <a:t>findByName</a:t>
            </a:r>
            <a:r>
              <a:rPr lang="en-US" sz="1500" dirty="0">
                <a:solidFill>
                  <a:srgbClr val="A9B7C6"/>
                </a:solidFill>
                <a:latin typeface="Consolas" pitchFamily="34" charset="0"/>
                <a:ea typeface="Pretendard" pitchFamily="34" charset="-122"/>
                <a:cs typeface="Consolas" pitchFamily="34" charset="-120"/>
              </a:rPr>
              <a:t>(String name);</a:t>
            </a:r>
            <a:endParaRPr lang="en-US" sz="1500" dirty="0"/>
          </a:p>
          <a:p>
            <a:pPr indent="0" marL="0">
              <a:lnSpc>
                <a:spcPct val="120000"/>
              </a:lnSpc>
              <a:buNone/>
            </a:pPr>
            <a:r>
              <a:rPr lang="en-US" sz="1500" dirty="0">
                <a:solidFill>
                  <a:srgbClr val="A9B7C6"/>
                </a:solidFill>
                <a:latin typeface="Consolas" pitchFamily="34" charset="0"/>
                <a:ea typeface="Pretendard" pitchFamily="34" charset="-122"/>
                <a:cs typeface="Consolas" pitchFamily="34" charset="-120"/>
              </a:rPr>
              <a:t>}</a:t>
            </a:r>
            <a:endParaRPr lang="en-US" sz="1500" dirty="0"/>
          </a:p>
        </p:txBody>
      </p:sp>
      <p:sp>
        <p:nvSpPr>
          <p:cNvPr id="10" name="Text 8"/>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JPA: </a:t>
            </a:r>
            <a:r>
              <a:rPr lang="ko-KR" altLang="en-US" sz="1800" dirty="0">
                <a:solidFill>
                  <a:srgbClr val="23262F"/>
                </a:solidFill>
                <a:latin typeface="Consolas" pitchFamily="34" charset="0"/>
                <a:ea typeface="Pretendard" pitchFamily="34" charset="-122"/>
                <a:cs typeface="Consolas" pitchFamily="34" charset="-120"/>
              </a:rPr>
              <a:t>EntityManager</a:t>
            </a:r>
            <a:r>
              <a:rPr lang="ko-KR" altLang="en-US" sz="1800" dirty="0">
                <a:solidFill>
                  <a:srgbClr val="23262F"/>
                </a:solidFill>
                <a:latin typeface="Pretendard" pitchFamily="34" charset="0"/>
                <a:ea typeface="Pretendard" pitchFamily="34" charset="-122"/>
                <a:cs typeface="Pretendard" pitchFamily="34" charset="-120"/>
              </a:rPr>
              <a:t> 로 </a:t>
            </a:r>
            <a:r>
              <a:rPr lang="ko-KR" altLang="en-US" sz="1800" b="1" dirty="0">
                <a:solidFill>
                  <a:srgbClr val="0057FF"/>
                </a:solidFill>
                <a:latin typeface="Pretendard" pitchFamily="34" charset="0"/>
                <a:ea typeface="Pretendard" pitchFamily="34" charset="-122"/>
                <a:cs typeface="Pretendard" pitchFamily="34" charset="-120"/>
              </a:rPr>
              <a:t>구현 클래스를 직접</a:t>
            </a:r>
            <a:r>
              <a:rPr lang="ko-KR" altLang="en-US" sz="1800" dirty="0">
                <a:solidFill>
                  <a:srgbClr val="23262F"/>
                </a:solidFill>
                <a:latin typeface="Pretendard" pitchFamily="34" charset="0"/>
                <a:ea typeface="Pretendard" pitchFamily="34" charset="-122"/>
                <a:cs typeface="Pretendard" pitchFamily="34" charset="-120"/>
              </a:rPr>
              <a:t> 작성</a:t>
            </a:r>
            <a:endParaRPr lang="ko-KR" sz="1800" dirty="0"/>
          </a:p>
        </p:txBody>
      </p:sp>
      <p:sp>
        <p:nvSpPr>
          <p:cNvPr id="11" name="Text 9"/>
          <p:cNvSpPr txBox="1"/>
          <p:nvPr/>
        </p:nvSpPr>
        <p:spPr>
          <a:xfrm>
            <a:off x="7406640" y="2894584"/>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pitchFamily="34" charset="0"/>
                <a:ea typeface="Pretendard" pitchFamily="34" charset="-122"/>
                <a:cs typeface="Pretendard" pitchFamily="34" charset="-120"/>
              </a:rPr>
              <a:t>스프링 데이터 JPA: </a:t>
            </a:r>
            <a:r>
              <a:rPr lang="ko-KR" altLang="en-US" sz="1800" b="1" dirty="0">
                <a:solidFill>
                  <a:srgbClr val="0057FF"/>
                </a:solidFill>
                <a:latin typeface="Pretendard" pitchFamily="34" charset="0"/>
                <a:ea typeface="Pretendard" pitchFamily="34" charset="-122"/>
                <a:cs typeface="Pretendard" pitchFamily="34" charset="-120"/>
              </a:rPr>
              <a:t>인터페이스만</a:t>
            </a:r>
            <a:r>
              <a:rPr lang="ko-KR" altLang="en-US" sz="1800" dirty="0">
                <a:solidFill>
                  <a:srgbClr val="23262F"/>
                </a:solidFill>
                <a:latin typeface="Pretendard" pitchFamily="34" charset="0"/>
                <a:ea typeface="Pretendard" pitchFamily="34" charset="-122"/>
                <a:cs typeface="Pretendard" pitchFamily="34" charset="-120"/>
              </a:rPr>
              <a:t> 선언하면 구현체를 스프링이 생성</a:t>
            </a:r>
            <a:endParaRPr lang="ko-KR" sz="1800" dirty="0"/>
          </a:p>
        </p:txBody>
      </p:sp>
      <p:sp>
        <p:nvSpPr>
          <p:cNvPr id="12" name="Text 10"/>
          <p:cNvSpPr txBox="1"/>
          <p:nvPr/>
        </p:nvSpPr>
        <p:spPr>
          <a:xfrm>
            <a:off x="7406640" y="3960368"/>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pitchFamily="34" charset="0"/>
                <a:ea typeface="Pretendard" pitchFamily="34" charset="-122"/>
                <a:cs typeface="Consolas" pitchFamily="34" charset="-120"/>
              </a:rPr>
              <a:t>findByName</a:t>
            </a:r>
            <a:r>
              <a:rPr lang="ko-KR" altLang="en-US" sz="1800" dirty="0">
                <a:solidFill>
                  <a:srgbClr val="23262F"/>
                </a:solidFill>
                <a:latin typeface="Pretendard" pitchFamily="34" charset="0"/>
                <a:ea typeface="Pretendard" pitchFamily="34" charset="-122"/>
                <a:cs typeface="Pretendard" pitchFamily="34" charset="-120"/>
              </a:rPr>
              <a:t> 처럼 </a:t>
            </a:r>
            <a:r>
              <a:rPr lang="ko-KR" altLang="en-US" sz="1800" b="1" dirty="0">
                <a:solidFill>
                  <a:srgbClr val="0057FF"/>
                </a:solidFill>
                <a:latin typeface="Pretendard" pitchFamily="34" charset="0"/>
                <a:ea typeface="Pretendard" pitchFamily="34" charset="-122"/>
                <a:cs typeface="Pretendard" pitchFamily="34" charset="-120"/>
              </a:rPr>
              <a:t>메서드 이름</a:t>
            </a:r>
            <a:r>
              <a:rPr lang="ko-KR" altLang="en-US" sz="1800" dirty="0">
                <a:solidFill>
                  <a:srgbClr val="23262F"/>
                </a:solidFill>
                <a:latin typeface="Pretendard" pitchFamily="34" charset="0"/>
                <a:ea typeface="Pretendard" pitchFamily="34" charset="-122"/>
                <a:cs typeface="Pretendard" pitchFamily="34" charset="-120"/>
              </a:rPr>
              <a:t>으로 조회 생성</a:t>
            </a:r>
            <a:endParaRPr lang="ko-KR" sz="1800" dirty="0"/>
          </a:p>
        </p:txBody>
      </p:sp>
      <p:sp>
        <p:nvSpPr>
          <p:cNvPr id="13" name="Text 11"/>
          <p:cNvSpPr txBox="1"/>
          <p:nvPr/>
        </p:nvSpPr>
        <p:spPr>
          <a:xfrm>
            <a:off x="7406640" y="5209032"/>
            <a:ext cx="4099255" cy="6858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pitchFamily="34" charset="0"/>
                <a:ea typeface="Pretendard" pitchFamily="34" charset="-122"/>
                <a:cs typeface="Pretendard" pitchFamily="34" charset="-120"/>
              </a:rPr>
              <a:t>JPA 를 </a:t>
            </a:r>
            <a:r>
              <a:rPr lang="ko-KR" altLang="en-US" sz="2000" b="1" dirty="0">
                <a:solidFill>
                  <a:srgbClr val="0057FF"/>
                </a:solidFill>
                <a:latin typeface="Pretendard" pitchFamily="34" charset="0"/>
                <a:ea typeface="Pretendard" pitchFamily="34" charset="-122"/>
                <a:cs typeface="Pretendard" pitchFamily="34" charset="-120"/>
              </a:rPr>
              <a:t>대체하지 않는다</a:t>
            </a:r>
            <a:r>
              <a:rPr lang="ko-KR" altLang="en-US" sz="2000" b="1" dirty="0">
                <a:solidFill>
                  <a:srgbClr val="23262F"/>
                </a:solidFill>
                <a:latin typeface="Pretendard" pitchFamily="34" charset="0"/>
                <a:ea typeface="Pretendard" pitchFamily="34" charset="-122"/>
                <a:cs typeface="Pretendard" pitchFamily="34" charset="-120"/>
              </a:rPr>
              <a:t> — JPA 위에서 편하게 쓰게 해주는 도구</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pitchFamily="34" charset="0"/>
                <a:ea typeface="Pretendard" pitchFamily="34" charset="-122"/>
                <a:cs typeface="Pretendard" pitchFamily="34" charset="-120"/>
              </a:rPr>
              <a:t>정리</a:t>
            </a:r>
            <a:endParaRPr lang="en-US" sz="3200" dirty="0"/>
          </a:p>
        </p:txBody>
      </p:sp>
      <p:sp>
        <p:nvSpPr>
          <p:cNvPr id="3" name="Shape 1"/>
          <p:cNvSpPr/>
          <p:nvPr/>
        </p:nvSpPr>
        <p:spPr>
          <a:xfrm>
            <a:off x="685800" y="1783080"/>
            <a:ext cx="10820095" cy="1325880"/>
          </a:xfrm>
          <a:prstGeom prst="roundRect">
            <a:avLst>
              <a:gd name="adj" fmla="val 8276"/>
            </a:avLst>
          </a:prstGeom>
          <a:solidFill>
            <a:srgbClr val="F8F7F4"/>
          </a:solidFill>
          <a:ln w="12700">
            <a:solidFill>
              <a:srgbClr val="F8F7F4"/>
            </a:solidFill>
            <a:prstDash val="solid"/>
          </a:ln>
        </p:spPr>
      </p:sp>
      <p:sp>
        <p:nvSpPr>
          <p:cNvPr id="4" name="Text 2"/>
          <p:cNvSpPr txBox="1"/>
          <p:nvPr/>
        </p:nvSpPr>
        <p:spPr>
          <a:xfrm>
            <a:off x="1051560" y="178308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01</a:t>
            </a:r>
            <a:endParaRPr lang="ko-KR" sz="4000" dirty="0"/>
          </a:p>
        </p:txBody>
      </p:sp>
      <p:sp>
        <p:nvSpPr>
          <p:cNvPr id="5" name="Text 3"/>
          <p:cNvSpPr txBox="1"/>
          <p:nvPr/>
        </p:nvSpPr>
        <p:spPr>
          <a:xfrm>
            <a:off x="2423160" y="198424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pitchFamily="34" charset="0"/>
                <a:ea typeface="Pretendard" pitchFamily="34" charset="-122"/>
                <a:cs typeface="Pretendard" pitchFamily="34" charset="-120"/>
              </a:rPr>
              <a:t>컨트롤러가 요청을 받고, 세 가지 방식으로 응답</a:t>
            </a:r>
            <a:endParaRPr lang="ko-KR" sz="2400" dirty="0"/>
          </a:p>
        </p:txBody>
      </p:sp>
      <p:sp>
        <p:nvSpPr>
          <p:cNvPr id="6" name="Text 4"/>
          <p:cNvSpPr txBox="1"/>
          <p:nvPr/>
        </p:nvSpPr>
        <p:spPr>
          <a:xfrm>
            <a:off x="2423160" y="253288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pitchFamily="34" charset="0"/>
                <a:ea typeface="Pretendard" pitchFamily="34" charset="-122"/>
                <a:cs typeface="Pretendard" pitchFamily="34" charset="-120"/>
              </a:rPr>
              <a:t>정적 컨텐츠 · MVC 와 템플릿 · API(@ResponseBody, @RestController)</a:t>
            </a:r>
            <a:endParaRPr lang="ko-KR" sz="1700" dirty="0"/>
          </a:p>
        </p:txBody>
      </p:sp>
      <p:sp>
        <p:nvSpPr>
          <p:cNvPr id="7" name="Shape 5"/>
          <p:cNvSpPr/>
          <p:nvPr/>
        </p:nvSpPr>
        <p:spPr>
          <a:xfrm>
            <a:off x="685800" y="3291840"/>
            <a:ext cx="10820095" cy="1325880"/>
          </a:xfrm>
          <a:prstGeom prst="roundRect">
            <a:avLst>
              <a:gd name="adj" fmla="val 8276"/>
            </a:avLst>
          </a:prstGeom>
          <a:solidFill>
            <a:srgbClr val="F8F7F4"/>
          </a:solidFill>
          <a:ln w="12700">
            <a:solidFill>
              <a:srgbClr val="F8F7F4"/>
            </a:solidFill>
            <a:prstDash val="solid"/>
          </a:ln>
        </p:spPr>
      </p:sp>
      <p:sp>
        <p:nvSpPr>
          <p:cNvPr id="8" name="Text 6"/>
          <p:cNvSpPr txBox="1"/>
          <p:nvPr/>
        </p:nvSpPr>
        <p:spPr>
          <a:xfrm>
            <a:off x="1051560" y="329184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02</a:t>
            </a:r>
            <a:endParaRPr lang="ko-KR" sz="4000" dirty="0"/>
          </a:p>
        </p:txBody>
      </p:sp>
      <p:sp>
        <p:nvSpPr>
          <p:cNvPr id="9" name="Text 7"/>
          <p:cNvSpPr txBox="1"/>
          <p:nvPr/>
        </p:nvSpPr>
        <p:spPr>
          <a:xfrm>
            <a:off x="2423160" y="349300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pitchFamily="34" charset="0"/>
                <a:ea typeface="Pretendard" pitchFamily="34" charset="-122"/>
                <a:cs typeface="Pretendard" pitchFamily="34" charset="-120"/>
              </a:rPr>
              <a:t>인터페이스로 역할을 나누고, 생성자로 주입</a:t>
            </a:r>
            <a:endParaRPr lang="ko-KR" sz="2400" dirty="0"/>
          </a:p>
        </p:txBody>
      </p:sp>
      <p:sp>
        <p:nvSpPr>
          <p:cNvPr id="10" name="Text 8"/>
          <p:cNvSpPr txBox="1"/>
          <p:nvPr/>
        </p:nvSpPr>
        <p:spPr>
          <a:xfrm>
            <a:off x="2423160" y="404164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pitchFamily="34" charset="0"/>
                <a:ea typeface="Pretendard" pitchFamily="34" charset="-122"/>
                <a:cs typeface="Pretendard" pitchFamily="34" charset="-120"/>
              </a:rPr>
              <a:t>private final · 생성자 주입 권장 · 컴포넌트 스캔 + @Bean</a:t>
            </a:r>
            <a:endParaRPr lang="ko-KR" sz="1700" dirty="0"/>
          </a:p>
        </p:txBody>
      </p:sp>
      <p:sp>
        <p:nvSpPr>
          <p:cNvPr id="11" name="Shape 9"/>
          <p:cNvSpPr/>
          <p:nvPr/>
        </p:nvSpPr>
        <p:spPr>
          <a:xfrm>
            <a:off x="685800" y="4800600"/>
            <a:ext cx="10820095" cy="1325880"/>
          </a:xfrm>
          <a:prstGeom prst="roundRect">
            <a:avLst>
              <a:gd name="adj" fmla="val 8276"/>
            </a:avLst>
          </a:prstGeom>
          <a:solidFill>
            <a:srgbClr val="F8F7F4"/>
          </a:solidFill>
          <a:ln w="12700">
            <a:solidFill>
              <a:srgbClr val="F8F7F4"/>
            </a:solidFill>
            <a:prstDash val="solid"/>
          </a:ln>
        </p:spPr>
      </p:sp>
      <p:sp>
        <p:nvSpPr>
          <p:cNvPr id="12" name="Text 10"/>
          <p:cNvSpPr txBox="1"/>
          <p:nvPr/>
        </p:nvSpPr>
        <p:spPr>
          <a:xfrm>
            <a:off x="1051560" y="480060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pitchFamily="34" charset="0"/>
                <a:ea typeface="Pretendard" pitchFamily="34" charset="-122"/>
                <a:cs typeface="Pretendard" pitchFamily="34" charset="-120"/>
              </a:rPr>
              <a:t>03</a:t>
            </a:r>
            <a:endParaRPr lang="ko-KR" sz="4000" dirty="0"/>
          </a:p>
        </p:txBody>
      </p:sp>
      <p:sp>
        <p:nvSpPr>
          <p:cNvPr id="13" name="Text 11"/>
          <p:cNvSpPr txBox="1"/>
          <p:nvPr/>
        </p:nvSpPr>
        <p:spPr>
          <a:xfrm>
            <a:off x="2423160" y="500176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pitchFamily="34" charset="0"/>
                <a:ea typeface="Pretendard" pitchFamily="34" charset="-122"/>
                <a:cs typeface="Pretendard" pitchFamily="34" charset="-120"/>
              </a:rPr>
              <a:t>DB 기술은 SQL 중심에서 객체 중심으로</a:t>
            </a:r>
            <a:endParaRPr lang="ko-KR" sz="2400" dirty="0"/>
          </a:p>
        </p:txBody>
      </p:sp>
      <p:sp>
        <p:nvSpPr>
          <p:cNvPr id="14" name="Text 12"/>
          <p:cNvSpPr txBox="1"/>
          <p:nvPr/>
        </p:nvSpPr>
        <p:spPr>
          <a:xfrm>
            <a:off x="2423160" y="555040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pitchFamily="34" charset="0"/>
                <a:ea typeface="Pretendard" pitchFamily="34" charset="-122"/>
                <a:cs typeface="Pretendard" pitchFamily="34" charset="-120"/>
              </a:rPr>
              <a:t>순수 JDBC → JdbcTemplate·MyBatis → JPA → 스프링 데이터 JPA</a:t>
            </a:r>
            <a:endParaRPr lang="ko-KR" sz="17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1 / 3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Consolas" pitchFamily="34" charset="0"/>
                <a:ea typeface="Pretendard" pitchFamily="34" charset="-122"/>
                <a:cs typeface="Consolas" pitchFamily="34" charset="-120"/>
              </a:rPr>
              <a:t>@ResponseBody</a:t>
            </a:r>
            <a:r>
              <a:rPr lang="ko-KR" altLang="en-US" sz="3400" b="1" dirty="0">
                <a:solidFill>
                  <a:srgbClr val="23262F"/>
                </a:solidFill>
                <a:latin typeface="Pretendard" pitchFamily="34" charset="0"/>
                <a:ea typeface="Pretendard" pitchFamily="34" charset="-122"/>
                <a:cs typeface="Pretendard" pitchFamily="34" charset="-120"/>
              </a:rPr>
              <a:t> 를 붙이면 viewResolver 대신 </a:t>
            </a:r>
            <a:r>
              <a:rPr lang="ko-KR" altLang="en-US" sz="3400" b="1" dirty="0">
                <a:solidFill>
                  <a:srgbClr val="0057FF"/>
                </a:solidFill>
                <a:latin typeface="Pretendard" pitchFamily="34" charset="0"/>
                <a:ea typeface="Pretendard" pitchFamily="34" charset="-122"/>
                <a:cs typeface="Pretendard" pitchFamily="34" charset="-120"/>
              </a:rPr>
              <a:t>HttpMessageConverter</a:t>
            </a:r>
            <a:r>
              <a:rPr lang="ko-KR" altLang="en-US" sz="3400" b="1" dirty="0">
                <a:solidFill>
                  <a:srgbClr val="23262F"/>
                </a:solidFill>
                <a:latin typeface="Pretendard" pitchFamily="34" charset="0"/>
                <a:ea typeface="Pretendard" pitchFamily="34" charset="-122"/>
                <a:cs typeface="Pretendard" pitchFamily="34" charset="-120"/>
              </a:rPr>
              <a:t> 가 동작한다.</a:t>
            </a:r>
            <a:endParaRPr lang="en-US" sz="3400" dirty="0"/>
          </a:p>
        </p:txBody>
      </p:sp>
      <p:sp>
        <p:nvSpPr>
          <p:cNvPr id="4" name="Shape 2"/>
          <p:cNvSpPr/>
          <p:nvPr/>
        </p:nvSpPr>
        <p:spPr>
          <a:xfrm>
            <a:off x="685800" y="2240280"/>
            <a:ext cx="5272888" cy="2103120"/>
          </a:xfrm>
          <a:prstGeom prst="roundRect">
            <a:avLst>
              <a:gd name="adj" fmla="val 5217"/>
            </a:avLst>
          </a:prstGeom>
          <a:solidFill>
            <a:srgbClr val="F8F7F4"/>
          </a:solidFill>
          <a:ln w="12700">
            <a:solidFill>
              <a:srgbClr val="F8F7F4"/>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pitchFamily="34" charset="0"/>
                <a:ea typeface="Pretendard" pitchFamily="34" charset="-122"/>
                <a:cs typeface="Pretendard" pitchFamily="34" charset="-120"/>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F8F7F4"/>
          </a:solidFill>
          <a:ln w="12700">
            <a:solidFill>
              <a:srgbClr val="F8F7F4"/>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pitchFamily="34" charset="0"/>
                <a:ea typeface="Pretendard" pitchFamily="34" charset="-122"/>
                <a:cs typeface="Pretendard" pitchFamily="34" charset="-120"/>
              </a:rPr>
              <a:t>X</a:t>
            </a:r>
            <a:endParaRPr lang="ko-KR" sz="8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1 / 3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Consolas" pitchFamily="34" charset="0"/>
                <a:ea typeface="Pretendard" pitchFamily="34" charset="-122"/>
                <a:cs typeface="Consolas" pitchFamily="34" charset="-120"/>
              </a:rPr>
              <a:t>@ResponseBody</a:t>
            </a:r>
            <a:r>
              <a:rPr lang="ko-KR" altLang="en-US" sz="3400" b="1" dirty="0">
                <a:solidFill>
                  <a:srgbClr val="23262F"/>
                </a:solidFill>
                <a:latin typeface="Pretendard" pitchFamily="34" charset="0"/>
                <a:ea typeface="Pretendard" pitchFamily="34" charset="-122"/>
                <a:cs typeface="Pretendard" pitchFamily="34" charset="-120"/>
              </a:rPr>
              <a:t> 를 붙이면 viewResolver 대신 </a:t>
            </a:r>
            <a:r>
              <a:rPr lang="ko-KR" altLang="en-US" sz="3400" b="1" dirty="0">
                <a:solidFill>
                  <a:srgbClr val="0057FF"/>
                </a:solidFill>
                <a:latin typeface="Pretendard" pitchFamily="34" charset="0"/>
                <a:ea typeface="Pretendard" pitchFamily="34" charset="-122"/>
                <a:cs typeface="Pretendard" pitchFamily="34" charset="-120"/>
              </a:rPr>
              <a:t>HttpMessageConverter</a:t>
            </a:r>
            <a:r>
              <a:rPr lang="ko-KR" altLang="en-US" sz="3400" b="1" dirty="0">
                <a:solidFill>
                  <a:srgbClr val="23262F"/>
                </a:solidFill>
                <a:latin typeface="Pretendard" pitchFamily="34" charset="0"/>
                <a:ea typeface="Pretendard" pitchFamily="34" charset="-122"/>
                <a:cs typeface="Pretendard" pitchFamily="34" charset="-120"/>
              </a:rPr>
              <a:t> 가 동작한다.</a:t>
            </a:r>
            <a:endParaRPr lang="en-US" sz="3400" dirty="0"/>
          </a:p>
        </p:txBody>
      </p:sp>
      <p:sp>
        <p:nvSpPr>
          <p:cNvPr id="4" name="Shape 2"/>
          <p:cNvSpPr/>
          <p:nvPr/>
        </p:nvSpPr>
        <p:spPr>
          <a:xfrm>
            <a:off x="685800" y="2240280"/>
            <a:ext cx="5272888" cy="2103120"/>
          </a:xfrm>
          <a:prstGeom prst="roundRect">
            <a:avLst>
              <a:gd name="adj" fmla="val 5217"/>
            </a:avLst>
          </a:prstGeom>
          <a:solidFill>
            <a:srgbClr val="0057FF"/>
          </a:solidFill>
          <a:ln w="12700">
            <a:solidFill>
              <a:srgbClr val="0057FF"/>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FFFFFF"/>
                </a:solidFill>
                <a:latin typeface="Pretendard" pitchFamily="34" charset="0"/>
                <a:ea typeface="Pretendard" pitchFamily="34" charset="-122"/>
                <a:cs typeface="Pretendard" pitchFamily="34" charset="-120"/>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F8F7F4"/>
          </a:solidFill>
          <a:ln w="12700">
            <a:solidFill>
              <a:srgbClr val="F8F7F4"/>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6B7280"/>
                </a:solidFill>
                <a:latin typeface="Pretendard" pitchFamily="34" charset="0"/>
                <a:ea typeface="Pretendard" pitchFamily="34" charset="-122"/>
                <a:cs typeface="Pretendard" pitchFamily="34" charset="-120"/>
              </a:rPr>
              <a:t>X</a:t>
            </a:r>
            <a:endParaRPr lang="ko-KR" sz="8000" dirty="0"/>
          </a:p>
        </p:txBody>
      </p:sp>
      <p:sp>
        <p:nvSpPr>
          <p:cNvPr id="8" name="Shape 6"/>
          <p:cNvSpPr/>
          <p:nvPr/>
        </p:nvSpPr>
        <p:spPr>
          <a:xfrm>
            <a:off x="685800" y="4617720"/>
            <a:ext cx="10820095" cy="1314450"/>
          </a:xfrm>
          <a:prstGeom prst="roundRect">
            <a:avLst>
              <a:gd name="adj" fmla="val 8348"/>
            </a:avLst>
          </a:prstGeom>
          <a:solidFill>
            <a:srgbClr val="F8F7F4"/>
          </a:solidFill>
          <a:ln w="12700">
            <a:solidFill>
              <a:srgbClr val="F8F7F4"/>
            </a:solidFill>
            <a:prstDash val="solid"/>
          </a:ln>
        </p:spPr>
      </p:sp>
      <p:sp>
        <p:nvSpPr>
          <p:cNvPr id="9" name="Text 7"/>
          <p:cNvSpPr txBox="1"/>
          <p:nvPr/>
        </p:nvSpPr>
        <p:spPr>
          <a:xfrm>
            <a:off x="1051560" y="4873752"/>
            <a:ext cx="10088575" cy="274320"/>
          </a:xfrm>
          <a:prstGeom prst="rect">
            <a:avLst/>
          </a:prstGeom>
          <a:noFill/>
          <a:ln/>
        </p:spPr>
        <p:txBody>
          <a:bodyPr wrap="square" lIns="0" tIns="0" rIns="0" bIns="0" rtlCol="0" anchor="t"/>
          <a:lstStyle/>
          <a:p>
            <a:pPr indent="0" marL="0">
              <a:lnSpc>
                <a:spcPct val="110000"/>
              </a:lnSpc>
              <a:buNone/>
            </a:pPr>
            <a:r>
              <a:rPr lang="ko-KR" altLang="en-US" sz="1400" b="1" dirty="0">
                <a:solidFill>
                  <a:srgbClr val="6B7280"/>
                </a:solidFill>
                <a:latin typeface="Pretendard" pitchFamily="34" charset="0"/>
                <a:ea typeface="Pretendard" pitchFamily="34" charset="-122"/>
                <a:cs typeface="Pretendard" pitchFamily="34" charset="-120"/>
              </a:rPr>
              <a:t>이유</a:t>
            </a:r>
            <a:endParaRPr lang="ko-KR" sz="1400" dirty="0"/>
          </a:p>
        </p:txBody>
      </p:sp>
      <p:sp>
        <p:nvSpPr>
          <p:cNvPr id="10" name="Text 8"/>
          <p:cNvSpPr txBox="1"/>
          <p:nvPr/>
        </p:nvSpPr>
        <p:spPr>
          <a:xfrm>
            <a:off x="1051560" y="5276088"/>
            <a:ext cx="10088575" cy="491490"/>
          </a:xfrm>
          <a:prstGeom prst="rect">
            <a:avLst/>
          </a:prstGeom>
          <a:noFill/>
          <a:ln/>
        </p:spPr>
        <p:txBody>
          <a:bodyPr wrap="square" lIns="0" tIns="0" rIns="0" bIns="0" rtlCol="0" anchor="t"/>
          <a:lstStyle/>
          <a:p>
            <a:pPr indent="0" marL="0">
              <a:lnSpc>
                <a:spcPct val="110000"/>
              </a:lnSpc>
              <a:buNone/>
            </a:pPr>
            <a:r>
              <a:rPr lang="ko-KR" altLang="en-US" sz="1800" dirty="0">
                <a:solidFill>
                  <a:srgbClr val="23262F"/>
                </a:solidFill>
                <a:latin typeface="Pretendard" pitchFamily="34" charset="0"/>
                <a:ea typeface="Pretendard" pitchFamily="34" charset="-122"/>
                <a:cs typeface="Pretendard" pitchFamily="34" charset="-120"/>
              </a:rPr>
              <a:t>뷰를 찾지 않고 HTTP 바디에 직접 쓴다. 문자는 문자 변환기, 객체는 JSON 변환기가 처리한다.</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2 / 3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pitchFamily="34" charset="0"/>
                <a:ea typeface="Pretendard" pitchFamily="34" charset="-122"/>
                <a:cs typeface="Pretendard" pitchFamily="34" charset="-120"/>
              </a:rPr>
              <a:t>스프링 빈은 기본적으로 </a:t>
            </a:r>
            <a:r>
              <a:rPr lang="ko-KR" altLang="en-US" sz="3400" b="1" dirty="0">
                <a:solidFill>
                  <a:srgbClr val="0057FF"/>
                </a:solidFill>
                <a:latin typeface="Pretendard" pitchFamily="34" charset="0"/>
                <a:ea typeface="Pretendard" pitchFamily="34" charset="-122"/>
                <a:cs typeface="Pretendard" pitchFamily="34" charset="-120"/>
              </a:rPr>
              <a:t>요청할 때마다</a:t>
            </a:r>
            <a:r>
              <a:rPr lang="ko-KR" altLang="en-US" sz="3400" b="1" dirty="0">
                <a:solidFill>
                  <a:srgbClr val="23262F"/>
                </a:solidFill>
                <a:latin typeface="Pretendard" pitchFamily="34" charset="0"/>
                <a:ea typeface="Pretendard" pitchFamily="34" charset="-122"/>
                <a:cs typeface="Pretendard" pitchFamily="34" charset="-120"/>
              </a:rPr>
              <a:t> 새 객체가 만들어진다.</a:t>
            </a:r>
            <a:endParaRPr lang="en-US" sz="3400" dirty="0"/>
          </a:p>
        </p:txBody>
      </p:sp>
      <p:sp>
        <p:nvSpPr>
          <p:cNvPr id="4" name="Shape 2"/>
          <p:cNvSpPr/>
          <p:nvPr/>
        </p:nvSpPr>
        <p:spPr>
          <a:xfrm>
            <a:off x="685800" y="2240280"/>
            <a:ext cx="5272888" cy="2103120"/>
          </a:xfrm>
          <a:prstGeom prst="roundRect">
            <a:avLst>
              <a:gd name="adj" fmla="val 5217"/>
            </a:avLst>
          </a:prstGeom>
          <a:solidFill>
            <a:srgbClr val="F8F7F4"/>
          </a:solidFill>
          <a:ln w="12700">
            <a:solidFill>
              <a:srgbClr val="F8F7F4"/>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pitchFamily="34" charset="0"/>
                <a:ea typeface="Pretendard" pitchFamily="34" charset="-122"/>
                <a:cs typeface="Pretendard" pitchFamily="34" charset="-120"/>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F8F7F4"/>
          </a:solidFill>
          <a:ln w="12700">
            <a:solidFill>
              <a:srgbClr val="F8F7F4"/>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pitchFamily="34" charset="0"/>
                <a:ea typeface="Pretendard" pitchFamily="34" charset="-122"/>
                <a:cs typeface="Pretendard" pitchFamily="34" charset="-120"/>
              </a:rPr>
              <a:t>X</a:t>
            </a:r>
            <a:endParaRPr lang="ko-KR" sz="8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2 / 3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pitchFamily="34" charset="0"/>
                <a:ea typeface="Pretendard" pitchFamily="34" charset="-122"/>
                <a:cs typeface="Pretendard" pitchFamily="34" charset="-120"/>
              </a:rPr>
              <a:t>스프링 빈은 기본적으로 </a:t>
            </a:r>
            <a:r>
              <a:rPr lang="ko-KR" altLang="en-US" sz="3400" b="1" dirty="0">
                <a:solidFill>
                  <a:srgbClr val="0057FF"/>
                </a:solidFill>
                <a:latin typeface="Pretendard" pitchFamily="34" charset="0"/>
                <a:ea typeface="Pretendard" pitchFamily="34" charset="-122"/>
                <a:cs typeface="Pretendard" pitchFamily="34" charset="-120"/>
              </a:rPr>
              <a:t>요청할 때마다</a:t>
            </a:r>
            <a:r>
              <a:rPr lang="ko-KR" altLang="en-US" sz="3400" b="1" dirty="0">
                <a:solidFill>
                  <a:srgbClr val="23262F"/>
                </a:solidFill>
                <a:latin typeface="Pretendard" pitchFamily="34" charset="0"/>
                <a:ea typeface="Pretendard" pitchFamily="34" charset="-122"/>
                <a:cs typeface="Pretendard" pitchFamily="34" charset="-120"/>
              </a:rPr>
              <a:t> 새 객체가 만들어진다.</a:t>
            </a:r>
            <a:endParaRPr lang="en-US" sz="3400" dirty="0"/>
          </a:p>
        </p:txBody>
      </p:sp>
      <p:sp>
        <p:nvSpPr>
          <p:cNvPr id="4" name="Shape 2"/>
          <p:cNvSpPr/>
          <p:nvPr/>
        </p:nvSpPr>
        <p:spPr>
          <a:xfrm>
            <a:off x="685800" y="2240280"/>
            <a:ext cx="5272888" cy="2103120"/>
          </a:xfrm>
          <a:prstGeom prst="roundRect">
            <a:avLst>
              <a:gd name="adj" fmla="val 5217"/>
            </a:avLst>
          </a:prstGeom>
          <a:solidFill>
            <a:srgbClr val="F8F7F4"/>
          </a:solidFill>
          <a:ln w="12700">
            <a:solidFill>
              <a:srgbClr val="F8F7F4"/>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6B7280"/>
                </a:solidFill>
                <a:latin typeface="Pretendard" pitchFamily="34" charset="0"/>
                <a:ea typeface="Pretendard" pitchFamily="34" charset="-122"/>
                <a:cs typeface="Pretendard" pitchFamily="34" charset="-120"/>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0057FF"/>
          </a:solidFill>
          <a:ln w="12700">
            <a:solidFill>
              <a:srgbClr val="0057FF"/>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FFFFFF"/>
                </a:solidFill>
                <a:latin typeface="Pretendard" pitchFamily="34" charset="0"/>
                <a:ea typeface="Pretendard" pitchFamily="34" charset="-122"/>
                <a:cs typeface="Pretendard" pitchFamily="34" charset="-120"/>
              </a:rPr>
              <a:t>X</a:t>
            </a:r>
            <a:endParaRPr lang="ko-KR" sz="8000" dirty="0"/>
          </a:p>
        </p:txBody>
      </p:sp>
      <p:sp>
        <p:nvSpPr>
          <p:cNvPr id="8" name="Shape 6"/>
          <p:cNvSpPr/>
          <p:nvPr/>
        </p:nvSpPr>
        <p:spPr>
          <a:xfrm>
            <a:off x="685800" y="4617720"/>
            <a:ext cx="10820095" cy="1314450"/>
          </a:xfrm>
          <a:prstGeom prst="roundRect">
            <a:avLst>
              <a:gd name="adj" fmla="val 8348"/>
            </a:avLst>
          </a:prstGeom>
          <a:solidFill>
            <a:srgbClr val="F8F7F4"/>
          </a:solidFill>
          <a:ln w="12700">
            <a:solidFill>
              <a:srgbClr val="F8F7F4"/>
            </a:solidFill>
            <a:prstDash val="solid"/>
          </a:ln>
        </p:spPr>
      </p:sp>
      <p:sp>
        <p:nvSpPr>
          <p:cNvPr id="9" name="Text 7"/>
          <p:cNvSpPr txBox="1"/>
          <p:nvPr/>
        </p:nvSpPr>
        <p:spPr>
          <a:xfrm>
            <a:off x="1051560" y="4873752"/>
            <a:ext cx="10088575" cy="274320"/>
          </a:xfrm>
          <a:prstGeom prst="rect">
            <a:avLst/>
          </a:prstGeom>
          <a:noFill/>
          <a:ln/>
        </p:spPr>
        <p:txBody>
          <a:bodyPr wrap="square" lIns="0" tIns="0" rIns="0" bIns="0" rtlCol="0" anchor="t"/>
          <a:lstStyle/>
          <a:p>
            <a:pPr indent="0" marL="0">
              <a:lnSpc>
                <a:spcPct val="110000"/>
              </a:lnSpc>
              <a:buNone/>
            </a:pPr>
            <a:r>
              <a:rPr lang="ko-KR" altLang="en-US" sz="1400" b="1" dirty="0">
                <a:solidFill>
                  <a:srgbClr val="6B7280"/>
                </a:solidFill>
                <a:latin typeface="Pretendard" pitchFamily="34" charset="0"/>
                <a:ea typeface="Pretendard" pitchFamily="34" charset="-122"/>
                <a:cs typeface="Pretendard" pitchFamily="34" charset="-120"/>
              </a:rPr>
              <a:t>이유</a:t>
            </a:r>
            <a:endParaRPr lang="ko-KR" sz="1400" dirty="0"/>
          </a:p>
        </p:txBody>
      </p:sp>
      <p:sp>
        <p:nvSpPr>
          <p:cNvPr id="10" name="Text 8"/>
          <p:cNvSpPr txBox="1"/>
          <p:nvPr/>
        </p:nvSpPr>
        <p:spPr>
          <a:xfrm>
            <a:off x="1051560" y="5276088"/>
            <a:ext cx="10088575" cy="491490"/>
          </a:xfrm>
          <a:prstGeom prst="rect">
            <a:avLst/>
          </a:prstGeom>
          <a:noFill/>
          <a:ln/>
        </p:spPr>
        <p:txBody>
          <a:bodyPr wrap="square" lIns="0" tIns="0" rIns="0" bIns="0" rtlCol="0" anchor="t"/>
          <a:lstStyle/>
          <a:p>
            <a:pPr indent="0" marL="0">
              <a:lnSpc>
                <a:spcPct val="110000"/>
              </a:lnSpc>
              <a:buNone/>
            </a:pPr>
            <a:r>
              <a:rPr lang="ko-KR" altLang="en-US" sz="1800" dirty="0">
                <a:solidFill>
                  <a:srgbClr val="23262F"/>
                </a:solidFill>
                <a:latin typeface="Pretendard" pitchFamily="34" charset="0"/>
                <a:ea typeface="Pretendard" pitchFamily="34" charset="-122"/>
                <a:cs typeface="Pretendard" pitchFamily="34" charset="-120"/>
              </a:rPr>
              <a:t>스프링 빈은 기본이 </a:t>
            </a:r>
            <a:r>
              <a:rPr lang="ko-KR" altLang="en-US" sz="1800" b="1" dirty="0">
                <a:solidFill>
                  <a:srgbClr val="0057FF"/>
                </a:solidFill>
                <a:latin typeface="Pretendard" pitchFamily="34" charset="0"/>
                <a:ea typeface="Pretendard" pitchFamily="34" charset="-122"/>
                <a:cs typeface="Pretendard" pitchFamily="34" charset="-120"/>
              </a:rPr>
              <a:t>싱글톤</a:t>
            </a:r>
            <a:r>
              <a:rPr lang="ko-KR" altLang="en-US" sz="1800" dirty="0">
                <a:solidFill>
                  <a:srgbClr val="23262F"/>
                </a:solidFill>
                <a:latin typeface="Pretendard" pitchFamily="34" charset="0"/>
                <a:ea typeface="Pretendard" pitchFamily="34" charset="-122"/>
                <a:cs typeface="Pretendard" pitchFamily="34" charset="-120"/>
              </a:rPr>
              <a:t>이다. 하나만 만들어 등록하고, 모든 요청이 같은 인스턴스를 공유한다.</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3 / 3   ·   단답</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pitchFamily="34" charset="0"/>
                <a:ea typeface="Pretendard" pitchFamily="34" charset="-122"/>
                <a:cs typeface="Pretendard" pitchFamily="34" charset="-120"/>
              </a:rPr>
              <a:t>직접 </a:t>
            </a:r>
            <a:r>
              <a:rPr lang="ko-KR" altLang="en-US" sz="3400" b="1" dirty="0">
                <a:solidFill>
                  <a:srgbClr val="23262F"/>
                </a:solidFill>
                <a:latin typeface="Consolas" pitchFamily="34" charset="0"/>
                <a:ea typeface="Pretendard" pitchFamily="34" charset="-122"/>
                <a:cs typeface="Consolas" pitchFamily="34" charset="-120"/>
              </a:rPr>
              <a:t>new</a:t>
            </a:r>
            <a:r>
              <a:rPr lang="ko-KR" altLang="en-US" sz="3400" b="1" dirty="0">
                <a:solidFill>
                  <a:srgbClr val="23262F"/>
                </a:solidFill>
                <a:latin typeface="Pretendard" pitchFamily="34" charset="0"/>
                <a:ea typeface="Pretendard" pitchFamily="34" charset="-122"/>
                <a:cs typeface="Pretendard" pitchFamily="34" charset="-120"/>
              </a:rPr>
              <a:t> 로 만든 객체에서 </a:t>
            </a:r>
            <a:r>
              <a:rPr lang="ko-KR" altLang="en-US" sz="3400" b="1" dirty="0">
                <a:solidFill>
                  <a:srgbClr val="23262F"/>
                </a:solidFill>
                <a:latin typeface="Consolas" pitchFamily="34" charset="0"/>
                <a:ea typeface="Pretendard" pitchFamily="34" charset="-122"/>
                <a:cs typeface="Consolas" pitchFamily="34" charset="-120"/>
              </a:rPr>
              <a:t>memberService</a:t>
            </a:r>
            <a:r>
              <a:rPr lang="ko-KR" altLang="en-US" sz="3400" b="1" dirty="0">
                <a:solidFill>
                  <a:srgbClr val="23262F"/>
                </a:solidFill>
                <a:latin typeface="Pretendard" pitchFamily="34" charset="0"/>
                <a:ea typeface="Pretendard" pitchFamily="34" charset="-122"/>
                <a:cs typeface="Pretendard" pitchFamily="34" charset="-120"/>
              </a:rPr>
              <a:t> 의 값은?</a:t>
            </a:r>
            <a:endParaRPr lang="en-US" sz="3400" dirty="0"/>
          </a:p>
        </p:txBody>
      </p:sp>
      <p:sp>
        <p:nvSpPr>
          <p:cNvPr id="4" name="Shape 2"/>
          <p:cNvSpPr/>
          <p:nvPr/>
        </p:nvSpPr>
        <p:spPr>
          <a:xfrm>
            <a:off x="685800" y="2240280"/>
            <a:ext cx="6309360" cy="2926080"/>
          </a:xfrm>
          <a:prstGeom prst="roundRect">
            <a:avLst>
              <a:gd name="adj" fmla="val 3750"/>
            </a:avLst>
          </a:prstGeom>
          <a:solidFill>
            <a:srgbClr val="23262F"/>
          </a:solidFill>
          <a:ln w="12700">
            <a:solidFill>
              <a:srgbClr val="23262F"/>
            </a:solidFill>
            <a:prstDash val="solid"/>
          </a:ln>
        </p:spPr>
      </p:sp>
      <p:sp>
        <p:nvSpPr>
          <p:cNvPr id="5" name="Text 3"/>
          <p:cNvSpPr txBox="1"/>
          <p:nvPr/>
        </p:nvSpPr>
        <p:spPr>
          <a:xfrm>
            <a:off x="868680" y="2423160"/>
            <a:ext cx="5943600" cy="2560320"/>
          </a:xfrm>
          <a:prstGeom prst="rect">
            <a:avLst/>
          </a:prstGeom>
          <a:noFill/>
          <a:ln/>
        </p:spPr>
        <p:txBody>
          <a:bodyPr wrap="square" lIns="0" tIns="0" rIns="0" bIns="0" rtlCol="0" anchor="t"/>
          <a:lstStyle/>
          <a:p>
            <a:pPr indent="0" marL="0">
              <a:lnSpc>
                <a:spcPct val="120000"/>
              </a:lnSpc>
              <a:buNone/>
            </a:pPr>
            <a:r>
              <a:rPr lang="en-US" sz="1800" dirty="0">
                <a:solidFill>
                  <a:srgbClr val="CC7832"/>
                </a:solidFill>
                <a:latin typeface="Consolas" pitchFamily="34" charset="0"/>
                <a:ea typeface="Pretendard" pitchFamily="34" charset="-122"/>
                <a:cs typeface="Consolas" pitchFamily="34" charset="-120"/>
              </a:rPr>
              <a:t>public</a:t>
            </a: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CC7832"/>
                </a:solidFill>
                <a:latin typeface="Consolas" pitchFamily="34" charset="0"/>
                <a:ea typeface="Pretendard" pitchFamily="34" charset="-122"/>
                <a:cs typeface="Consolas" pitchFamily="34" charset="-120"/>
              </a:rPr>
              <a:t>class</a:t>
            </a:r>
            <a:r>
              <a:rPr lang="en-US" sz="1800" dirty="0">
                <a:solidFill>
                  <a:srgbClr val="A9B7C6"/>
                </a:solidFill>
                <a:latin typeface="Consolas" pitchFamily="34" charset="0"/>
                <a:ea typeface="Pretendard" pitchFamily="34" charset="-122"/>
                <a:cs typeface="Consolas" pitchFamily="34" charset="-120"/>
              </a:rPr>
              <a:t> OrderService {   </a:t>
            </a:r>
            <a:r>
              <a:rPr lang="en-US" sz="1800" dirty="0">
                <a:solidFill>
                  <a:srgbClr val="808080"/>
                </a:solidFill>
                <a:latin typeface="Consolas" pitchFamily="34" charset="0"/>
                <a:ea typeface="Pretendard" pitchFamily="34" charset="-122"/>
                <a:cs typeface="Consolas" pitchFamily="34" charset="-120"/>
              </a:rPr>
              <a:t>// @Service 없음</a:t>
            </a:r>
            <a:endParaRPr lang="en-US" sz="1800" dirty="0"/>
          </a:p>
          <a:p>
            <a:pPr indent="0" marL="0">
              <a:lnSpc>
                <a:spcPct val="120000"/>
              </a:lnSpc>
              <a:buNone/>
            </a:pP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BBB529"/>
                </a:solidFill>
                <a:latin typeface="Consolas" pitchFamily="34" charset="0"/>
                <a:ea typeface="Pretendard" pitchFamily="34" charset="-122"/>
                <a:cs typeface="Consolas" pitchFamily="34" charset="-120"/>
              </a:rPr>
              <a:t>@Autowired</a:t>
            </a: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CC7832"/>
                </a:solidFill>
                <a:latin typeface="Consolas" pitchFamily="34" charset="0"/>
                <a:ea typeface="Pretendard" pitchFamily="34" charset="-122"/>
                <a:cs typeface="Consolas" pitchFamily="34" charset="-120"/>
              </a:rPr>
              <a:t>private</a:t>
            </a:r>
            <a:r>
              <a:rPr lang="en-US" sz="1800" dirty="0">
                <a:solidFill>
                  <a:srgbClr val="A9B7C6"/>
                </a:solidFill>
                <a:latin typeface="Consolas" pitchFamily="34" charset="0"/>
                <a:ea typeface="Pretendard" pitchFamily="34" charset="-122"/>
                <a:cs typeface="Consolas" pitchFamily="34" charset="-120"/>
              </a:rPr>
              <a:t> MemberService memberService;</a:t>
            </a: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a:t>
            </a:r>
            <a:endParaRPr lang="en-US" sz="1800" dirty="0"/>
          </a:p>
          <a:p>
            <a:pPr indent="0" marL="0">
              <a:lnSpc>
                <a:spcPct val="120000"/>
              </a:lnSpc>
              <a:buNone/>
            </a:pP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OrderService orderService = </a:t>
            </a:r>
            <a:r>
              <a:rPr lang="en-US" sz="1800" dirty="0">
                <a:solidFill>
                  <a:srgbClr val="CC7832"/>
                </a:solidFill>
                <a:latin typeface="Consolas" pitchFamily="34" charset="0"/>
                <a:ea typeface="Pretendard" pitchFamily="34" charset="-122"/>
                <a:cs typeface="Consolas" pitchFamily="34" charset="-120"/>
              </a:rPr>
              <a:t>new</a:t>
            </a:r>
            <a:r>
              <a:rPr lang="en-US" sz="1800" dirty="0">
                <a:solidFill>
                  <a:srgbClr val="A9B7C6"/>
                </a:solidFill>
                <a:latin typeface="Consolas" pitchFamily="34" charset="0"/>
                <a:ea typeface="Pretendard" pitchFamily="34" charset="-122"/>
                <a:cs typeface="Consolas" pitchFamily="34" charset="-120"/>
              </a:rPr>
              <a:t> OrderService();</a:t>
            </a:r>
            <a:endParaRPr lang="en-US" sz="1800" dirty="0"/>
          </a:p>
          <a:p>
            <a:pPr indent="0" marL="0">
              <a:lnSpc>
                <a:spcPct val="120000"/>
              </a:lnSpc>
              <a:buNone/>
            </a:pPr>
            <a:r>
              <a:rPr lang="en-US" sz="1800" dirty="0">
                <a:solidFill>
                  <a:srgbClr val="808080"/>
                </a:solidFill>
                <a:latin typeface="Consolas" pitchFamily="34" charset="0"/>
                <a:ea typeface="Pretendard" pitchFamily="34" charset="-122"/>
                <a:cs typeface="Consolas" pitchFamily="34" charset="-120"/>
              </a:rPr>
              <a:t>// orderService 안의 memberService 는?</a:t>
            </a:r>
            <a:endParaRPr lang="en-US"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pitchFamily="34" charset="0"/>
                <a:ea typeface="Pretendard" pitchFamily="34" charset="-122"/>
                <a:cs typeface="Pretendard" pitchFamily="34" charset="-120"/>
              </a:rPr>
              <a:t>퀴즈 3 / 3   ·   단답</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pitchFamily="34" charset="0"/>
                <a:ea typeface="Pretendard" pitchFamily="34" charset="-122"/>
                <a:cs typeface="Pretendard" pitchFamily="34" charset="-120"/>
              </a:rPr>
              <a:t>직접 </a:t>
            </a:r>
            <a:r>
              <a:rPr lang="ko-KR" altLang="en-US" sz="3400" b="1" dirty="0">
                <a:solidFill>
                  <a:srgbClr val="23262F"/>
                </a:solidFill>
                <a:latin typeface="Consolas" pitchFamily="34" charset="0"/>
                <a:ea typeface="Pretendard" pitchFamily="34" charset="-122"/>
                <a:cs typeface="Consolas" pitchFamily="34" charset="-120"/>
              </a:rPr>
              <a:t>new</a:t>
            </a:r>
            <a:r>
              <a:rPr lang="ko-KR" altLang="en-US" sz="3400" b="1" dirty="0">
                <a:solidFill>
                  <a:srgbClr val="23262F"/>
                </a:solidFill>
                <a:latin typeface="Pretendard" pitchFamily="34" charset="0"/>
                <a:ea typeface="Pretendard" pitchFamily="34" charset="-122"/>
                <a:cs typeface="Pretendard" pitchFamily="34" charset="-120"/>
              </a:rPr>
              <a:t> 로 만든 객체에서 </a:t>
            </a:r>
            <a:r>
              <a:rPr lang="ko-KR" altLang="en-US" sz="3400" b="1" dirty="0">
                <a:solidFill>
                  <a:srgbClr val="23262F"/>
                </a:solidFill>
                <a:latin typeface="Consolas" pitchFamily="34" charset="0"/>
                <a:ea typeface="Pretendard" pitchFamily="34" charset="-122"/>
                <a:cs typeface="Consolas" pitchFamily="34" charset="-120"/>
              </a:rPr>
              <a:t>memberService</a:t>
            </a:r>
            <a:r>
              <a:rPr lang="ko-KR" altLang="en-US" sz="3400" b="1" dirty="0">
                <a:solidFill>
                  <a:srgbClr val="23262F"/>
                </a:solidFill>
                <a:latin typeface="Pretendard" pitchFamily="34" charset="0"/>
                <a:ea typeface="Pretendard" pitchFamily="34" charset="-122"/>
                <a:cs typeface="Pretendard" pitchFamily="34" charset="-120"/>
              </a:rPr>
              <a:t> 의 값은?</a:t>
            </a:r>
            <a:endParaRPr lang="en-US" sz="3400" dirty="0"/>
          </a:p>
        </p:txBody>
      </p:sp>
      <p:sp>
        <p:nvSpPr>
          <p:cNvPr id="4" name="Shape 2"/>
          <p:cNvSpPr/>
          <p:nvPr/>
        </p:nvSpPr>
        <p:spPr>
          <a:xfrm>
            <a:off x="685800" y="2240280"/>
            <a:ext cx="6309360" cy="2926080"/>
          </a:xfrm>
          <a:prstGeom prst="roundRect">
            <a:avLst>
              <a:gd name="adj" fmla="val 3750"/>
            </a:avLst>
          </a:prstGeom>
          <a:solidFill>
            <a:srgbClr val="23262F"/>
          </a:solidFill>
          <a:ln w="12700">
            <a:solidFill>
              <a:srgbClr val="23262F"/>
            </a:solidFill>
            <a:prstDash val="solid"/>
          </a:ln>
        </p:spPr>
      </p:sp>
      <p:sp>
        <p:nvSpPr>
          <p:cNvPr id="5" name="Text 3"/>
          <p:cNvSpPr txBox="1"/>
          <p:nvPr/>
        </p:nvSpPr>
        <p:spPr>
          <a:xfrm>
            <a:off x="868680" y="2423160"/>
            <a:ext cx="5943600" cy="2560320"/>
          </a:xfrm>
          <a:prstGeom prst="rect">
            <a:avLst/>
          </a:prstGeom>
          <a:noFill/>
          <a:ln/>
        </p:spPr>
        <p:txBody>
          <a:bodyPr wrap="square" lIns="0" tIns="0" rIns="0" bIns="0" rtlCol="0" anchor="t"/>
          <a:lstStyle/>
          <a:p>
            <a:pPr indent="0" marL="0">
              <a:lnSpc>
                <a:spcPct val="120000"/>
              </a:lnSpc>
              <a:buNone/>
            </a:pPr>
            <a:r>
              <a:rPr lang="en-US" sz="1800" dirty="0">
                <a:solidFill>
                  <a:srgbClr val="CC7832"/>
                </a:solidFill>
                <a:latin typeface="Consolas" pitchFamily="34" charset="0"/>
                <a:ea typeface="Pretendard" pitchFamily="34" charset="-122"/>
                <a:cs typeface="Consolas" pitchFamily="34" charset="-120"/>
              </a:rPr>
              <a:t>public</a:t>
            </a: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CC7832"/>
                </a:solidFill>
                <a:latin typeface="Consolas" pitchFamily="34" charset="0"/>
                <a:ea typeface="Pretendard" pitchFamily="34" charset="-122"/>
                <a:cs typeface="Consolas" pitchFamily="34" charset="-120"/>
              </a:rPr>
              <a:t>class</a:t>
            </a:r>
            <a:r>
              <a:rPr lang="en-US" sz="1800" dirty="0">
                <a:solidFill>
                  <a:srgbClr val="A9B7C6"/>
                </a:solidFill>
                <a:latin typeface="Consolas" pitchFamily="34" charset="0"/>
                <a:ea typeface="Pretendard" pitchFamily="34" charset="-122"/>
                <a:cs typeface="Consolas" pitchFamily="34" charset="-120"/>
              </a:rPr>
              <a:t> OrderService {   </a:t>
            </a:r>
            <a:r>
              <a:rPr lang="en-US" sz="1800" dirty="0">
                <a:solidFill>
                  <a:srgbClr val="808080"/>
                </a:solidFill>
                <a:latin typeface="Consolas" pitchFamily="34" charset="0"/>
                <a:ea typeface="Pretendard" pitchFamily="34" charset="-122"/>
                <a:cs typeface="Consolas" pitchFamily="34" charset="-120"/>
              </a:rPr>
              <a:t>// @Service 없음</a:t>
            </a:r>
            <a:endParaRPr lang="en-US" sz="1800" dirty="0"/>
          </a:p>
          <a:p>
            <a:pPr indent="0" marL="0">
              <a:lnSpc>
                <a:spcPct val="120000"/>
              </a:lnSpc>
              <a:buNone/>
            </a:pP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BBB529"/>
                </a:solidFill>
                <a:latin typeface="Consolas" pitchFamily="34" charset="0"/>
                <a:ea typeface="Pretendard" pitchFamily="34" charset="-122"/>
                <a:cs typeface="Consolas" pitchFamily="34" charset="-120"/>
              </a:rPr>
              <a:t>@Autowired</a:t>
            </a: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    </a:t>
            </a:r>
            <a:r>
              <a:rPr lang="en-US" sz="1800" dirty="0">
                <a:solidFill>
                  <a:srgbClr val="CC7832"/>
                </a:solidFill>
                <a:latin typeface="Consolas" pitchFamily="34" charset="0"/>
                <a:ea typeface="Pretendard" pitchFamily="34" charset="-122"/>
                <a:cs typeface="Consolas" pitchFamily="34" charset="-120"/>
              </a:rPr>
              <a:t>private</a:t>
            </a:r>
            <a:r>
              <a:rPr lang="en-US" sz="1800" dirty="0">
                <a:solidFill>
                  <a:srgbClr val="A9B7C6"/>
                </a:solidFill>
                <a:latin typeface="Consolas" pitchFamily="34" charset="0"/>
                <a:ea typeface="Pretendard" pitchFamily="34" charset="-122"/>
                <a:cs typeface="Consolas" pitchFamily="34" charset="-120"/>
              </a:rPr>
              <a:t> MemberService memberService;</a:t>
            </a: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a:t>
            </a:r>
            <a:endParaRPr lang="en-US" sz="1800" dirty="0"/>
          </a:p>
          <a:p>
            <a:pPr indent="0" marL="0">
              <a:lnSpc>
                <a:spcPct val="120000"/>
              </a:lnSpc>
              <a:buNone/>
            </a:pPr>
            <a:endParaRPr lang="en-US" sz="1800" dirty="0"/>
          </a:p>
          <a:p>
            <a:pPr indent="0" marL="0">
              <a:lnSpc>
                <a:spcPct val="120000"/>
              </a:lnSpc>
              <a:buNone/>
            </a:pPr>
            <a:r>
              <a:rPr lang="en-US" sz="1800" dirty="0">
                <a:solidFill>
                  <a:srgbClr val="A9B7C6"/>
                </a:solidFill>
                <a:latin typeface="Consolas" pitchFamily="34" charset="0"/>
                <a:ea typeface="Pretendard" pitchFamily="34" charset="-122"/>
                <a:cs typeface="Consolas" pitchFamily="34" charset="-120"/>
              </a:rPr>
              <a:t>OrderService orderService = </a:t>
            </a:r>
            <a:r>
              <a:rPr lang="en-US" sz="1800" dirty="0">
                <a:solidFill>
                  <a:srgbClr val="CC7832"/>
                </a:solidFill>
                <a:latin typeface="Consolas" pitchFamily="34" charset="0"/>
                <a:ea typeface="Pretendard" pitchFamily="34" charset="-122"/>
                <a:cs typeface="Consolas" pitchFamily="34" charset="-120"/>
              </a:rPr>
              <a:t>new</a:t>
            </a:r>
            <a:r>
              <a:rPr lang="en-US" sz="1800" dirty="0">
                <a:solidFill>
                  <a:srgbClr val="A9B7C6"/>
                </a:solidFill>
                <a:latin typeface="Consolas" pitchFamily="34" charset="0"/>
                <a:ea typeface="Pretendard" pitchFamily="34" charset="-122"/>
                <a:cs typeface="Consolas" pitchFamily="34" charset="-120"/>
              </a:rPr>
              <a:t> OrderService();</a:t>
            </a:r>
            <a:endParaRPr lang="en-US" sz="1800" dirty="0"/>
          </a:p>
          <a:p>
            <a:pPr indent="0" marL="0">
              <a:lnSpc>
                <a:spcPct val="120000"/>
              </a:lnSpc>
              <a:buNone/>
            </a:pPr>
            <a:r>
              <a:rPr lang="en-US" sz="1800" dirty="0">
                <a:solidFill>
                  <a:srgbClr val="808080"/>
                </a:solidFill>
                <a:latin typeface="Consolas" pitchFamily="34" charset="0"/>
                <a:ea typeface="Pretendard" pitchFamily="34" charset="-122"/>
                <a:cs typeface="Consolas" pitchFamily="34" charset="-120"/>
              </a:rPr>
              <a:t>// orderService 안의 memberService 는?</a:t>
            </a:r>
            <a:endParaRPr lang="en-US" sz="1800" dirty="0"/>
          </a:p>
        </p:txBody>
      </p:sp>
      <p:sp>
        <p:nvSpPr>
          <p:cNvPr id="6" name="Shape 4"/>
          <p:cNvSpPr/>
          <p:nvPr/>
        </p:nvSpPr>
        <p:spPr>
          <a:xfrm>
            <a:off x="7406640" y="2240280"/>
            <a:ext cx="4099255" cy="1005840"/>
          </a:xfrm>
          <a:prstGeom prst="roundRect">
            <a:avLst>
              <a:gd name="adj" fmla="val 10909"/>
            </a:avLst>
          </a:prstGeom>
          <a:solidFill>
            <a:srgbClr val="0057FF"/>
          </a:solidFill>
          <a:ln w="12700">
            <a:solidFill>
              <a:srgbClr val="0057FF"/>
            </a:solidFill>
            <a:prstDash val="solid"/>
          </a:ln>
        </p:spPr>
      </p:sp>
      <p:sp>
        <p:nvSpPr>
          <p:cNvPr id="7" name="Text 5"/>
          <p:cNvSpPr txBox="1"/>
          <p:nvPr/>
        </p:nvSpPr>
        <p:spPr>
          <a:xfrm>
            <a:off x="7772400" y="2240280"/>
            <a:ext cx="1005840" cy="1005840"/>
          </a:xfrm>
          <a:prstGeom prst="rect">
            <a:avLst/>
          </a:prstGeom>
          <a:noFill/>
          <a:ln/>
        </p:spPr>
        <p:txBody>
          <a:bodyPr wrap="square" lIns="0" tIns="0" rIns="0" bIns="0" rtlCol="0" anchor="ctr"/>
          <a:lstStyle/>
          <a:p>
            <a:pPr indent="0" marL="0">
              <a:lnSpc>
                <a:spcPct val="110000"/>
              </a:lnSpc>
              <a:buNone/>
            </a:pPr>
            <a:r>
              <a:rPr lang="ko-KR" altLang="en-US" sz="1700" b="1" dirty="0">
                <a:solidFill>
                  <a:srgbClr val="FFFFFF"/>
                </a:solidFill>
                <a:latin typeface="Pretendard" pitchFamily="34" charset="0"/>
                <a:ea typeface="Pretendard" pitchFamily="34" charset="-122"/>
                <a:cs typeface="Pretendard" pitchFamily="34" charset="-120"/>
              </a:rPr>
              <a:t>정답</a:t>
            </a:r>
            <a:endParaRPr lang="ko-KR" sz="1700" dirty="0"/>
          </a:p>
        </p:txBody>
      </p:sp>
      <p:sp>
        <p:nvSpPr>
          <p:cNvPr id="8" name="Text 6"/>
          <p:cNvSpPr txBox="1"/>
          <p:nvPr/>
        </p:nvSpPr>
        <p:spPr>
          <a:xfrm>
            <a:off x="8778240" y="2240280"/>
            <a:ext cx="2361895" cy="1005840"/>
          </a:xfrm>
          <a:prstGeom prst="rect">
            <a:avLst/>
          </a:prstGeom>
          <a:noFill/>
          <a:ln/>
        </p:spPr>
        <p:txBody>
          <a:bodyPr wrap="square" lIns="0" tIns="0" rIns="0" bIns="0" rtlCol="0" anchor="ctr"/>
          <a:lstStyle/>
          <a:p>
            <a:pPr indent="0" marL="0">
              <a:lnSpc>
                <a:spcPct val="110000"/>
              </a:lnSpc>
              <a:buNone/>
            </a:pPr>
            <a:r>
              <a:rPr lang="ko-KR" altLang="en-US" sz="3000" b="1" dirty="0">
                <a:solidFill>
                  <a:srgbClr val="FFFFFF"/>
                </a:solidFill>
                <a:latin typeface="Pretendard" pitchFamily="34" charset="0"/>
                <a:ea typeface="Pretendard" pitchFamily="34" charset="-122"/>
                <a:cs typeface="Pretendard" pitchFamily="34" charset="-120"/>
              </a:rPr>
              <a:t>null</a:t>
            </a:r>
            <a:endParaRPr lang="ko-KR" sz="3000" dirty="0"/>
          </a:p>
        </p:txBody>
      </p:sp>
      <p:sp>
        <p:nvSpPr>
          <p:cNvPr id="9" name="Shape 7"/>
          <p:cNvSpPr/>
          <p:nvPr/>
        </p:nvSpPr>
        <p:spPr>
          <a:xfrm>
            <a:off x="7406640" y="3520440"/>
            <a:ext cx="4099255" cy="2240280"/>
          </a:xfrm>
          <a:prstGeom prst="roundRect">
            <a:avLst>
              <a:gd name="adj" fmla="val 4898"/>
            </a:avLst>
          </a:prstGeom>
          <a:solidFill>
            <a:srgbClr val="F8F7F4"/>
          </a:solidFill>
          <a:ln w="12700">
            <a:solidFill>
              <a:srgbClr val="F8F7F4"/>
            </a:solidFill>
            <a:prstDash val="solid"/>
          </a:ln>
        </p:spPr>
      </p:sp>
      <p:sp>
        <p:nvSpPr>
          <p:cNvPr id="10" name="Text 8"/>
          <p:cNvSpPr txBox="1"/>
          <p:nvPr/>
        </p:nvSpPr>
        <p:spPr>
          <a:xfrm>
            <a:off x="7772400" y="3776472"/>
            <a:ext cx="3367735" cy="274320"/>
          </a:xfrm>
          <a:prstGeom prst="rect">
            <a:avLst/>
          </a:prstGeom>
          <a:noFill/>
          <a:ln/>
        </p:spPr>
        <p:txBody>
          <a:bodyPr wrap="square" lIns="0" tIns="0" rIns="0" bIns="0" rtlCol="0" anchor="t"/>
          <a:lstStyle/>
          <a:p>
            <a:pPr indent="0" marL="0">
              <a:lnSpc>
                <a:spcPct val="110000"/>
              </a:lnSpc>
              <a:buNone/>
            </a:pPr>
            <a:r>
              <a:rPr lang="ko-KR" altLang="en-US" sz="1400" b="1" dirty="0">
                <a:solidFill>
                  <a:srgbClr val="6B7280"/>
                </a:solidFill>
                <a:latin typeface="Pretendard" pitchFamily="34" charset="0"/>
                <a:ea typeface="Pretendard" pitchFamily="34" charset="-122"/>
                <a:cs typeface="Pretendard" pitchFamily="34" charset="-120"/>
              </a:rPr>
              <a:t>이유</a:t>
            </a:r>
            <a:endParaRPr lang="ko-KR" sz="1400" dirty="0"/>
          </a:p>
        </p:txBody>
      </p:sp>
      <p:sp>
        <p:nvSpPr>
          <p:cNvPr id="11" name="Text 9"/>
          <p:cNvSpPr txBox="1"/>
          <p:nvPr/>
        </p:nvSpPr>
        <p:spPr>
          <a:xfrm>
            <a:off x="7772400" y="4178808"/>
            <a:ext cx="3367735" cy="1417320"/>
          </a:xfrm>
          <a:prstGeom prst="rect">
            <a:avLst/>
          </a:prstGeom>
          <a:noFill/>
          <a:ln/>
        </p:spPr>
        <p:txBody>
          <a:bodyPr wrap="square" lIns="0" tIns="0" rIns="0" bIns="0" rtlCol="0" anchor="t"/>
          <a:lstStyle/>
          <a:p>
            <a:pPr indent="0" marL="0">
              <a:lnSpc>
                <a:spcPct val="110000"/>
              </a:lnSpc>
              <a:buNone/>
            </a:pPr>
            <a:r>
              <a:rPr lang="ko-KR" altLang="en-US" sz="1800" dirty="0">
                <a:solidFill>
                  <a:srgbClr val="23262F"/>
                </a:solidFill>
                <a:latin typeface="Consolas" pitchFamily="34" charset="0"/>
                <a:ea typeface="Pretendard" pitchFamily="34" charset="-122"/>
                <a:cs typeface="Consolas" pitchFamily="34" charset="-120"/>
              </a:rPr>
              <a:t>@Autowired</a:t>
            </a:r>
            <a:r>
              <a:rPr lang="ko-KR" altLang="en-US" sz="1800" dirty="0">
                <a:solidFill>
                  <a:srgbClr val="23262F"/>
                </a:solidFill>
                <a:latin typeface="Pretendard" pitchFamily="34" charset="0"/>
                <a:ea typeface="Pretendard" pitchFamily="34" charset="-122"/>
                <a:cs typeface="Pretendard" pitchFamily="34" charset="-120"/>
              </a:rPr>
              <a:t> 는 </a:t>
            </a:r>
            <a:r>
              <a:rPr lang="ko-KR" altLang="en-US" sz="1800" b="1" dirty="0">
                <a:solidFill>
                  <a:srgbClr val="0057FF"/>
                </a:solidFill>
                <a:latin typeface="Pretendard" pitchFamily="34" charset="0"/>
                <a:ea typeface="Pretendard" pitchFamily="34" charset="-122"/>
                <a:cs typeface="Pretendard" pitchFamily="34" charset="-120"/>
              </a:rPr>
              <a:t>스프링 빈</a:t>
            </a:r>
            <a:r>
              <a:rPr lang="ko-KR" altLang="en-US" sz="1800" dirty="0">
                <a:solidFill>
                  <a:srgbClr val="23262F"/>
                </a:solidFill>
                <a:latin typeface="Pretendard" pitchFamily="34" charset="0"/>
                <a:ea typeface="Pretendard" pitchFamily="34" charset="-122"/>
                <a:cs typeface="Pretendard" pitchFamily="34" charset="-120"/>
              </a:rPr>
              <a:t>에서만 동작한다. 직접 </a:t>
            </a:r>
            <a:r>
              <a:rPr lang="ko-KR" altLang="en-US" sz="1800" dirty="0">
                <a:solidFill>
                  <a:srgbClr val="23262F"/>
                </a:solidFill>
                <a:latin typeface="Consolas" pitchFamily="34" charset="0"/>
                <a:ea typeface="Pretendard" pitchFamily="34" charset="-122"/>
                <a:cs typeface="Consolas" pitchFamily="34" charset="-120"/>
              </a:rPr>
              <a:t>new</a:t>
            </a:r>
            <a:r>
              <a:rPr lang="ko-KR" altLang="en-US" sz="1800" dirty="0">
                <a:solidFill>
                  <a:srgbClr val="23262F"/>
                </a:solidFill>
                <a:latin typeface="Pretendard" pitchFamily="34" charset="0"/>
                <a:ea typeface="Pretendard" pitchFamily="34" charset="-122"/>
                <a:cs typeface="Pretendard" pitchFamily="34" charset="-120"/>
              </a:rPr>
              <a:t> 로 만든 객체는 스프링이 모르니 주입되지 않는다.</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김영한의 스프링 입문</dc:title>
  <dc:subject>김영한의 스프링 입문 — 코드로 배우는 스프링 부트, 웹 MVC, DB 접근 기술</dc:subject>
  <dc:creator>이바다</dc:creator>
  <cp:lastModifiedBy>이바다</cp:lastModifiedBy>
  <cp:revision>1</cp:revision>
  <dcterms:created xsi:type="dcterms:W3CDTF">2026-10-04T03:20:39Z</dcterms:created>
  <dcterms:modified xsi:type="dcterms:W3CDTF">2026-10-04T03:20:39Z</dcterms:modified>
</cp:coreProperties>
</file>